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6400800" y="-457200"/>
            <a:ext cx="3657600" cy="3657600"/>
          </a:xfrm>
          <a:prstGeom prst="ellipse">
            <a:avLst/>
          </a:prstGeom>
          <a:solidFill>
            <a:srgbClr val="06B6D4">
              <a:alpha val="8000"/>
            </a:srgbClr>
          </a:solidFill>
          <a:ln/>
        </p:spPr>
      </p:sp>
      <p:sp>
        <p:nvSpPr>
          <p:cNvPr id="3" name="Shape 1"/>
          <p:cNvSpPr/>
          <p:nvPr/>
        </p:nvSpPr>
        <p:spPr>
          <a:xfrm>
            <a:off x="7315200" y="2286000"/>
            <a:ext cx="2743200" cy="2743200"/>
          </a:xfrm>
          <a:prstGeom prst="ellipse">
            <a:avLst/>
          </a:prstGeom>
          <a:solidFill>
            <a:srgbClr val="06B6D4">
              <a:alpha val="5000"/>
            </a:srgbClr>
          </a:solidFill>
          <a:ln/>
        </p:spPr>
      </p:sp>
      <p:sp>
        <p:nvSpPr>
          <p:cNvPr id="4" name="Shape 2"/>
          <p:cNvSpPr/>
          <p:nvPr/>
        </p:nvSpPr>
        <p:spPr>
          <a:xfrm>
            <a:off x="0" y="0"/>
            <a:ext cx="9144000" cy="45720"/>
          </a:xfrm>
          <a:prstGeom prst="rect">
            <a:avLst/>
          </a:prstGeom>
          <a:solidFill>
            <a:srgbClr val="06B6D4"/>
          </a:solidFill>
          <a:ln/>
        </p:spPr>
      </p:sp>
      <p:pic>
        <p:nvPicPr>
          <p:cNvPr id="5" name="Image 0" descr="preencoded.png">    </p:cNvPr>
          <p:cNvPicPr>
            <a:picLocks noChangeAspect="1"/>
          </p:cNvPicPr>
          <p:nvPr/>
        </p:nvPicPr>
        <p:blipFill>
          <a:blip r:embed="rId1"/>
          <a:stretch>
            <a:fillRect/>
          </a:stretch>
        </p:blipFill>
        <p:spPr>
          <a:xfrm>
            <a:off x="7132320" y="1097280"/>
            <a:ext cx="1463040" cy="1463040"/>
          </a:xfrm>
          <a:prstGeom prst="rect">
            <a:avLst/>
          </a:prstGeom>
        </p:spPr>
      </p:pic>
      <p:sp>
        <p:nvSpPr>
          <p:cNvPr id="6" name="Text 3"/>
          <p:cNvSpPr txBox="1"/>
          <p:nvPr/>
        </p:nvSpPr>
        <p:spPr>
          <a:xfrm>
            <a:off x="731520" y="914400"/>
            <a:ext cx="2286000" cy="365760"/>
          </a:xfrm>
          <a:prstGeom prst="rect">
            <a:avLst/>
          </a:prstGeom>
          <a:noFill/>
          <a:ln/>
        </p:spPr>
        <p:txBody>
          <a:bodyPr wrap="square" lIns="0" tIns="0" rIns="0" bIns="0" rtlCol="0" anchor="ctr"/>
          <a:lstStyle/>
          <a:p>
            <a:pPr indent="0" marL="0">
              <a:buNone/>
            </a:pPr>
            <a:r>
              <a:rPr lang="en-US" sz="1300" b="1" spc="400" kern="0" dirty="0">
                <a:solidFill>
                  <a:srgbClr val="06B6D4"/>
                </a:solidFill>
                <a:latin typeface="Calibri" pitchFamily="34" charset="0"/>
                <a:ea typeface="Calibri" pitchFamily="34" charset="-122"/>
                <a:cs typeface="Calibri" pitchFamily="34" charset="-120"/>
              </a:rPr>
              <a:t>MODULE 6</a:t>
            </a:r>
            <a:endParaRPr lang="en-US" sz="1300" dirty="0"/>
          </a:p>
        </p:txBody>
      </p:sp>
      <p:sp>
        <p:nvSpPr>
          <p:cNvPr id="7" name="Text 4"/>
          <p:cNvSpPr txBox="1"/>
          <p:nvPr/>
        </p:nvSpPr>
        <p:spPr>
          <a:xfrm>
            <a:off x="731520" y="1371600"/>
            <a:ext cx="5943600" cy="164592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Les stablecoins : USDT &amp; pourquoi c'est utile</a:t>
            </a:r>
            <a:endParaRPr lang="en-US" sz="3600" dirty="0"/>
          </a:p>
        </p:txBody>
      </p:sp>
      <p:sp>
        <p:nvSpPr>
          <p:cNvPr id="8" name="Shape 5"/>
          <p:cNvSpPr/>
          <p:nvPr/>
        </p:nvSpPr>
        <p:spPr>
          <a:xfrm>
            <a:off x="731520" y="3291840"/>
            <a:ext cx="1828800" cy="36576"/>
          </a:xfrm>
          <a:prstGeom prst="rect">
            <a:avLst/>
          </a:prstGeom>
          <a:solidFill>
            <a:srgbClr val="06B6D4"/>
          </a:solidFill>
          <a:ln/>
        </p:spPr>
      </p:sp>
      <p:sp>
        <p:nvSpPr>
          <p:cNvPr id="9" name="Text 6"/>
          <p:cNvSpPr txBox="1"/>
          <p:nvPr/>
        </p:nvSpPr>
        <p:spPr>
          <a:xfrm>
            <a:off x="731520" y="3566160"/>
            <a:ext cx="2743200" cy="320040"/>
          </a:xfrm>
          <a:prstGeom prst="rect">
            <a:avLst/>
          </a:prstGeom>
          <a:noFill/>
          <a:ln/>
        </p:spPr>
        <p:txBody>
          <a:bodyPr wrap="square" lIns="0" tIns="0" rIns="0" bIns="0" rtlCol="0" anchor="ctr"/>
          <a:lstStyle/>
          <a:p>
            <a:pPr indent="0" marL="0">
              <a:buNone/>
            </a:pPr>
            <a:r>
              <a:rPr lang="en-US" sz="1100" spc="300" kern="0" dirty="0">
                <a:solidFill>
                  <a:srgbClr val="64748B"/>
                </a:solidFill>
                <a:latin typeface="Calibri" pitchFamily="34" charset="0"/>
                <a:ea typeface="Calibri" pitchFamily="34" charset="-122"/>
                <a:cs typeface="Calibri" pitchFamily="34" charset="-120"/>
              </a:rPr>
              <a:t>TEREX ACADEMY</a:t>
            </a:r>
            <a:endParaRPr lang="en-US" sz="1100" dirty="0"/>
          </a:p>
        </p:txBody>
      </p:sp>
      <p:sp>
        <p:nvSpPr>
          <p:cNvPr id="10" name="Text 7"/>
          <p:cNvSpPr txBox="1"/>
          <p:nvPr/>
        </p:nvSpPr>
        <p:spPr>
          <a:xfrm>
            <a:off x="731520" y="3931920"/>
            <a:ext cx="3657600" cy="27432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Formation Crypto &amp; Blockchain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365760"/>
            <a:ext cx="2743200" cy="320040"/>
          </a:xfrm>
          <a:prstGeom prst="rect">
            <a:avLst/>
          </a:prstGeom>
          <a:noFill/>
          <a:ln/>
        </p:spPr>
        <p:txBody>
          <a:bodyPr wrap="square" lIns="0" tIns="0" rIns="0" bIns="0" rtlCol="0" anchor="ctr"/>
          <a:lstStyle/>
          <a:p>
            <a:pPr indent="0" marL="0">
              <a:buNone/>
            </a:pPr>
            <a:r>
              <a:rPr lang="en-US" sz="1200" b="1" spc="300" kern="0" dirty="0">
                <a:solidFill>
                  <a:srgbClr val="06B6D4"/>
                </a:solidFill>
                <a:latin typeface="Calibri" pitchFamily="34" charset="0"/>
                <a:ea typeface="Calibri" pitchFamily="34" charset="-122"/>
                <a:cs typeface="Calibri" pitchFamily="34" charset="-120"/>
              </a:rPr>
              <a:t>SOMMAIRE</a:t>
            </a:r>
            <a:endParaRPr lang="en-US" sz="1200" dirty="0"/>
          </a:p>
        </p:txBody>
      </p:sp>
      <p:sp>
        <p:nvSpPr>
          <p:cNvPr id="3" name="Text 1"/>
          <p:cNvSpPr txBox="1"/>
          <p:nvPr/>
        </p:nvSpPr>
        <p:spPr>
          <a:xfrm>
            <a:off x="731520" y="731520"/>
            <a:ext cx="45720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Module 6</a:t>
            </a:r>
            <a:endParaRPr lang="en-US" sz="2200" dirty="0"/>
          </a:p>
        </p:txBody>
      </p:sp>
      <p:sp>
        <p:nvSpPr>
          <p:cNvPr id="4" name="Shape 2"/>
          <p:cNvSpPr/>
          <p:nvPr/>
        </p:nvSpPr>
        <p:spPr>
          <a:xfrm>
            <a:off x="731520" y="1371600"/>
            <a:ext cx="7680960" cy="475488"/>
          </a:xfrm>
          <a:prstGeom prst="roundRect">
            <a:avLst>
              <a:gd name="adj" fmla="val 15385"/>
            </a:avLst>
          </a:prstGeom>
          <a:solidFill>
            <a:srgbClr val="1A2332"/>
          </a:solidFill>
          <a:ln/>
        </p:spPr>
      </p:sp>
      <p:sp>
        <p:nvSpPr>
          <p:cNvPr id="5" name="Text 3"/>
          <p:cNvSpPr txBox="1"/>
          <p:nvPr/>
        </p:nvSpPr>
        <p:spPr>
          <a:xfrm>
            <a:off x="868680" y="1371600"/>
            <a:ext cx="320040" cy="475488"/>
          </a:xfrm>
          <a:prstGeom prst="rect">
            <a:avLst/>
          </a:prstGeom>
          <a:noFill/>
          <a:ln/>
        </p:spPr>
        <p:txBody>
          <a:bodyPr wrap="square" lIns="0" tIns="0" rIns="0" bIns="0" rtlCol="0" anchor="ctr"/>
          <a:lstStyle/>
          <a:p>
            <a:pPr algn="ctr" indent="0" marL="0">
              <a:buNone/>
            </a:pPr>
            <a:r>
              <a:rPr lang="en-US" sz="1300" b="1" dirty="0">
                <a:solidFill>
                  <a:srgbClr val="06B6D4"/>
                </a:solidFill>
                <a:latin typeface="Calibri" pitchFamily="34" charset="0"/>
                <a:ea typeface="Calibri" pitchFamily="34" charset="-122"/>
                <a:cs typeface="Calibri" pitchFamily="34" charset="-120"/>
              </a:rPr>
              <a:t>1</a:t>
            </a:r>
            <a:endParaRPr lang="en-US" sz="1300" dirty="0"/>
          </a:p>
        </p:txBody>
      </p:sp>
      <p:pic>
        <p:nvPicPr>
          <p:cNvPr id="6" name="Image 0" descr="preencoded.png">    </p:cNvPr>
          <p:cNvPicPr>
            <a:picLocks noChangeAspect="1"/>
          </p:cNvPicPr>
          <p:nvPr/>
        </p:nvPicPr>
        <p:blipFill>
          <a:blip r:embed="rId1"/>
          <a:stretch>
            <a:fillRect/>
          </a:stretch>
        </p:blipFill>
        <p:spPr>
          <a:xfrm>
            <a:off x="1280160" y="1444752"/>
            <a:ext cx="329184" cy="329184"/>
          </a:xfrm>
          <a:prstGeom prst="rect">
            <a:avLst/>
          </a:prstGeom>
        </p:spPr>
      </p:pic>
      <p:sp>
        <p:nvSpPr>
          <p:cNvPr id="7" name="Text 4"/>
          <p:cNvSpPr txBox="1"/>
          <p:nvPr/>
        </p:nvSpPr>
        <p:spPr>
          <a:xfrm>
            <a:off x="1737360" y="1371600"/>
            <a:ext cx="649224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Qu'est-ce qu'un stablecoin ?</a:t>
            </a:r>
            <a:endParaRPr lang="en-US" sz="1300" dirty="0"/>
          </a:p>
        </p:txBody>
      </p:sp>
      <p:sp>
        <p:nvSpPr>
          <p:cNvPr id="8" name="Shape 5"/>
          <p:cNvSpPr/>
          <p:nvPr/>
        </p:nvSpPr>
        <p:spPr>
          <a:xfrm>
            <a:off x="731520" y="1920240"/>
            <a:ext cx="7680960" cy="475488"/>
          </a:xfrm>
          <a:prstGeom prst="roundRect">
            <a:avLst>
              <a:gd name="adj" fmla="val 15385"/>
            </a:avLst>
          </a:prstGeom>
          <a:solidFill>
            <a:srgbClr val="1A2332"/>
          </a:solidFill>
          <a:ln/>
        </p:spPr>
      </p:sp>
      <p:sp>
        <p:nvSpPr>
          <p:cNvPr id="9" name="Text 6"/>
          <p:cNvSpPr txBox="1"/>
          <p:nvPr/>
        </p:nvSpPr>
        <p:spPr>
          <a:xfrm>
            <a:off x="868680" y="1920240"/>
            <a:ext cx="320040" cy="475488"/>
          </a:xfrm>
          <a:prstGeom prst="rect">
            <a:avLst/>
          </a:prstGeom>
          <a:noFill/>
          <a:ln/>
        </p:spPr>
        <p:txBody>
          <a:bodyPr wrap="square" lIns="0" tIns="0" rIns="0" bIns="0" rtlCol="0" anchor="ctr"/>
          <a:lstStyle/>
          <a:p>
            <a:pPr algn="ctr" indent="0" marL="0">
              <a:buNone/>
            </a:pPr>
            <a:r>
              <a:rPr lang="en-US" sz="1300" b="1" dirty="0">
                <a:solidFill>
                  <a:srgbClr val="06B6D4"/>
                </a:solidFill>
                <a:latin typeface="Calibri" pitchFamily="34" charset="0"/>
                <a:ea typeface="Calibri" pitchFamily="34" charset="-122"/>
                <a:cs typeface="Calibri" pitchFamily="34" charset="-120"/>
              </a:rPr>
              <a:t>2</a:t>
            </a:r>
            <a:endParaRPr lang="en-US" sz="1300" dirty="0"/>
          </a:p>
        </p:txBody>
      </p:sp>
      <p:pic>
        <p:nvPicPr>
          <p:cNvPr id="10" name="Image 1" descr="preencoded.png">    </p:cNvPr>
          <p:cNvPicPr>
            <a:picLocks noChangeAspect="1"/>
          </p:cNvPicPr>
          <p:nvPr/>
        </p:nvPicPr>
        <p:blipFill>
          <a:blip r:embed="rId2"/>
          <a:stretch>
            <a:fillRect/>
          </a:stretch>
        </p:blipFill>
        <p:spPr>
          <a:xfrm>
            <a:off x="1280160" y="1993392"/>
            <a:ext cx="329184" cy="329184"/>
          </a:xfrm>
          <a:prstGeom prst="rect">
            <a:avLst/>
          </a:prstGeom>
        </p:spPr>
      </p:pic>
      <p:sp>
        <p:nvSpPr>
          <p:cNvPr id="11" name="Text 7"/>
          <p:cNvSpPr txBox="1"/>
          <p:nvPr/>
        </p:nvSpPr>
        <p:spPr>
          <a:xfrm>
            <a:off x="1737360" y="1920240"/>
            <a:ext cx="649224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USDT — le pilier de l'échange</a:t>
            </a:r>
            <a:endParaRPr lang="en-US" sz="1300" dirty="0"/>
          </a:p>
        </p:txBody>
      </p:sp>
      <p:sp>
        <p:nvSpPr>
          <p:cNvPr id="12" name="Shape 8"/>
          <p:cNvSpPr/>
          <p:nvPr/>
        </p:nvSpPr>
        <p:spPr>
          <a:xfrm>
            <a:off x="731520" y="2468880"/>
            <a:ext cx="7680960" cy="475488"/>
          </a:xfrm>
          <a:prstGeom prst="roundRect">
            <a:avLst>
              <a:gd name="adj" fmla="val 15385"/>
            </a:avLst>
          </a:prstGeom>
          <a:solidFill>
            <a:srgbClr val="1A2332"/>
          </a:solidFill>
          <a:ln/>
        </p:spPr>
      </p:sp>
      <p:sp>
        <p:nvSpPr>
          <p:cNvPr id="13" name="Text 9"/>
          <p:cNvSpPr txBox="1"/>
          <p:nvPr/>
        </p:nvSpPr>
        <p:spPr>
          <a:xfrm>
            <a:off x="868680" y="2468880"/>
            <a:ext cx="320040" cy="475488"/>
          </a:xfrm>
          <a:prstGeom prst="rect">
            <a:avLst/>
          </a:prstGeom>
          <a:noFill/>
          <a:ln/>
        </p:spPr>
        <p:txBody>
          <a:bodyPr wrap="square" lIns="0" tIns="0" rIns="0" bIns="0" rtlCol="0" anchor="ctr"/>
          <a:lstStyle/>
          <a:p>
            <a:pPr algn="ctr" indent="0" marL="0">
              <a:buNone/>
            </a:pPr>
            <a:r>
              <a:rPr lang="en-US" sz="1300" b="1" dirty="0">
                <a:solidFill>
                  <a:srgbClr val="06B6D4"/>
                </a:solidFill>
                <a:latin typeface="Calibri" pitchFamily="34" charset="0"/>
                <a:ea typeface="Calibri" pitchFamily="34" charset="-122"/>
                <a:cs typeface="Calibri" pitchFamily="34" charset="-120"/>
              </a:rPr>
              <a:t>3</a:t>
            </a:r>
            <a:endParaRPr lang="en-US" sz="1300" dirty="0"/>
          </a:p>
        </p:txBody>
      </p:sp>
      <p:pic>
        <p:nvPicPr>
          <p:cNvPr id="14" name="Image 2" descr="preencoded.png">    </p:cNvPr>
          <p:cNvPicPr>
            <a:picLocks noChangeAspect="1"/>
          </p:cNvPicPr>
          <p:nvPr/>
        </p:nvPicPr>
        <p:blipFill>
          <a:blip r:embed="rId3"/>
          <a:stretch>
            <a:fillRect/>
          </a:stretch>
        </p:blipFill>
        <p:spPr>
          <a:xfrm>
            <a:off x="1280160" y="2542032"/>
            <a:ext cx="329184" cy="329184"/>
          </a:xfrm>
          <a:prstGeom prst="rect">
            <a:avLst/>
          </a:prstGeom>
        </p:spPr>
      </p:pic>
      <p:sp>
        <p:nvSpPr>
          <p:cNvPr id="15" name="Text 10"/>
          <p:cNvSpPr txBox="1"/>
          <p:nvPr/>
        </p:nvSpPr>
        <p:spPr>
          <a:xfrm>
            <a:off x="1737360" y="2468880"/>
            <a:ext cx="6492240" cy="47548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TRC20, ERC20, BEP20 — comment choisir ?</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13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0" y="548640"/>
            <a:ext cx="1280160" cy="1280160"/>
          </a:xfrm>
          <a:prstGeom prst="rect">
            <a:avLst/>
          </a:prstGeom>
        </p:spPr>
      </p:pic>
      <p:pic>
        <p:nvPicPr>
          <p:cNvPr id="3" name="Image 1" descr="preencoded.png">    </p:cNvPr>
          <p:cNvPicPr>
            <a:picLocks noChangeAspect="1"/>
          </p:cNvPicPr>
          <p:nvPr/>
        </p:nvPicPr>
        <p:blipFill>
          <a:blip r:embed="rId2"/>
          <a:stretch>
            <a:fillRect/>
          </a:stretch>
        </p:blipFill>
        <p:spPr>
          <a:xfrm>
            <a:off x="7772400" y="2011680"/>
            <a:ext cx="822960" cy="822960"/>
          </a:xfrm>
          <a:prstGeom prst="rect">
            <a:avLst/>
          </a:prstGeom>
        </p:spPr>
      </p:pic>
      <p:sp>
        <p:nvSpPr>
          <p:cNvPr id="4" name="Shape 0"/>
          <p:cNvSpPr/>
          <p:nvPr/>
        </p:nvSpPr>
        <p:spPr>
          <a:xfrm>
            <a:off x="6583680" y="-274320"/>
            <a:ext cx="3200400" cy="3200400"/>
          </a:xfrm>
          <a:prstGeom prst="ellipse">
            <a:avLst/>
          </a:prstGeom>
          <a:solidFill>
            <a:srgbClr val="06B6D4">
              <a:alpha val="6000"/>
            </a:srgbClr>
          </a:solidFill>
          <a:ln/>
        </p:spPr>
      </p:sp>
      <p:sp>
        <p:nvSpPr>
          <p:cNvPr id="5" name="Shape 1"/>
          <p:cNvSpPr/>
          <p:nvPr/>
        </p:nvSpPr>
        <p:spPr>
          <a:xfrm>
            <a:off x="731520" y="914400"/>
            <a:ext cx="45720" cy="2194560"/>
          </a:xfrm>
          <a:prstGeom prst="rect">
            <a:avLst/>
          </a:prstGeom>
          <a:solidFill>
            <a:srgbClr val="06B6D4"/>
          </a:solidFill>
          <a:ln/>
        </p:spPr>
      </p:sp>
      <p:sp>
        <p:nvSpPr>
          <p:cNvPr id="6" name="Text 2"/>
          <p:cNvSpPr txBox="1"/>
          <p:nvPr/>
        </p:nvSpPr>
        <p:spPr>
          <a:xfrm>
            <a:off x="960120" y="914400"/>
            <a:ext cx="2743200" cy="365760"/>
          </a:xfrm>
          <a:prstGeom prst="rect">
            <a:avLst/>
          </a:prstGeom>
          <a:noFill/>
          <a:ln/>
        </p:spPr>
        <p:txBody>
          <a:bodyPr wrap="square" lIns="0" tIns="0" rIns="0" bIns="0" rtlCol="0" anchor="ctr"/>
          <a:lstStyle/>
          <a:p>
            <a:pPr indent="0" marL="0">
              <a:buNone/>
            </a:pPr>
            <a:r>
              <a:rPr lang="en-US" sz="1200" b="1" spc="200" kern="0" dirty="0">
                <a:solidFill>
                  <a:srgbClr val="06B6D4"/>
                </a:solidFill>
                <a:latin typeface="Calibri" pitchFamily="34" charset="0"/>
                <a:ea typeface="Calibri" pitchFamily="34" charset="-122"/>
                <a:cs typeface="Calibri" pitchFamily="34" charset="-120"/>
              </a:rPr>
              <a:t>Leçon 1 / 3</a:t>
            </a:r>
            <a:endParaRPr lang="en-US" sz="1200" dirty="0"/>
          </a:p>
        </p:txBody>
      </p:sp>
      <p:sp>
        <p:nvSpPr>
          <p:cNvPr id="7" name="Text 3"/>
          <p:cNvSpPr txBox="1"/>
          <p:nvPr/>
        </p:nvSpPr>
        <p:spPr>
          <a:xfrm>
            <a:off x="960120" y="1371600"/>
            <a:ext cx="6217920" cy="14630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Qu'est-ce qu'un stablecoin ?</a:t>
            </a:r>
            <a:endParaRPr lang="en-US" sz="2800" dirty="0"/>
          </a:p>
        </p:txBody>
      </p:sp>
      <p:sp>
        <p:nvSpPr>
          <p:cNvPr id="8" name="Text 4"/>
          <p:cNvSpPr txBox="1"/>
          <p:nvPr/>
        </p:nvSpPr>
        <p:spPr>
          <a:xfrm>
            <a:off x="960120" y="4114800"/>
            <a:ext cx="5486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Les stablecoins : USDT &amp; pourquoi c'est utile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06B6D4">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45720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Un stablecoin est une cryptomonnaie dont le prix est stable par construction — parce qu'il est adossé à un actif traditionnel, généralement le dollar américain.</a:t>
            </a:r>
            <a:endParaRPr lang="en-US" sz="1400" dirty="0"/>
          </a:p>
        </p:txBody>
      </p:sp>
      <p:sp>
        <p:nvSpPr>
          <p:cNvPr id="5"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6 — Leçon 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274320"/>
            <a:ext cx="7680960" cy="502920"/>
          </a:xfrm>
          <a:prstGeom prst="rect">
            <a:avLst/>
          </a:prstGeom>
          <a:noFill/>
          <a:ln/>
        </p:spPr>
        <p:txBody>
          <a:bodyPr wrap="square" lIns="0" tIns="0" rIns="0" bIns="0" rtlCol="0" anchor="ctr"/>
          <a:lstStyle/>
          <a:p>
            <a:pPr indent="0" marL="0">
              <a:buNone/>
            </a:pPr>
            <a:r>
              <a:rPr lang="en-US" sz="2000" b="1" dirty="0">
                <a:solidFill>
                  <a:srgbClr val="06B6D4"/>
                </a:solidFill>
                <a:latin typeface="Calibri" pitchFamily="34" charset="0"/>
                <a:ea typeface="Calibri" pitchFamily="34" charset="-122"/>
                <a:cs typeface="Calibri" pitchFamily="34" charset="-120"/>
              </a:rPr>
              <a:t>Le problème que ça résout</a:t>
            </a:r>
            <a:endParaRPr lang="en-US" sz="2000" dirty="0"/>
          </a:p>
        </p:txBody>
      </p:sp>
      <p:sp>
        <p:nvSpPr>
          <p:cNvPr id="3" name="Text 1"/>
          <p:cNvSpPr txBox="1"/>
          <p:nvPr/>
        </p:nvSpPr>
        <p:spPr>
          <a:xfrm>
            <a:off x="731520" y="1005840"/>
            <a:ext cx="420624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Bitcoin peut monter de 20% en une semaine. Ethereum peut chuter de 15% en un jour. Ces variations sont excellentes po...</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Payer votre loyer en crypto.</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Recevoir votre salaire en crypto.</a:t>
            </a:r>
            <a:endParaRPr lang="en-US" sz="1300" dirty="0"/>
          </a:p>
        </p:txBody>
      </p:sp>
      <p:sp>
        <p:nvSpPr>
          <p:cNvPr id="4" name="Shape 2"/>
          <p:cNvSpPr/>
          <p:nvPr/>
        </p:nvSpPr>
        <p:spPr>
          <a:xfrm>
            <a:off x="5120640" y="1005840"/>
            <a:ext cx="3474720" cy="640080"/>
          </a:xfrm>
          <a:prstGeom prst="roundRect">
            <a:avLst>
              <a:gd name="adj" fmla="val 14286"/>
            </a:avLst>
          </a:prstGeom>
          <a:solidFill>
            <a:srgbClr val="1A2332"/>
          </a:solidFill>
          <a:ln/>
        </p:spPr>
      </p:sp>
      <p:pic>
        <p:nvPicPr>
          <p:cNvPr id="5" name="Image 0" descr="preencoded.png">    </p:cNvPr>
          <p:cNvPicPr>
            <a:picLocks noChangeAspect="1"/>
          </p:cNvPicPr>
          <p:nvPr/>
        </p:nvPicPr>
        <p:blipFill>
          <a:blip r:embed="rId1"/>
          <a:stretch>
            <a:fillRect/>
          </a:stretch>
        </p:blipFill>
        <p:spPr>
          <a:xfrm>
            <a:off x="5257800" y="1106424"/>
            <a:ext cx="438912" cy="438912"/>
          </a:xfrm>
          <a:prstGeom prst="rect">
            <a:avLst/>
          </a:prstGeom>
        </p:spPr>
      </p:pic>
      <p:sp>
        <p:nvSpPr>
          <p:cNvPr id="6" name="Text 3"/>
          <p:cNvSpPr txBox="1"/>
          <p:nvPr/>
        </p:nvSpPr>
        <p:spPr>
          <a:xfrm>
            <a:off x="5806440" y="100584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Épargner sans stress.</a:t>
            </a:r>
            <a:endParaRPr lang="en-US" sz="1200" dirty="0"/>
          </a:p>
        </p:txBody>
      </p:sp>
      <p:sp>
        <p:nvSpPr>
          <p:cNvPr id="7" name="Shape 4"/>
          <p:cNvSpPr/>
          <p:nvPr/>
        </p:nvSpPr>
        <p:spPr>
          <a:xfrm>
            <a:off x="5120640" y="1737360"/>
            <a:ext cx="3474720" cy="640080"/>
          </a:xfrm>
          <a:prstGeom prst="roundRect">
            <a:avLst>
              <a:gd name="adj" fmla="val 14286"/>
            </a:avLst>
          </a:prstGeom>
          <a:solidFill>
            <a:srgbClr val="1A2332"/>
          </a:solidFill>
          <a:ln/>
        </p:spPr>
      </p:sp>
      <p:pic>
        <p:nvPicPr>
          <p:cNvPr id="8" name="Image 1" descr="preencoded.png">    </p:cNvPr>
          <p:cNvPicPr>
            <a:picLocks noChangeAspect="1"/>
          </p:cNvPicPr>
          <p:nvPr/>
        </p:nvPicPr>
        <p:blipFill>
          <a:blip r:embed="rId2"/>
          <a:stretch>
            <a:fillRect/>
          </a:stretch>
        </p:blipFill>
        <p:spPr>
          <a:xfrm>
            <a:off x="5257800" y="1837944"/>
            <a:ext cx="438912" cy="438912"/>
          </a:xfrm>
          <a:prstGeom prst="rect">
            <a:avLst/>
          </a:prstGeom>
        </p:spPr>
      </p:pic>
      <p:sp>
        <p:nvSpPr>
          <p:cNvPr id="9" name="Text 5"/>
          <p:cNvSpPr txBox="1"/>
          <p:nvPr/>
        </p:nvSpPr>
        <p:spPr>
          <a:xfrm>
            <a:off x="5806440" y="173736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Faire du commerce international.</a:t>
            </a:r>
            <a:endParaRPr lang="en-US" sz="1200" dirty="0"/>
          </a:p>
        </p:txBody>
      </p:sp>
      <p:sp>
        <p:nvSpPr>
          <p:cNvPr id="10" name="Shape 6"/>
          <p:cNvSpPr/>
          <p:nvPr/>
        </p:nvSpPr>
        <p:spPr>
          <a:xfrm>
            <a:off x="5120640" y="2468880"/>
            <a:ext cx="3474720" cy="640080"/>
          </a:xfrm>
          <a:prstGeom prst="roundRect">
            <a:avLst>
              <a:gd name="adj" fmla="val 14286"/>
            </a:avLst>
          </a:prstGeom>
          <a:solidFill>
            <a:srgbClr val="1A2332"/>
          </a:solidFill>
          <a:ln/>
        </p:spPr>
      </p:sp>
      <p:pic>
        <p:nvPicPr>
          <p:cNvPr id="11" name="Image 2" descr="preencoded.png">    </p:cNvPr>
          <p:cNvPicPr>
            <a:picLocks noChangeAspect="1"/>
          </p:cNvPicPr>
          <p:nvPr/>
        </p:nvPicPr>
        <p:blipFill>
          <a:blip r:embed="rId3"/>
          <a:stretch>
            <a:fillRect/>
          </a:stretch>
        </p:blipFill>
        <p:spPr>
          <a:xfrm>
            <a:off x="5257800" y="2569464"/>
            <a:ext cx="438912" cy="438912"/>
          </a:xfrm>
          <a:prstGeom prst="rect">
            <a:avLst/>
          </a:prstGeom>
        </p:spPr>
      </p:pic>
      <p:sp>
        <p:nvSpPr>
          <p:cNvPr id="12" name="Text 7"/>
          <p:cNvSpPr txBox="1"/>
          <p:nvPr/>
        </p:nvSpPr>
        <p:spPr>
          <a:xfrm>
            <a:off x="5806440" y="246888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On a besoin d'une crypto prévisible. C'est là qu'interviennent les stablecoins.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274320"/>
            <a:ext cx="7680960" cy="502920"/>
          </a:xfrm>
          <a:prstGeom prst="rect">
            <a:avLst/>
          </a:prstGeom>
          <a:noFill/>
          <a:ln/>
        </p:spPr>
        <p:txBody>
          <a:bodyPr wrap="square" lIns="0" tIns="0" rIns="0" bIns="0" rtlCol="0" anchor="ctr"/>
          <a:lstStyle/>
          <a:p>
            <a:pPr indent="0" marL="0">
              <a:buNone/>
            </a:pPr>
            <a:r>
              <a:rPr lang="en-US" sz="2000" b="1" dirty="0">
                <a:solidFill>
                  <a:srgbClr val="06B6D4"/>
                </a:solidFill>
                <a:latin typeface="Calibri" pitchFamily="34" charset="0"/>
                <a:ea typeface="Calibri" pitchFamily="34" charset="-122"/>
                <a:cs typeface="Calibri" pitchFamily="34" charset="-120"/>
              </a:rPr>
              <a:t>Le principe</a:t>
            </a:r>
            <a:endParaRPr lang="en-US" sz="2000" dirty="0"/>
          </a:p>
        </p:txBody>
      </p:sp>
      <p:sp>
        <p:nvSpPr>
          <p:cNvPr id="3" name="Shape 1"/>
          <p:cNvSpPr/>
          <p:nvPr/>
        </p:nvSpPr>
        <p:spPr>
          <a:xfrm>
            <a:off x="594360" y="1005840"/>
            <a:ext cx="2468880" cy="1371600"/>
          </a:xfrm>
          <a:prstGeom prst="roundRect">
            <a:avLst>
              <a:gd name="adj" fmla="val 6667"/>
            </a:avLst>
          </a:prstGeom>
          <a:solidFill>
            <a:srgbClr val="1A2332"/>
          </a:solidFill>
          <a:ln/>
        </p:spPr>
      </p:sp>
      <p:pic>
        <p:nvPicPr>
          <p:cNvPr id="4" name="Image 0" descr="preencoded.png">    </p:cNvPr>
          <p:cNvPicPr>
            <a:picLocks noChangeAspect="1"/>
          </p:cNvPicPr>
          <p:nvPr/>
        </p:nvPicPr>
        <p:blipFill>
          <a:blip r:embed="rId1"/>
          <a:stretch>
            <a:fillRect/>
          </a:stretch>
        </p:blipFill>
        <p:spPr>
          <a:xfrm>
            <a:off x="731520" y="1143000"/>
            <a:ext cx="502920" cy="502920"/>
          </a:xfrm>
          <a:prstGeom prst="rect">
            <a:avLst/>
          </a:prstGeom>
        </p:spPr>
      </p:pic>
      <p:sp>
        <p:nvSpPr>
          <p:cNvPr id="5" name="Text 2"/>
          <p:cNvSpPr txBox="1"/>
          <p:nvPr/>
        </p:nvSpPr>
        <p:spPr>
          <a:xfrm>
            <a:off x="731520" y="171907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Une société (Tether pour l'USDT, Circle pour l'USDC) gard...</a:t>
            </a:r>
            <a:endParaRPr lang="en-US" sz="1100" dirty="0"/>
          </a:p>
        </p:txBody>
      </p:sp>
      <p:sp>
        <p:nvSpPr>
          <p:cNvPr id="6" name="Text 3"/>
          <p:cNvSpPr txBox="1"/>
          <p:nvPr/>
        </p:nvSpPr>
        <p:spPr>
          <a:xfrm>
            <a:off x="731520" y="2011680"/>
            <a:ext cx="219456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1 dollar réel pour chaque token émis.</a:t>
            </a:r>
            <a:endParaRPr lang="en-US" sz="900" dirty="0"/>
          </a:p>
        </p:txBody>
      </p:sp>
      <p:sp>
        <p:nvSpPr>
          <p:cNvPr id="7" name="Shape 4"/>
          <p:cNvSpPr/>
          <p:nvPr/>
        </p:nvSpPr>
        <p:spPr>
          <a:xfrm>
            <a:off x="3246120" y="1005840"/>
            <a:ext cx="2468880" cy="1371600"/>
          </a:xfrm>
          <a:prstGeom prst="roundRect">
            <a:avLst>
              <a:gd name="adj" fmla="val 6667"/>
            </a:avLst>
          </a:prstGeom>
          <a:solidFill>
            <a:srgbClr val="1A2332"/>
          </a:solidFill>
          <a:ln/>
        </p:spPr>
      </p:sp>
      <p:pic>
        <p:nvPicPr>
          <p:cNvPr id="8" name="Image 1" descr="preencoded.png">    </p:cNvPr>
          <p:cNvPicPr>
            <a:picLocks noChangeAspect="1"/>
          </p:cNvPicPr>
          <p:nvPr/>
        </p:nvPicPr>
        <p:blipFill>
          <a:blip r:embed="rId2"/>
          <a:stretch>
            <a:fillRect/>
          </a:stretch>
        </p:blipFill>
        <p:spPr>
          <a:xfrm>
            <a:off x="3383280" y="1143000"/>
            <a:ext cx="502920" cy="502920"/>
          </a:xfrm>
          <a:prstGeom prst="rect">
            <a:avLst/>
          </a:prstGeom>
        </p:spPr>
      </p:pic>
      <p:sp>
        <p:nvSpPr>
          <p:cNvPr id="9" name="Text 5"/>
          <p:cNvSpPr txBox="1"/>
          <p:nvPr/>
        </p:nvSpPr>
        <p:spPr>
          <a:xfrm>
            <a:off x="3383280" y="171907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Vous pouvez à tout moment échanger vos tokens contre des ...</a:t>
            </a:r>
            <a:endParaRPr lang="en-US" sz="1100" dirty="0"/>
          </a:p>
        </p:txBody>
      </p:sp>
      <p:sp>
        <p:nvSpPr>
          <p:cNvPr id="10" name="Text 6"/>
          <p:cNvSpPr txBox="1"/>
          <p:nvPr/>
        </p:nvSpPr>
        <p:spPr>
          <a:xfrm>
            <a:off x="3383280" y="2011680"/>
            <a:ext cx="219456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s de l'émetteur (avec de gros minimums).</a:t>
            </a:r>
            <a:endParaRPr lang="en-US" sz="900" dirty="0"/>
          </a:p>
        </p:txBody>
      </p:sp>
      <p:sp>
        <p:nvSpPr>
          <p:cNvPr id="11" name="Shape 7"/>
          <p:cNvSpPr/>
          <p:nvPr/>
        </p:nvSpPr>
        <p:spPr>
          <a:xfrm>
            <a:off x="5897880" y="1005840"/>
            <a:ext cx="2468880" cy="1371600"/>
          </a:xfrm>
          <a:prstGeom prst="roundRect">
            <a:avLst>
              <a:gd name="adj" fmla="val 6667"/>
            </a:avLst>
          </a:prstGeom>
          <a:solidFill>
            <a:srgbClr val="1A2332"/>
          </a:solidFill>
          <a:ln/>
        </p:spPr>
      </p:sp>
      <p:pic>
        <p:nvPicPr>
          <p:cNvPr id="12" name="Image 2" descr="preencoded.png">    </p:cNvPr>
          <p:cNvPicPr>
            <a:picLocks noChangeAspect="1"/>
          </p:cNvPicPr>
          <p:nvPr/>
        </p:nvPicPr>
        <p:blipFill>
          <a:blip r:embed="rId3"/>
          <a:stretch>
            <a:fillRect/>
          </a:stretch>
        </p:blipFill>
        <p:spPr>
          <a:xfrm>
            <a:off x="6035040" y="1143000"/>
            <a:ext cx="502920" cy="502920"/>
          </a:xfrm>
          <a:prstGeom prst="rect">
            <a:avLst/>
          </a:prstGeom>
        </p:spPr>
      </p:pic>
      <p:sp>
        <p:nvSpPr>
          <p:cNvPr id="13" name="Text 8"/>
          <p:cNvSpPr txBox="1"/>
          <p:nvPr/>
        </p:nvSpPr>
        <p:spPr>
          <a:xfrm>
            <a:off x="6035040" y="171907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Cette promesse d'échange garantit que le prix reste très ...</a:t>
            </a:r>
            <a:endParaRPr lang="en-US" sz="1100" dirty="0"/>
          </a:p>
        </p:txBody>
      </p:sp>
      <p:sp>
        <p:nvSpPr>
          <p:cNvPr id="14" name="Shape 9"/>
          <p:cNvSpPr/>
          <p:nvPr/>
        </p:nvSpPr>
        <p:spPr>
          <a:xfrm>
            <a:off x="594360" y="2514600"/>
            <a:ext cx="2468880" cy="1371600"/>
          </a:xfrm>
          <a:prstGeom prst="roundRect">
            <a:avLst>
              <a:gd name="adj" fmla="val 6667"/>
            </a:avLst>
          </a:prstGeom>
          <a:solidFill>
            <a:srgbClr val="1A2332"/>
          </a:solidFill>
          <a:ln/>
        </p:spPr>
      </p:sp>
      <p:pic>
        <p:nvPicPr>
          <p:cNvPr id="15" name="Image 3" descr="preencoded.png">    </p:cNvPr>
          <p:cNvPicPr>
            <a:picLocks noChangeAspect="1"/>
          </p:cNvPicPr>
          <p:nvPr/>
        </p:nvPicPr>
        <p:blipFill>
          <a:blip r:embed="rId4"/>
          <a:stretch>
            <a:fillRect/>
          </a:stretch>
        </p:blipFill>
        <p:spPr>
          <a:xfrm>
            <a:off x="731520" y="2651760"/>
            <a:ext cx="502920" cy="502920"/>
          </a:xfrm>
          <a:prstGeom prst="rect">
            <a:avLst/>
          </a:prstGeom>
        </p:spPr>
      </p:pic>
      <p:sp>
        <p:nvSpPr>
          <p:cNvPr id="16" name="Text 10"/>
          <p:cNvSpPr txBox="1"/>
          <p:nvPr/>
        </p:nvSpPr>
        <p:spPr>
          <a:xfrm>
            <a:off x="731520" y="322783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Évidemment, il faut faire confiance à l'émetteur : est-ce...</a:t>
            </a:r>
            <a:endParaRPr lang="en-US" sz="1100" dirty="0"/>
          </a:p>
        </p:txBody>
      </p:sp>
      <p:sp>
        <p:nvSpPr>
          <p:cNvPr id="17" name="Text 11"/>
          <p:cNvSpPr txBox="1"/>
          <p:nvPr/>
        </p:nvSpPr>
        <p:spPr>
          <a:xfrm>
            <a:off x="731520" y="3520440"/>
            <a:ext cx="219456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ment les réserves qu'il prétend avoir ?</a:t>
            </a:r>
            <a:endParaRPr lang="en-US" sz="900" dirty="0"/>
          </a:p>
        </p:txBody>
      </p:sp>
      <p:sp>
        <p:nvSpPr>
          <p:cNvPr id="18" name="Shape 12"/>
          <p:cNvSpPr/>
          <p:nvPr/>
        </p:nvSpPr>
        <p:spPr>
          <a:xfrm>
            <a:off x="3246120" y="2514600"/>
            <a:ext cx="2468880" cy="1371600"/>
          </a:xfrm>
          <a:prstGeom prst="roundRect">
            <a:avLst>
              <a:gd name="adj" fmla="val 6667"/>
            </a:avLst>
          </a:prstGeom>
          <a:solidFill>
            <a:srgbClr val="1A2332"/>
          </a:solidFill>
          <a:ln/>
        </p:spPr>
      </p:sp>
      <p:pic>
        <p:nvPicPr>
          <p:cNvPr id="19" name="Image 4" descr="preencoded.png">    </p:cNvPr>
          <p:cNvPicPr>
            <a:picLocks noChangeAspect="1"/>
          </p:cNvPicPr>
          <p:nvPr/>
        </p:nvPicPr>
        <p:blipFill>
          <a:blip r:embed="rId5"/>
          <a:stretch>
            <a:fillRect/>
          </a:stretch>
        </p:blipFill>
        <p:spPr>
          <a:xfrm>
            <a:off x="3383280" y="2651760"/>
            <a:ext cx="502920" cy="502920"/>
          </a:xfrm>
          <a:prstGeom prst="rect">
            <a:avLst/>
          </a:prstGeom>
        </p:spPr>
      </p:pic>
      <p:sp>
        <p:nvSpPr>
          <p:cNvPr id="20" name="Text 13"/>
          <p:cNvSpPr txBox="1"/>
          <p:nvPr/>
        </p:nvSpPr>
        <p:spPr>
          <a:xfrm>
            <a:off x="3383280" y="322783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Tether publie des rapports d'audit trimestriels.</a:t>
            </a:r>
            <a:endParaRPr lang="en-US" sz="1100" dirty="0"/>
          </a:p>
        </p:txBody>
      </p:sp>
      <p:sp>
        <p:nvSpPr>
          <p:cNvPr id="21" name="Shape 14"/>
          <p:cNvSpPr/>
          <p:nvPr/>
        </p:nvSpPr>
        <p:spPr>
          <a:xfrm>
            <a:off x="5897880" y="2514600"/>
            <a:ext cx="2468880" cy="1371600"/>
          </a:xfrm>
          <a:prstGeom prst="roundRect">
            <a:avLst>
              <a:gd name="adj" fmla="val 6667"/>
            </a:avLst>
          </a:prstGeom>
          <a:solidFill>
            <a:srgbClr val="1A2332"/>
          </a:solidFill>
          <a:ln/>
        </p:spPr>
      </p:sp>
      <p:pic>
        <p:nvPicPr>
          <p:cNvPr id="22" name="Image 5" descr="preencoded.png">    </p:cNvPr>
          <p:cNvPicPr>
            <a:picLocks noChangeAspect="1"/>
          </p:cNvPicPr>
          <p:nvPr/>
        </p:nvPicPr>
        <p:blipFill>
          <a:blip r:embed="rId6"/>
          <a:stretch>
            <a:fillRect/>
          </a:stretch>
        </p:blipFill>
        <p:spPr>
          <a:xfrm>
            <a:off x="6035040" y="2651760"/>
            <a:ext cx="502920" cy="502920"/>
          </a:xfrm>
          <a:prstGeom prst="rect">
            <a:avLst/>
          </a:prstGeom>
        </p:spPr>
      </p:pic>
      <p:sp>
        <p:nvSpPr>
          <p:cNvPr id="23" name="Text 15"/>
          <p:cNvSpPr txBox="1"/>
          <p:nvPr/>
        </p:nvSpPr>
        <p:spPr>
          <a:xfrm>
            <a:off x="6035040" y="322783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USDC (émis par Circle, entreprise américaine régulée) est...</a:t>
            </a:r>
            <a:endParaRPr lang="en-US" sz="1100" dirty="0"/>
          </a:p>
        </p:txBody>
      </p:sp>
      <p:sp>
        <p:nvSpPr>
          <p:cNvPr id="24" name="Text 16"/>
          <p:cNvSpPr txBox="1"/>
          <p:nvPr/>
        </p:nvSpPr>
        <p:spPr>
          <a:xfrm>
            <a:off x="6035040" y="3520440"/>
            <a:ext cx="219456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mme encore plus transparent.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06B6D4">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274320"/>
            <a:ext cx="7132320" cy="502920"/>
          </a:xfrm>
          <a:prstGeom prst="rect">
            <a:avLst/>
          </a:prstGeom>
          <a:noFill/>
          <a:ln/>
        </p:spPr>
        <p:txBody>
          <a:bodyPr wrap="square" lIns="0" tIns="0" rIns="0" bIns="0" rtlCol="0" anchor="ctr"/>
          <a:lstStyle/>
          <a:p>
            <a:pPr indent="0" marL="0">
              <a:buNone/>
            </a:pPr>
            <a:r>
              <a:rPr lang="en-US" sz="2000" b="1" dirty="0">
                <a:solidFill>
                  <a:srgbClr val="06B6D4"/>
                </a:solidFill>
                <a:latin typeface="Calibri" pitchFamily="34" charset="0"/>
                <a:ea typeface="Calibri" pitchFamily="34" charset="-122"/>
                <a:cs typeface="Calibri" pitchFamily="34" charset="-120"/>
              </a:rPr>
              <a:t>Les grandes catégories</a:t>
            </a:r>
            <a:endParaRPr lang="en-US" sz="2000" dirty="0"/>
          </a:p>
        </p:txBody>
      </p:sp>
      <p:sp>
        <p:nvSpPr>
          <p:cNvPr id="5" name="Text 2"/>
          <p:cNvSpPr txBox="1"/>
          <p:nvPr/>
        </p:nvSpPr>
        <p:spPr>
          <a:xfrm>
            <a:off x="731520" y="96012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Stablecoins collatéralisés en fiat : USDT, USDC. 1 token = 1 dollar en réserve. Les plus utilisés (&gt;200 milliards en circulation).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Stablecoins collatéralisés en crypto : DAI. Adossés à d'autres cryptos comme collatéral. Plus décentralisés, plus complexes.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Stablecoins algorithmiques : ils tentent de maintenir leur prix par des mécanismes de marché. L'expérience Terra/UST en 2022 a montré leur fragilité — évitez-les.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Pour vous, en Afrique de l'Ouest, retenez : USDT et USDC. Ce sont les deux références.</a:t>
            </a:r>
            <a:endParaRPr lang="en-US" sz="1400" dirty="0"/>
          </a:p>
        </p:txBody>
      </p:sp>
      <p:sp>
        <p:nvSpPr>
          <p:cNvPr id="6" name="Text 3"/>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6 — Leçon 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3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20040"/>
            <a:ext cx="457200" cy="457200"/>
          </a:xfrm>
          <a:prstGeom prst="rect">
            <a:avLst/>
          </a:prstGeom>
        </p:spPr>
      </p:pic>
      <p:sp>
        <p:nvSpPr>
          <p:cNvPr id="3" name="Text 0"/>
          <p:cNvSpPr txBox="1"/>
          <p:nvPr/>
        </p:nvSpPr>
        <p:spPr>
          <a:xfrm>
            <a:off x="1280160" y="365760"/>
            <a:ext cx="2743200" cy="32004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A RETENIR</a:t>
            </a:r>
            <a:endParaRPr lang="en-US" sz="1200" dirty="0"/>
          </a:p>
        </p:txBody>
      </p:sp>
      <p:sp>
        <p:nvSpPr>
          <p:cNvPr id="4" name="Text 1"/>
          <p:cNvSpPr txBox="1"/>
          <p:nvPr/>
        </p:nvSpPr>
        <p:spPr>
          <a:xfrm>
            <a:off x="731520" y="822960"/>
            <a:ext cx="768096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Qu'est-ce qu'un stablecoin ?</a:t>
            </a:r>
            <a:endParaRPr lang="en-US" sz="2000" dirty="0"/>
          </a:p>
        </p:txBody>
      </p:sp>
      <p:sp>
        <p:nvSpPr>
          <p:cNvPr id="5" name="Shape 2"/>
          <p:cNvSpPr/>
          <p:nvPr/>
        </p:nvSpPr>
        <p:spPr>
          <a:xfrm>
            <a:off x="731520" y="1463040"/>
            <a:ext cx="7680960" cy="548640"/>
          </a:xfrm>
          <a:prstGeom prst="roundRect">
            <a:avLst>
              <a:gd name="adj" fmla="val 13333"/>
            </a:avLst>
          </a:prstGeom>
          <a:solidFill>
            <a:srgbClr val="0F1419"/>
          </a:solidFill>
          <a:ln/>
        </p:spPr>
      </p:sp>
      <p:sp>
        <p:nvSpPr>
          <p:cNvPr id="6" name="Text 3"/>
          <p:cNvSpPr txBox="1"/>
          <p:nvPr/>
        </p:nvSpPr>
        <p:spPr>
          <a:xfrm>
            <a:off x="914400" y="146304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508760" y="146304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Payer votre loyer en crypto.</a:t>
            </a:r>
            <a:endParaRPr lang="en-US" sz="1300" dirty="0"/>
          </a:p>
        </p:txBody>
      </p:sp>
      <p:sp>
        <p:nvSpPr>
          <p:cNvPr id="8" name="Shape 5"/>
          <p:cNvSpPr/>
          <p:nvPr/>
        </p:nvSpPr>
        <p:spPr>
          <a:xfrm>
            <a:off x="731520" y="2103120"/>
            <a:ext cx="7680960" cy="548640"/>
          </a:xfrm>
          <a:prstGeom prst="roundRect">
            <a:avLst>
              <a:gd name="adj" fmla="val 13333"/>
            </a:avLst>
          </a:prstGeom>
          <a:solidFill>
            <a:srgbClr val="0F1419"/>
          </a:solidFill>
          <a:ln/>
        </p:spPr>
      </p:sp>
      <p:sp>
        <p:nvSpPr>
          <p:cNvPr id="9" name="Text 6"/>
          <p:cNvSpPr txBox="1"/>
          <p:nvPr/>
        </p:nvSpPr>
        <p:spPr>
          <a:xfrm>
            <a:off x="914400" y="210312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2</a:t>
            </a:r>
            <a:endParaRPr lang="en-US" sz="1500" dirty="0"/>
          </a:p>
        </p:txBody>
      </p:sp>
      <p:sp>
        <p:nvSpPr>
          <p:cNvPr id="10" name="Text 7"/>
          <p:cNvSpPr txBox="1"/>
          <p:nvPr/>
        </p:nvSpPr>
        <p:spPr>
          <a:xfrm>
            <a:off x="1508760" y="210312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Recevoir votre salaire en crypto.</a:t>
            </a:r>
            <a:endParaRPr lang="en-US" sz="1300" dirty="0"/>
          </a:p>
        </p:txBody>
      </p:sp>
      <p:sp>
        <p:nvSpPr>
          <p:cNvPr id="11" name="Shape 8"/>
          <p:cNvSpPr/>
          <p:nvPr/>
        </p:nvSpPr>
        <p:spPr>
          <a:xfrm>
            <a:off x="731520" y="2743200"/>
            <a:ext cx="7680960" cy="548640"/>
          </a:xfrm>
          <a:prstGeom prst="roundRect">
            <a:avLst>
              <a:gd name="adj" fmla="val 13333"/>
            </a:avLst>
          </a:prstGeom>
          <a:solidFill>
            <a:srgbClr val="0F1419"/>
          </a:solidFill>
          <a:ln/>
        </p:spPr>
      </p:sp>
      <p:sp>
        <p:nvSpPr>
          <p:cNvPr id="12" name="Text 9"/>
          <p:cNvSpPr txBox="1"/>
          <p:nvPr/>
        </p:nvSpPr>
        <p:spPr>
          <a:xfrm>
            <a:off x="914400" y="274320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3</a:t>
            </a:r>
            <a:endParaRPr lang="en-US" sz="1500" dirty="0"/>
          </a:p>
        </p:txBody>
      </p:sp>
      <p:sp>
        <p:nvSpPr>
          <p:cNvPr id="13" name="Text 10"/>
          <p:cNvSpPr txBox="1"/>
          <p:nvPr/>
        </p:nvSpPr>
        <p:spPr>
          <a:xfrm>
            <a:off x="1508760" y="274320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Épargner sans stress.</a:t>
            </a:r>
            <a:endParaRPr lang="en-US" sz="1300" dirty="0"/>
          </a:p>
        </p:txBody>
      </p:sp>
      <p:sp>
        <p:nvSpPr>
          <p:cNvPr id="14" name="Shape 11"/>
          <p:cNvSpPr/>
          <p:nvPr/>
        </p:nvSpPr>
        <p:spPr>
          <a:xfrm>
            <a:off x="731520" y="3383280"/>
            <a:ext cx="7680960" cy="548640"/>
          </a:xfrm>
          <a:prstGeom prst="roundRect">
            <a:avLst>
              <a:gd name="adj" fmla="val 13333"/>
            </a:avLst>
          </a:prstGeom>
          <a:solidFill>
            <a:srgbClr val="0F1419"/>
          </a:solidFill>
          <a:ln/>
        </p:spPr>
      </p:sp>
      <p:sp>
        <p:nvSpPr>
          <p:cNvPr id="15" name="Text 12"/>
          <p:cNvSpPr txBox="1"/>
          <p:nvPr/>
        </p:nvSpPr>
        <p:spPr>
          <a:xfrm>
            <a:off x="914400" y="338328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4</a:t>
            </a:r>
            <a:endParaRPr lang="en-US" sz="1500" dirty="0"/>
          </a:p>
        </p:txBody>
      </p:sp>
      <p:sp>
        <p:nvSpPr>
          <p:cNvPr id="16" name="Text 13"/>
          <p:cNvSpPr txBox="1"/>
          <p:nvPr/>
        </p:nvSpPr>
        <p:spPr>
          <a:xfrm>
            <a:off x="1508760" y="338328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Faire du commerce international.</a:t>
            </a:r>
            <a:endParaRPr lang="en-US" sz="1300" dirty="0"/>
          </a:p>
        </p:txBody>
      </p:sp>
      <p:sp>
        <p:nvSpPr>
          <p:cNvPr id="17" name="Shape 14"/>
          <p:cNvSpPr/>
          <p:nvPr/>
        </p:nvSpPr>
        <p:spPr>
          <a:xfrm>
            <a:off x="731520" y="4023360"/>
            <a:ext cx="7680960" cy="548640"/>
          </a:xfrm>
          <a:prstGeom prst="roundRect">
            <a:avLst>
              <a:gd name="adj" fmla="val 13333"/>
            </a:avLst>
          </a:prstGeom>
          <a:solidFill>
            <a:srgbClr val="0F1419"/>
          </a:solidFill>
          <a:ln/>
        </p:spPr>
      </p:sp>
      <p:sp>
        <p:nvSpPr>
          <p:cNvPr id="18" name="Text 15"/>
          <p:cNvSpPr txBox="1"/>
          <p:nvPr/>
        </p:nvSpPr>
        <p:spPr>
          <a:xfrm>
            <a:off x="914400" y="402336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5</a:t>
            </a:r>
            <a:endParaRPr lang="en-US" sz="1500" dirty="0"/>
          </a:p>
        </p:txBody>
      </p:sp>
      <p:sp>
        <p:nvSpPr>
          <p:cNvPr id="19" name="Text 16"/>
          <p:cNvSpPr txBox="1"/>
          <p:nvPr/>
        </p:nvSpPr>
        <p:spPr>
          <a:xfrm>
            <a:off x="1508760" y="402336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Stablecoins collatéralisés en fiat : USDT, USDC. 1 token = 1 dollar en réserve. Les plus utilisés (&gt;200 milliards en circulation).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213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0" y="548640"/>
            <a:ext cx="1280160" cy="1280160"/>
          </a:xfrm>
          <a:prstGeom prst="rect">
            <a:avLst/>
          </a:prstGeom>
        </p:spPr>
      </p:pic>
      <p:pic>
        <p:nvPicPr>
          <p:cNvPr id="3" name="Image 1" descr="preencoded.png">    </p:cNvPr>
          <p:cNvPicPr>
            <a:picLocks noChangeAspect="1"/>
          </p:cNvPicPr>
          <p:nvPr/>
        </p:nvPicPr>
        <p:blipFill>
          <a:blip r:embed="rId2"/>
          <a:stretch>
            <a:fillRect/>
          </a:stretch>
        </p:blipFill>
        <p:spPr>
          <a:xfrm>
            <a:off x="7772400" y="2011680"/>
            <a:ext cx="822960" cy="822960"/>
          </a:xfrm>
          <a:prstGeom prst="rect">
            <a:avLst/>
          </a:prstGeom>
        </p:spPr>
      </p:pic>
      <p:sp>
        <p:nvSpPr>
          <p:cNvPr id="4" name="Shape 0"/>
          <p:cNvSpPr/>
          <p:nvPr/>
        </p:nvSpPr>
        <p:spPr>
          <a:xfrm>
            <a:off x="6583680" y="-274320"/>
            <a:ext cx="3200400" cy="3200400"/>
          </a:xfrm>
          <a:prstGeom prst="ellipse">
            <a:avLst/>
          </a:prstGeom>
          <a:solidFill>
            <a:srgbClr val="06B6D4">
              <a:alpha val="6000"/>
            </a:srgbClr>
          </a:solidFill>
          <a:ln/>
        </p:spPr>
      </p:sp>
      <p:sp>
        <p:nvSpPr>
          <p:cNvPr id="5" name="Shape 1"/>
          <p:cNvSpPr/>
          <p:nvPr/>
        </p:nvSpPr>
        <p:spPr>
          <a:xfrm>
            <a:off x="731520" y="914400"/>
            <a:ext cx="45720" cy="2194560"/>
          </a:xfrm>
          <a:prstGeom prst="rect">
            <a:avLst/>
          </a:prstGeom>
          <a:solidFill>
            <a:srgbClr val="06B6D4"/>
          </a:solidFill>
          <a:ln/>
        </p:spPr>
      </p:sp>
      <p:sp>
        <p:nvSpPr>
          <p:cNvPr id="6" name="Text 2"/>
          <p:cNvSpPr txBox="1"/>
          <p:nvPr/>
        </p:nvSpPr>
        <p:spPr>
          <a:xfrm>
            <a:off x="960120" y="914400"/>
            <a:ext cx="2743200" cy="365760"/>
          </a:xfrm>
          <a:prstGeom prst="rect">
            <a:avLst/>
          </a:prstGeom>
          <a:noFill/>
          <a:ln/>
        </p:spPr>
        <p:txBody>
          <a:bodyPr wrap="square" lIns="0" tIns="0" rIns="0" bIns="0" rtlCol="0" anchor="ctr"/>
          <a:lstStyle/>
          <a:p>
            <a:pPr indent="0" marL="0">
              <a:buNone/>
            </a:pPr>
            <a:r>
              <a:rPr lang="en-US" sz="1200" b="1" spc="200" kern="0" dirty="0">
                <a:solidFill>
                  <a:srgbClr val="06B6D4"/>
                </a:solidFill>
                <a:latin typeface="Calibri" pitchFamily="34" charset="0"/>
                <a:ea typeface="Calibri" pitchFamily="34" charset="-122"/>
                <a:cs typeface="Calibri" pitchFamily="34" charset="-120"/>
              </a:rPr>
              <a:t>Leçon 2 / 3</a:t>
            </a:r>
            <a:endParaRPr lang="en-US" sz="1200" dirty="0"/>
          </a:p>
        </p:txBody>
      </p:sp>
      <p:sp>
        <p:nvSpPr>
          <p:cNvPr id="7" name="Text 3"/>
          <p:cNvSpPr txBox="1"/>
          <p:nvPr/>
        </p:nvSpPr>
        <p:spPr>
          <a:xfrm>
            <a:off x="960120" y="1371600"/>
            <a:ext cx="6217920" cy="14630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USDT — le pilier de l'échange</a:t>
            </a:r>
            <a:endParaRPr lang="en-US" sz="2800" dirty="0"/>
          </a:p>
        </p:txBody>
      </p:sp>
      <p:sp>
        <p:nvSpPr>
          <p:cNvPr id="8" name="Text 4"/>
          <p:cNvSpPr txBox="1"/>
          <p:nvPr/>
        </p:nvSpPr>
        <p:spPr>
          <a:xfrm>
            <a:off x="960120" y="4114800"/>
            <a:ext cx="5486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Les stablecoins : USDT &amp; pourquoi c'est utile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06B6D4">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45720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USDT (Tether) est le stablecoin le plus utilisé au monde.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Lancé en 2014, il représente aujourd'hui plus de 60% du marché des stablecoins, avec une capitalisation de plus de 200 milliards de dollars.</a:t>
            </a:r>
            <a:endParaRPr lang="en-US" sz="1400" dirty="0"/>
          </a:p>
        </p:txBody>
      </p:sp>
      <p:sp>
        <p:nvSpPr>
          <p:cNvPr id="5"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6 — Leçon 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274320"/>
            <a:ext cx="7680960" cy="502920"/>
          </a:xfrm>
          <a:prstGeom prst="rect">
            <a:avLst/>
          </a:prstGeom>
          <a:noFill/>
          <a:ln/>
        </p:spPr>
        <p:txBody>
          <a:bodyPr wrap="square" lIns="0" tIns="0" rIns="0" bIns="0" rtlCol="0" anchor="ctr"/>
          <a:lstStyle/>
          <a:p>
            <a:pPr indent="0" marL="0">
              <a:buNone/>
            </a:pPr>
            <a:r>
              <a:rPr lang="en-US" sz="2000" b="1" dirty="0">
                <a:solidFill>
                  <a:srgbClr val="06B6D4"/>
                </a:solidFill>
                <a:latin typeface="Calibri" pitchFamily="34" charset="0"/>
                <a:ea typeface="Calibri" pitchFamily="34" charset="-122"/>
                <a:cs typeface="Calibri" pitchFamily="34" charset="-120"/>
              </a:rPr>
              <a:t>Pourquoi USDT est-il devenu la référence en Afrique ?</a:t>
            </a:r>
            <a:endParaRPr lang="en-US" sz="2000" dirty="0"/>
          </a:p>
        </p:txBody>
      </p:sp>
      <p:sp>
        <p:nvSpPr>
          <p:cNvPr id="3" name="Text 1"/>
          <p:cNvSpPr txBox="1"/>
          <p:nvPr/>
        </p:nvSpPr>
        <p:spPr>
          <a:xfrm>
            <a:off x="731520" y="1005840"/>
            <a:ext cx="420624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Il est partout : accepté sur toutes les plateformes d'échange, tous les portefeuilles, tous les marchands crypto afri...</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Il est stable : 1 USDT ≈ 1 USD, à quelques dixièmes de cent près.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Il protège contre l'inflation locale : le franc CFA est stable, mais dans d'autres pays africains (Nigeria, Ghana, Zi...</a:t>
            </a:r>
            <a:endParaRPr lang="en-US" sz="1300" dirty="0"/>
          </a:p>
        </p:txBody>
      </p:sp>
      <p:sp>
        <p:nvSpPr>
          <p:cNvPr id="4" name="Shape 2"/>
          <p:cNvSpPr/>
          <p:nvPr/>
        </p:nvSpPr>
        <p:spPr>
          <a:xfrm>
            <a:off x="5120640" y="1005840"/>
            <a:ext cx="3474720" cy="640080"/>
          </a:xfrm>
          <a:prstGeom prst="roundRect">
            <a:avLst>
              <a:gd name="adj" fmla="val 14286"/>
            </a:avLst>
          </a:prstGeom>
          <a:solidFill>
            <a:srgbClr val="1A2332"/>
          </a:solidFill>
          <a:ln/>
        </p:spPr>
      </p:sp>
      <p:pic>
        <p:nvPicPr>
          <p:cNvPr id="5" name="Image 0" descr="preencoded.png">    </p:cNvPr>
          <p:cNvPicPr>
            <a:picLocks noChangeAspect="1"/>
          </p:cNvPicPr>
          <p:nvPr/>
        </p:nvPicPr>
        <p:blipFill>
          <a:blip r:embed="rId1"/>
          <a:stretch>
            <a:fillRect/>
          </a:stretch>
        </p:blipFill>
        <p:spPr>
          <a:xfrm>
            <a:off x="5257800" y="1106424"/>
            <a:ext cx="438912" cy="438912"/>
          </a:xfrm>
          <a:prstGeom prst="rect">
            <a:avLst/>
          </a:prstGeom>
        </p:spPr>
      </p:pic>
      <p:sp>
        <p:nvSpPr>
          <p:cNvPr id="6" name="Text 3"/>
          <p:cNvSpPr txBox="1"/>
          <p:nvPr/>
        </p:nvSpPr>
        <p:spPr>
          <a:xfrm>
            <a:off x="5806440" y="100584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Il traverse les frontières : envoyer 500 USDT du Sénégal au Cameroun prend 10...</a:t>
            </a:r>
            <a:endParaRPr lang="en-US" sz="1200" dirty="0"/>
          </a:p>
        </p:txBody>
      </p:sp>
      <p:sp>
        <p:nvSpPr>
          <p:cNvPr id="7" name="Shape 4"/>
          <p:cNvSpPr/>
          <p:nvPr/>
        </p:nvSpPr>
        <p:spPr>
          <a:xfrm>
            <a:off x="5120640" y="1737360"/>
            <a:ext cx="3474720" cy="640080"/>
          </a:xfrm>
          <a:prstGeom prst="roundRect">
            <a:avLst>
              <a:gd name="adj" fmla="val 14286"/>
            </a:avLst>
          </a:prstGeom>
          <a:solidFill>
            <a:srgbClr val="1A2332"/>
          </a:solidFill>
          <a:ln/>
        </p:spPr>
      </p:sp>
      <p:pic>
        <p:nvPicPr>
          <p:cNvPr id="8" name="Image 1" descr="preencoded.png">    </p:cNvPr>
          <p:cNvPicPr>
            <a:picLocks noChangeAspect="1"/>
          </p:cNvPicPr>
          <p:nvPr/>
        </p:nvPicPr>
        <p:blipFill>
          <a:blip r:embed="rId2"/>
          <a:stretch>
            <a:fillRect/>
          </a:stretch>
        </p:blipFill>
        <p:spPr>
          <a:xfrm>
            <a:off x="5257800" y="1837944"/>
            <a:ext cx="438912" cy="438912"/>
          </a:xfrm>
          <a:prstGeom prst="rect">
            <a:avLst/>
          </a:prstGeom>
        </p:spPr>
      </p:pic>
      <p:sp>
        <p:nvSpPr>
          <p:cNvPr id="9" name="Text 5"/>
          <p:cNvSpPr txBox="1"/>
          <p:nvPr/>
        </p:nvSpPr>
        <p:spPr>
          <a:xfrm>
            <a:off x="5806440" y="173736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Il est disponible sur plusieurs réseaux : Tron, Ethereum, BNB Chain, Solana, ...</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274320"/>
            <a:ext cx="7680960" cy="502920"/>
          </a:xfrm>
          <a:prstGeom prst="rect">
            <a:avLst/>
          </a:prstGeom>
          <a:noFill/>
          <a:ln/>
        </p:spPr>
        <p:txBody>
          <a:bodyPr wrap="square" lIns="0" tIns="0" rIns="0" bIns="0" rtlCol="0" anchor="ctr"/>
          <a:lstStyle/>
          <a:p>
            <a:pPr indent="0" marL="0">
              <a:buNone/>
            </a:pPr>
            <a:r>
              <a:rPr lang="en-US" sz="2000" b="1" dirty="0">
                <a:solidFill>
                  <a:srgbClr val="06B6D4"/>
                </a:solidFill>
                <a:latin typeface="Calibri" pitchFamily="34" charset="0"/>
                <a:ea typeface="Calibri" pitchFamily="34" charset="-122"/>
                <a:cs typeface="Calibri" pitchFamily="34" charset="-120"/>
              </a:rPr>
              <a:t>Les cas d'usage concrets en Afrique</a:t>
            </a:r>
            <a:endParaRPr lang="en-US" sz="2000" dirty="0"/>
          </a:p>
        </p:txBody>
      </p:sp>
      <p:sp>
        <p:nvSpPr>
          <p:cNvPr id="3" name="Shape 1"/>
          <p:cNvSpPr/>
          <p:nvPr/>
        </p:nvSpPr>
        <p:spPr>
          <a:xfrm>
            <a:off x="594360" y="1005840"/>
            <a:ext cx="2468880" cy="1371600"/>
          </a:xfrm>
          <a:prstGeom prst="roundRect">
            <a:avLst>
              <a:gd name="adj" fmla="val 6667"/>
            </a:avLst>
          </a:prstGeom>
          <a:solidFill>
            <a:srgbClr val="1A2332"/>
          </a:solidFill>
          <a:ln/>
        </p:spPr>
      </p:sp>
      <p:pic>
        <p:nvPicPr>
          <p:cNvPr id="4" name="Image 0" descr="preencoded.png">    </p:cNvPr>
          <p:cNvPicPr>
            <a:picLocks noChangeAspect="1"/>
          </p:cNvPicPr>
          <p:nvPr/>
        </p:nvPicPr>
        <p:blipFill>
          <a:blip r:embed="rId1"/>
          <a:stretch>
            <a:fillRect/>
          </a:stretch>
        </p:blipFill>
        <p:spPr>
          <a:xfrm>
            <a:off x="731520" y="1143000"/>
            <a:ext cx="502920" cy="502920"/>
          </a:xfrm>
          <a:prstGeom prst="rect">
            <a:avLst/>
          </a:prstGeom>
        </p:spPr>
      </p:pic>
      <p:sp>
        <p:nvSpPr>
          <p:cNvPr id="5" name="Text 2"/>
          <p:cNvSpPr txBox="1"/>
          <p:nvPr/>
        </p:nvSpPr>
        <p:spPr>
          <a:xfrm>
            <a:off x="731520" y="171907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Épargner en dollars sans banque : impossible d'ouvrir un ...</a:t>
            </a:r>
            <a:endParaRPr lang="en-US" sz="1100" dirty="0"/>
          </a:p>
        </p:txBody>
      </p:sp>
      <p:sp>
        <p:nvSpPr>
          <p:cNvPr id="6" name="Text 3"/>
          <p:cNvSpPr txBox="1"/>
          <p:nvPr/>
        </p:nvSpPr>
        <p:spPr>
          <a:xfrm>
            <a:off x="731520" y="2011680"/>
            <a:ext cx="219456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 Sénégal ? Achetez des USDT sur Terex.</a:t>
            </a:r>
            <a:endParaRPr lang="en-US" sz="900" dirty="0"/>
          </a:p>
        </p:txBody>
      </p:sp>
      <p:sp>
        <p:nvSpPr>
          <p:cNvPr id="7" name="Shape 4"/>
          <p:cNvSpPr/>
          <p:nvPr/>
        </p:nvSpPr>
        <p:spPr>
          <a:xfrm>
            <a:off x="3246120" y="1005840"/>
            <a:ext cx="2468880" cy="1371600"/>
          </a:xfrm>
          <a:prstGeom prst="roundRect">
            <a:avLst>
              <a:gd name="adj" fmla="val 6667"/>
            </a:avLst>
          </a:prstGeom>
          <a:solidFill>
            <a:srgbClr val="1A2332"/>
          </a:solidFill>
          <a:ln/>
        </p:spPr>
      </p:sp>
      <p:pic>
        <p:nvPicPr>
          <p:cNvPr id="8" name="Image 1" descr="preencoded.png">    </p:cNvPr>
          <p:cNvPicPr>
            <a:picLocks noChangeAspect="1"/>
          </p:cNvPicPr>
          <p:nvPr/>
        </p:nvPicPr>
        <p:blipFill>
          <a:blip r:embed="rId2"/>
          <a:stretch>
            <a:fillRect/>
          </a:stretch>
        </p:blipFill>
        <p:spPr>
          <a:xfrm>
            <a:off x="3383280" y="1143000"/>
            <a:ext cx="502920" cy="502920"/>
          </a:xfrm>
          <a:prstGeom prst="rect">
            <a:avLst/>
          </a:prstGeom>
        </p:spPr>
      </p:pic>
      <p:sp>
        <p:nvSpPr>
          <p:cNvPr id="9" name="Text 5"/>
          <p:cNvSpPr txBox="1"/>
          <p:nvPr/>
        </p:nvSpPr>
        <p:spPr>
          <a:xfrm>
            <a:off x="3383280" y="171907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Payer un fournisseur en Chine : plus rapide et moins cher...</a:t>
            </a:r>
            <a:endParaRPr lang="en-US" sz="1100" dirty="0"/>
          </a:p>
        </p:txBody>
      </p:sp>
      <p:sp>
        <p:nvSpPr>
          <p:cNvPr id="10" name="Text 6"/>
          <p:cNvSpPr txBox="1"/>
          <p:nvPr/>
        </p:nvSpPr>
        <p:spPr>
          <a:xfrm>
            <a:off x="3383280" y="2011680"/>
            <a:ext cx="219456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nt bancaire.</a:t>
            </a:r>
            <a:endParaRPr lang="en-US" sz="900" dirty="0"/>
          </a:p>
        </p:txBody>
      </p:sp>
      <p:sp>
        <p:nvSpPr>
          <p:cNvPr id="11" name="Shape 7"/>
          <p:cNvSpPr/>
          <p:nvPr/>
        </p:nvSpPr>
        <p:spPr>
          <a:xfrm>
            <a:off x="5897880" y="1005840"/>
            <a:ext cx="2468880" cy="1371600"/>
          </a:xfrm>
          <a:prstGeom prst="roundRect">
            <a:avLst>
              <a:gd name="adj" fmla="val 6667"/>
            </a:avLst>
          </a:prstGeom>
          <a:solidFill>
            <a:srgbClr val="1A2332"/>
          </a:solidFill>
          <a:ln/>
        </p:spPr>
      </p:sp>
      <p:pic>
        <p:nvPicPr>
          <p:cNvPr id="12" name="Image 2" descr="preencoded.png">    </p:cNvPr>
          <p:cNvPicPr>
            <a:picLocks noChangeAspect="1"/>
          </p:cNvPicPr>
          <p:nvPr/>
        </p:nvPicPr>
        <p:blipFill>
          <a:blip r:embed="rId3"/>
          <a:stretch>
            <a:fillRect/>
          </a:stretch>
        </p:blipFill>
        <p:spPr>
          <a:xfrm>
            <a:off x="6035040" y="1143000"/>
            <a:ext cx="502920" cy="502920"/>
          </a:xfrm>
          <a:prstGeom prst="rect">
            <a:avLst/>
          </a:prstGeom>
        </p:spPr>
      </p:pic>
      <p:sp>
        <p:nvSpPr>
          <p:cNvPr id="13" name="Text 8"/>
          <p:cNvSpPr txBox="1"/>
          <p:nvPr/>
        </p:nvSpPr>
        <p:spPr>
          <a:xfrm>
            <a:off x="6035040" y="171907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Envoyer de l'argent à la famille à l'étranger : votre nev...</a:t>
            </a:r>
            <a:endParaRPr lang="en-US" sz="1100" dirty="0"/>
          </a:p>
        </p:txBody>
      </p:sp>
      <p:sp>
        <p:nvSpPr>
          <p:cNvPr id="14" name="Text 9"/>
          <p:cNvSpPr txBox="1"/>
          <p:nvPr/>
        </p:nvSpPr>
        <p:spPr>
          <a:xfrm>
            <a:off x="6035040" y="2011680"/>
            <a:ext cx="219456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reçoit ses USDT en 10 minutes.</a:t>
            </a:r>
            <a:endParaRPr lang="en-US" sz="900" dirty="0"/>
          </a:p>
        </p:txBody>
      </p:sp>
      <p:sp>
        <p:nvSpPr>
          <p:cNvPr id="15" name="Shape 10"/>
          <p:cNvSpPr/>
          <p:nvPr/>
        </p:nvSpPr>
        <p:spPr>
          <a:xfrm>
            <a:off x="594360" y="2514600"/>
            <a:ext cx="2468880" cy="1371600"/>
          </a:xfrm>
          <a:prstGeom prst="roundRect">
            <a:avLst>
              <a:gd name="adj" fmla="val 6667"/>
            </a:avLst>
          </a:prstGeom>
          <a:solidFill>
            <a:srgbClr val="1A2332"/>
          </a:solidFill>
          <a:ln/>
        </p:spPr>
      </p:sp>
      <p:pic>
        <p:nvPicPr>
          <p:cNvPr id="16" name="Image 3" descr="preencoded.png">    </p:cNvPr>
          <p:cNvPicPr>
            <a:picLocks noChangeAspect="1"/>
          </p:cNvPicPr>
          <p:nvPr/>
        </p:nvPicPr>
        <p:blipFill>
          <a:blip r:embed="rId4"/>
          <a:stretch>
            <a:fillRect/>
          </a:stretch>
        </p:blipFill>
        <p:spPr>
          <a:xfrm>
            <a:off x="731520" y="2651760"/>
            <a:ext cx="502920" cy="502920"/>
          </a:xfrm>
          <a:prstGeom prst="rect">
            <a:avLst/>
          </a:prstGeom>
        </p:spPr>
      </p:pic>
      <p:sp>
        <p:nvSpPr>
          <p:cNvPr id="17" name="Text 11"/>
          <p:cNvSpPr txBox="1"/>
          <p:nvPr/>
        </p:nvSpPr>
        <p:spPr>
          <a:xfrm>
            <a:off x="731520" y="322783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Recevoir un paiement d'un client international : freelanc...</a:t>
            </a:r>
            <a:endParaRPr lang="en-US" sz="1100" dirty="0"/>
          </a:p>
        </p:txBody>
      </p:sp>
      <p:sp>
        <p:nvSpPr>
          <p:cNvPr id="18" name="Text 12"/>
          <p:cNvSpPr txBox="1"/>
          <p:nvPr/>
        </p:nvSpPr>
        <p:spPr>
          <a:xfrm>
            <a:off x="731520" y="3520440"/>
            <a:ext cx="219456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 consultant — vous êtes payé sans commission bancaire de 3-5%.</a:t>
            </a:r>
            <a:endParaRPr lang="en-US" sz="900" dirty="0"/>
          </a:p>
        </p:txBody>
      </p:sp>
      <p:sp>
        <p:nvSpPr>
          <p:cNvPr id="19" name="Shape 13"/>
          <p:cNvSpPr/>
          <p:nvPr/>
        </p:nvSpPr>
        <p:spPr>
          <a:xfrm>
            <a:off x="3246120" y="2514600"/>
            <a:ext cx="2468880" cy="1371600"/>
          </a:xfrm>
          <a:prstGeom prst="roundRect">
            <a:avLst>
              <a:gd name="adj" fmla="val 6667"/>
            </a:avLst>
          </a:prstGeom>
          <a:solidFill>
            <a:srgbClr val="1A2332"/>
          </a:solidFill>
          <a:ln/>
        </p:spPr>
      </p:sp>
      <p:pic>
        <p:nvPicPr>
          <p:cNvPr id="20" name="Image 4" descr="preencoded.png">    </p:cNvPr>
          <p:cNvPicPr>
            <a:picLocks noChangeAspect="1"/>
          </p:cNvPicPr>
          <p:nvPr/>
        </p:nvPicPr>
        <p:blipFill>
          <a:blip r:embed="rId5"/>
          <a:stretch>
            <a:fillRect/>
          </a:stretch>
        </p:blipFill>
        <p:spPr>
          <a:xfrm>
            <a:off x="3383280" y="2651760"/>
            <a:ext cx="502920" cy="502920"/>
          </a:xfrm>
          <a:prstGeom prst="rect">
            <a:avLst/>
          </a:prstGeom>
        </p:spPr>
      </p:pic>
      <p:sp>
        <p:nvSpPr>
          <p:cNvPr id="21" name="Text 14"/>
          <p:cNvSpPr txBox="1"/>
          <p:nvPr/>
        </p:nvSpPr>
        <p:spPr>
          <a:xfrm>
            <a:off x="3383280" y="322783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Faire du trading : USDT est la paire de référence face à ...</a:t>
            </a:r>
            <a:endParaRPr lang="en-US" sz="1100" dirty="0"/>
          </a:p>
        </p:txBody>
      </p:sp>
      <p:sp>
        <p:nvSpPr>
          <p:cNvPr id="22" name="Text 15"/>
          <p:cNvSpPr txBox="1"/>
          <p:nvPr/>
        </p:nvSpPr>
        <p:spPr>
          <a:xfrm>
            <a:off x="3383280" y="3520440"/>
            <a:ext cx="219456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tres cryptos sur les plateformes.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06B6D4">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274320"/>
            <a:ext cx="7132320" cy="502920"/>
          </a:xfrm>
          <a:prstGeom prst="rect">
            <a:avLst/>
          </a:prstGeom>
          <a:noFill/>
          <a:ln/>
        </p:spPr>
        <p:txBody>
          <a:bodyPr wrap="square" lIns="0" tIns="0" rIns="0" bIns="0" rtlCol="0" anchor="ctr"/>
          <a:lstStyle/>
          <a:p>
            <a:pPr indent="0" marL="0">
              <a:buNone/>
            </a:pPr>
            <a:r>
              <a:rPr lang="en-US" sz="2000" b="1" dirty="0">
                <a:solidFill>
                  <a:srgbClr val="06B6D4"/>
                </a:solidFill>
                <a:latin typeface="Calibri" pitchFamily="34" charset="0"/>
                <a:ea typeface="Calibri" pitchFamily="34" charset="-122"/>
                <a:cs typeface="Calibri" pitchFamily="34" charset="-120"/>
              </a:rPr>
              <a:t>Est-ce que USDT est risqué ?</a:t>
            </a:r>
            <a:endParaRPr lang="en-US" sz="2000" dirty="0"/>
          </a:p>
        </p:txBody>
      </p:sp>
      <p:sp>
        <p:nvSpPr>
          <p:cNvPr id="5" name="Text 2"/>
          <p:cNvSpPr txBox="1"/>
          <p:nvPr/>
        </p:nvSpPr>
        <p:spPr>
          <a:xfrm>
            <a:off x="731520" y="96012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 risque principal est un défaut de Tether (la société qui l'émet).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C'est théoriquement possible, mais c'est aujourd'hui le stablecoin le plus liquide et l'un des plus scrutés du secteur.</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Pour limiter le risque, ne stockez pas des centaines de milliers de dollars sur un seul stablecoin — diversifiez avec USDC si les montants sont importants.</a:t>
            </a:r>
            <a:endParaRPr lang="en-US" sz="1400" dirty="0"/>
          </a:p>
        </p:txBody>
      </p:sp>
      <p:sp>
        <p:nvSpPr>
          <p:cNvPr id="6" name="Text 3"/>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6 — Leçon 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23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20040"/>
            <a:ext cx="457200" cy="457200"/>
          </a:xfrm>
          <a:prstGeom prst="rect">
            <a:avLst/>
          </a:prstGeom>
        </p:spPr>
      </p:pic>
      <p:sp>
        <p:nvSpPr>
          <p:cNvPr id="3" name="Text 0"/>
          <p:cNvSpPr txBox="1"/>
          <p:nvPr/>
        </p:nvSpPr>
        <p:spPr>
          <a:xfrm>
            <a:off x="1280160" y="365760"/>
            <a:ext cx="2743200" cy="32004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A RETENIR</a:t>
            </a:r>
            <a:endParaRPr lang="en-US" sz="1200" dirty="0"/>
          </a:p>
        </p:txBody>
      </p:sp>
      <p:sp>
        <p:nvSpPr>
          <p:cNvPr id="4" name="Text 1"/>
          <p:cNvSpPr txBox="1"/>
          <p:nvPr/>
        </p:nvSpPr>
        <p:spPr>
          <a:xfrm>
            <a:off x="731520" y="822960"/>
            <a:ext cx="768096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USDT — le pilier de l'échange</a:t>
            </a:r>
            <a:endParaRPr lang="en-US" sz="2000" dirty="0"/>
          </a:p>
        </p:txBody>
      </p:sp>
      <p:sp>
        <p:nvSpPr>
          <p:cNvPr id="5" name="Shape 2"/>
          <p:cNvSpPr/>
          <p:nvPr/>
        </p:nvSpPr>
        <p:spPr>
          <a:xfrm>
            <a:off x="731520" y="1463040"/>
            <a:ext cx="7680960" cy="548640"/>
          </a:xfrm>
          <a:prstGeom prst="roundRect">
            <a:avLst>
              <a:gd name="adj" fmla="val 13333"/>
            </a:avLst>
          </a:prstGeom>
          <a:solidFill>
            <a:srgbClr val="0F1419"/>
          </a:solidFill>
          <a:ln/>
        </p:spPr>
      </p:sp>
      <p:sp>
        <p:nvSpPr>
          <p:cNvPr id="6" name="Text 3"/>
          <p:cNvSpPr txBox="1"/>
          <p:nvPr/>
        </p:nvSpPr>
        <p:spPr>
          <a:xfrm>
            <a:off x="914400" y="146304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508760" y="146304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Il est partout : accepté sur toutes les plateformes d'échange, tous les portefeuilles, tous les marchands crypto africains.</a:t>
            </a:r>
            <a:endParaRPr lang="en-US" sz="1300" dirty="0"/>
          </a:p>
        </p:txBody>
      </p:sp>
      <p:sp>
        <p:nvSpPr>
          <p:cNvPr id="8" name="Shape 5"/>
          <p:cNvSpPr/>
          <p:nvPr/>
        </p:nvSpPr>
        <p:spPr>
          <a:xfrm>
            <a:off x="731520" y="2103120"/>
            <a:ext cx="7680960" cy="548640"/>
          </a:xfrm>
          <a:prstGeom prst="roundRect">
            <a:avLst>
              <a:gd name="adj" fmla="val 13333"/>
            </a:avLst>
          </a:prstGeom>
          <a:solidFill>
            <a:srgbClr val="0F1419"/>
          </a:solidFill>
          <a:ln/>
        </p:spPr>
      </p:sp>
      <p:sp>
        <p:nvSpPr>
          <p:cNvPr id="9" name="Text 6"/>
          <p:cNvSpPr txBox="1"/>
          <p:nvPr/>
        </p:nvSpPr>
        <p:spPr>
          <a:xfrm>
            <a:off x="914400" y="210312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2</a:t>
            </a:r>
            <a:endParaRPr lang="en-US" sz="1500" dirty="0"/>
          </a:p>
        </p:txBody>
      </p:sp>
      <p:sp>
        <p:nvSpPr>
          <p:cNvPr id="10" name="Text 7"/>
          <p:cNvSpPr txBox="1"/>
          <p:nvPr/>
        </p:nvSpPr>
        <p:spPr>
          <a:xfrm>
            <a:off x="1508760" y="210312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Il est stable : 1 USDT ≈ 1 USD, à quelques dixièmes de cent près.</a:t>
            </a:r>
            <a:endParaRPr lang="en-US" sz="1300" dirty="0"/>
          </a:p>
        </p:txBody>
      </p:sp>
      <p:sp>
        <p:nvSpPr>
          <p:cNvPr id="11" name="Shape 8"/>
          <p:cNvSpPr/>
          <p:nvPr/>
        </p:nvSpPr>
        <p:spPr>
          <a:xfrm>
            <a:off x="731520" y="2743200"/>
            <a:ext cx="7680960" cy="548640"/>
          </a:xfrm>
          <a:prstGeom prst="roundRect">
            <a:avLst>
              <a:gd name="adj" fmla="val 13333"/>
            </a:avLst>
          </a:prstGeom>
          <a:solidFill>
            <a:srgbClr val="0F1419"/>
          </a:solidFill>
          <a:ln/>
        </p:spPr>
      </p:sp>
      <p:sp>
        <p:nvSpPr>
          <p:cNvPr id="12" name="Text 9"/>
          <p:cNvSpPr txBox="1"/>
          <p:nvPr/>
        </p:nvSpPr>
        <p:spPr>
          <a:xfrm>
            <a:off x="914400" y="274320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3</a:t>
            </a:r>
            <a:endParaRPr lang="en-US" sz="1500" dirty="0"/>
          </a:p>
        </p:txBody>
      </p:sp>
      <p:sp>
        <p:nvSpPr>
          <p:cNvPr id="13" name="Text 10"/>
          <p:cNvSpPr txBox="1"/>
          <p:nvPr/>
        </p:nvSpPr>
        <p:spPr>
          <a:xfrm>
            <a:off x="1508760" y="274320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Il traverse les frontières : envoyer 500 USDT du Sénégal au Cameroun prend 10 minutes et coûte moins de 1$. Impossible avec un virement bancaire cl...</a:t>
            </a:r>
            <a:endParaRPr lang="en-US" sz="1300" dirty="0"/>
          </a:p>
        </p:txBody>
      </p:sp>
      <p:sp>
        <p:nvSpPr>
          <p:cNvPr id="14" name="Shape 11"/>
          <p:cNvSpPr/>
          <p:nvPr/>
        </p:nvSpPr>
        <p:spPr>
          <a:xfrm>
            <a:off x="731520" y="3383280"/>
            <a:ext cx="7680960" cy="548640"/>
          </a:xfrm>
          <a:prstGeom prst="roundRect">
            <a:avLst>
              <a:gd name="adj" fmla="val 13333"/>
            </a:avLst>
          </a:prstGeom>
          <a:solidFill>
            <a:srgbClr val="0F1419"/>
          </a:solidFill>
          <a:ln/>
        </p:spPr>
      </p:sp>
      <p:sp>
        <p:nvSpPr>
          <p:cNvPr id="15" name="Text 12"/>
          <p:cNvSpPr txBox="1"/>
          <p:nvPr/>
        </p:nvSpPr>
        <p:spPr>
          <a:xfrm>
            <a:off x="914400" y="338328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4</a:t>
            </a:r>
            <a:endParaRPr lang="en-US" sz="1500" dirty="0"/>
          </a:p>
        </p:txBody>
      </p:sp>
      <p:sp>
        <p:nvSpPr>
          <p:cNvPr id="16" name="Text 13"/>
          <p:cNvSpPr txBox="1"/>
          <p:nvPr/>
        </p:nvSpPr>
        <p:spPr>
          <a:xfrm>
            <a:off x="1508760" y="338328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Il est disponible sur plusieurs réseaux : Tron, Ethereum, BNB Chain, Solana, Polygon. Vous choisissez selon votre besoin.</a:t>
            </a:r>
            <a:endParaRPr lang="en-US" sz="1300" dirty="0"/>
          </a:p>
        </p:txBody>
      </p:sp>
      <p:sp>
        <p:nvSpPr>
          <p:cNvPr id="17" name="Shape 14"/>
          <p:cNvSpPr/>
          <p:nvPr/>
        </p:nvSpPr>
        <p:spPr>
          <a:xfrm>
            <a:off x="731520" y="4023360"/>
            <a:ext cx="7680960" cy="548640"/>
          </a:xfrm>
          <a:prstGeom prst="roundRect">
            <a:avLst>
              <a:gd name="adj" fmla="val 13333"/>
            </a:avLst>
          </a:prstGeom>
          <a:solidFill>
            <a:srgbClr val="0F1419"/>
          </a:solidFill>
          <a:ln/>
        </p:spPr>
      </p:sp>
      <p:sp>
        <p:nvSpPr>
          <p:cNvPr id="18" name="Text 15"/>
          <p:cNvSpPr txBox="1"/>
          <p:nvPr/>
        </p:nvSpPr>
        <p:spPr>
          <a:xfrm>
            <a:off x="914400" y="402336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5</a:t>
            </a:r>
            <a:endParaRPr lang="en-US" sz="1500" dirty="0"/>
          </a:p>
        </p:txBody>
      </p:sp>
      <p:sp>
        <p:nvSpPr>
          <p:cNvPr id="19" name="Text 16"/>
          <p:cNvSpPr txBox="1"/>
          <p:nvPr/>
        </p:nvSpPr>
        <p:spPr>
          <a:xfrm>
            <a:off x="1508760" y="402336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Épargner en dollars sans banque : impossible d'ouvrir un compte USD au Sénégal ? Achetez des USDT sur Terex.</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548640" y="548640"/>
            <a:ext cx="8046720" cy="3840480"/>
          </a:xfrm>
          <a:prstGeom prst="roundRect">
            <a:avLst>
              <a:gd name="adj" fmla="val 3571"/>
            </a:avLst>
          </a:prstGeom>
          <a:solidFill>
            <a:srgbClr val="2D1B1B"/>
          </a:solidFill>
          <a:ln/>
        </p:spPr>
      </p:sp>
      <p:sp>
        <p:nvSpPr>
          <p:cNvPr id="3" name="Shape 1"/>
          <p:cNvSpPr/>
          <p:nvPr/>
        </p:nvSpPr>
        <p:spPr>
          <a:xfrm>
            <a:off x="548640" y="548640"/>
            <a:ext cx="54864" cy="3840480"/>
          </a:xfrm>
          <a:prstGeom prst="rect">
            <a:avLst/>
          </a:prstGeom>
          <a:solidFill>
            <a:srgbClr val="EF4444"/>
          </a:solidFill>
          <a:ln/>
        </p:spPr>
      </p:sp>
      <p:pic>
        <p:nvPicPr>
          <p:cNvPr id="4" name="Image 0" descr="preencoded.png">    </p:cNvPr>
          <p:cNvPicPr>
            <a:picLocks noChangeAspect="1"/>
          </p:cNvPicPr>
          <p:nvPr/>
        </p:nvPicPr>
        <p:blipFill>
          <a:blip r:embed="rId1"/>
          <a:stretch>
            <a:fillRect/>
          </a:stretch>
        </p:blipFill>
        <p:spPr>
          <a:xfrm>
            <a:off x="914400" y="777240"/>
            <a:ext cx="548640" cy="548640"/>
          </a:xfrm>
          <a:prstGeom prst="rect">
            <a:avLst/>
          </a:prstGeom>
        </p:spPr>
      </p:pic>
      <p:sp>
        <p:nvSpPr>
          <p:cNvPr id="5" name="Text 2"/>
          <p:cNvSpPr txBox="1"/>
          <p:nvPr/>
        </p:nvSpPr>
        <p:spPr>
          <a:xfrm>
            <a:off x="1600200" y="777240"/>
            <a:ext cx="2743200" cy="320040"/>
          </a:xfrm>
          <a:prstGeom prst="rect">
            <a:avLst/>
          </a:prstGeom>
          <a:noFill/>
          <a:ln/>
        </p:spPr>
        <p:txBody>
          <a:bodyPr wrap="square" lIns="0" tIns="0" rIns="0" bIns="0" rtlCol="0" anchor="ctr"/>
          <a:lstStyle/>
          <a:p>
            <a:pPr indent="0" marL="0">
              <a:buNone/>
            </a:pPr>
            <a:r>
              <a:rPr lang="en-US" sz="1200" b="1" spc="300" kern="0" dirty="0">
                <a:solidFill>
                  <a:srgbClr val="EF4444"/>
                </a:solidFill>
                <a:latin typeface="Calibri" pitchFamily="34" charset="0"/>
                <a:ea typeface="Calibri" pitchFamily="34" charset="-122"/>
                <a:cs typeface="Calibri" pitchFamily="34" charset="-120"/>
              </a:rPr>
              <a:t>ATTENTION</a:t>
            </a:r>
            <a:endParaRPr lang="en-US" sz="1200" dirty="0"/>
          </a:p>
        </p:txBody>
      </p:sp>
      <p:sp>
        <p:nvSpPr>
          <p:cNvPr id="6" name="Text 3"/>
          <p:cNvSpPr txBox="1"/>
          <p:nvPr/>
        </p:nvSpPr>
        <p:spPr>
          <a:xfrm>
            <a:off x="914400" y="1371600"/>
            <a:ext cx="7406640" cy="2286000"/>
          </a:xfrm>
          <a:prstGeom prst="rect">
            <a:avLst/>
          </a:prstGeom>
          <a:noFill/>
          <a:ln/>
        </p:spPr>
        <p:txBody>
          <a:bodyPr wrap="square" lIns="0" tIns="0" rIns="0" bIns="0" rtlCol="0" anchor="t"/>
          <a:lstStyle/>
          <a:p>
            <a:pPr indent="0" marL="0">
              <a:buNone/>
            </a:pPr>
            <a:r>
              <a:rPr lang="en-US" sz="1300" dirty="0">
                <a:solidFill>
                  <a:srgbClr val="FCA5A5"/>
                </a:solidFill>
                <a:latin typeface="Calibri" pitchFamily="34" charset="0"/>
                <a:ea typeface="Calibri" pitchFamily="34" charset="-122"/>
                <a:cs typeface="Calibri" pitchFamily="34" charset="-120"/>
              </a:rPr>
              <a:t>Le risque principal est un défaut de Tether (la société qui l'émet). C'est théoriquement possible, mais c'est aujourd'hui le stablecoin le plus liquide et l'un des plus scrutés du secteur. Pour limiter le risque, ne stockez pas des centaines de milliers de dollars sur un seul stablecoin — diversifiez avec USDC si les montants sont importants.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213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0" y="548640"/>
            <a:ext cx="1280160" cy="1280160"/>
          </a:xfrm>
          <a:prstGeom prst="rect">
            <a:avLst/>
          </a:prstGeom>
        </p:spPr>
      </p:pic>
      <p:pic>
        <p:nvPicPr>
          <p:cNvPr id="3" name="Image 1" descr="preencoded.png">    </p:cNvPr>
          <p:cNvPicPr>
            <a:picLocks noChangeAspect="1"/>
          </p:cNvPicPr>
          <p:nvPr/>
        </p:nvPicPr>
        <p:blipFill>
          <a:blip r:embed="rId2"/>
          <a:stretch>
            <a:fillRect/>
          </a:stretch>
        </p:blipFill>
        <p:spPr>
          <a:xfrm>
            <a:off x="7772400" y="2011680"/>
            <a:ext cx="822960" cy="822960"/>
          </a:xfrm>
          <a:prstGeom prst="rect">
            <a:avLst/>
          </a:prstGeom>
        </p:spPr>
      </p:pic>
      <p:sp>
        <p:nvSpPr>
          <p:cNvPr id="4" name="Shape 0"/>
          <p:cNvSpPr/>
          <p:nvPr/>
        </p:nvSpPr>
        <p:spPr>
          <a:xfrm>
            <a:off x="6583680" y="-274320"/>
            <a:ext cx="3200400" cy="3200400"/>
          </a:xfrm>
          <a:prstGeom prst="ellipse">
            <a:avLst/>
          </a:prstGeom>
          <a:solidFill>
            <a:srgbClr val="06B6D4">
              <a:alpha val="6000"/>
            </a:srgbClr>
          </a:solidFill>
          <a:ln/>
        </p:spPr>
      </p:sp>
      <p:sp>
        <p:nvSpPr>
          <p:cNvPr id="5" name="Shape 1"/>
          <p:cNvSpPr/>
          <p:nvPr/>
        </p:nvSpPr>
        <p:spPr>
          <a:xfrm>
            <a:off x="731520" y="914400"/>
            <a:ext cx="45720" cy="2194560"/>
          </a:xfrm>
          <a:prstGeom prst="rect">
            <a:avLst/>
          </a:prstGeom>
          <a:solidFill>
            <a:srgbClr val="06B6D4"/>
          </a:solidFill>
          <a:ln/>
        </p:spPr>
      </p:sp>
      <p:sp>
        <p:nvSpPr>
          <p:cNvPr id="6" name="Text 2"/>
          <p:cNvSpPr txBox="1"/>
          <p:nvPr/>
        </p:nvSpPr>
        <p:spPr>
          <a:xfrm>
            <a:off x="960120" y="914400"/>
            <a:ext cx="2743200" cy="365760"/>
          </a:xfrm>
          <a:prstGeom prst="rect">
            <a:avLst/>
          </a:prstGeom>
          <a:noFill/>
          <a:ln/>
        </p:spPr>
        <p:txBody>
          <a:bodyPr wrap="square" lIns="0" tIns="0" rIns="0" bIns="0" rtlCol="0" anchor="ctr"/>
          <a:lstStyle/>
          <a:p>
            <a:pPr indent="0" marL="0">
              <a:buNone/>
            </a:pPr>
            <a:r>
              <a:rPr lang="en-US" sz="1200" b="1" spc="200" kern="0" dirty="0">
                <a:solidFill>
                  <a:srgbClr val="06B6D4"/>
                </a:solidFill>
                <a:latin typeface="Calibri" pitchFamily="34" charset="0"/>
                <a:ea typeface="Calibri" pitchFamily="34" charset="-122"/>
                <a:cs typeface="Calibri" pitchFamily="34" charset="-120"/>
              </a:rPr>
              <a:t>Leçon 3 / 3</a:t>
            </a:r>
            <a:endParaRPr lang="en-US" sz="1200" dirty="0"/>
          </a:p>
        </p:txBody>
      </p:sp>
      <p:sp>
        <p:nvSpPr>
          <p:cNvPr id="7" name="Text 3"/>
          <p:cNvSpPr txBox="1"/>
          <p:nvPr/>
        </p:nvSpPr>
        <p:spPr>
          <a:xfrm>
            <a:off x="960120" y="1371600"/>
            <a:ext cx="6217920" cy="146304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TRC20, ERC20, BEP20 — comment choisir ?</a:t>
            </a:r>
            <a:endParaRPr lang="en-US" sz="2800" dirty="0"/>
          </a:p>
        </p:txBody>
      </p:sp>
      <p:sp>
        <p:nvSpPr>
          <p:cNvPr id="8" name="Text 4"/>
          <p:cNvSpPr txBox="1"/>
          <p:nvPr/>
        </p:nvSpPr>
        <p:spPr>
          <a:xfrm>
            <a:off x="960120" y="4114800"/>
            <a:ext cx="5486400" cy="32004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Les stablecoins : USDT &amp; pourquoi c'est utile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06B6D4">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45720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C'est LA question que se pose tout débutant à son premier achat de USDT. Explication simple.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Un USDT est un token — un jeton numérique.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Ce jeton peut « voyager » sur plusieurs blockchains différentes.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On appelle ça un token multi-chaîne.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Quand vous achetez de l'USDT sur Terex, vous devez choisir sur quel réseau vous voulez le recevoir.</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 token sera alors émis sur ce réseau spécifique, et vous devrez donner une adresse compatible avec ce réseau.</a:t>
            </a:r>
            <a:endParaRPr lang="en-US" sz="1400" dirty="0"/>
          </a:p>
        </p:txBody>
      </p:sp>
      <p:sp>
        <p:nvSpPr>
          <p:cNvPr id="5" name="Text 2"/>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6 — Leçon 3</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274320"/>
            <a:ext cx="7680960" cy="502920"/>
          </a:xfrm>
          <a:prstGeom prst="rect">
            <a:avLst/>
          </a:prstGeom>
          <a:noFill/>
          <a:ln/>
        </p:spPr>
        <p:txBody>
          <a:bodyPr wrap="square" lIns="0" tIns="0" rIns="0" bIns="0" rtlCol="0" anchor="ctr"/>
          <a:lstStyle/>
          <a:p>
            <a:pPr indent="0" marL="0">
              <a:buNone/>
            </a:pPr>
            <a:r>
              <a:rPr lang="en-US" sz="2000" b="1" dirty="0">
                <a:solidFill>
                  <a:srgbClr val="06B6D4"/>
                </a:solidFill>
                <a:latin typeface="Calibri" pitchFamily="34" charset="0"/>
                <a:ea typeface="Calibri" pitchFamily="34" charset="-122"/>
                <a:cs typeface="Calibri" pitchFamily="34" charset="-120"/>
              </a:rPr>
              <a:t>TRC20 (réseau Tron)</a:t>
            </a:r>
            <a:endParaRPr lang="en-US" sz="2000" dirty="0"/>
          </a:p>
        </p:txBody>
      </p:sp>
      <p:sp>
        <p:nvSpPr>
          <p:cNvPr id="3" name="Text 1"/>
          <p:cNvSpPr txBox="1"/>
          <p:nvPr/>
        </p:nvSpPr>
        <p:spPr>
          <a:xfrm>
            <a:off x="731520" y="1005840"/>
            <a:ext cx="420624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Frais : ~1 USDT par transfert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Vitesse : 3 secondes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 + utilisé en Afrique</a:t>
            </a:r>
            <a:endParaRPr lang="en-US" sz="1300" dirty="0"/>
          </a:p>
        </p:txBody>
      </p:sp>
      <p:sp>
        <p:nvSpPr>
          <p:cNvPr id="4" name="Shape 2"/>
          <p:cNvSpPr/>
          <p:nvPr/>
        </p:nvSpPr>
        <p:spPr>
          <a:xfrm>
            <a:off x="5120640" y="1005840"/>
            <a:ext cx="3474720" cy="640080"/>
          </a:xfrm>
          <a:prstGeom prst="roundRect">
            <a:avLst>
              <a:gd name="adj" fmla="val 14286"/>
            </a:avLst>
          </a:prstGeom>
          <a:solidFill>
            <a:srgbClr val="1A2332"/>
          </a:solidFill>
          <a:ln/>
        </p:spPr>
      </p:sp>
      <p:pic>
        <p:nvPicPr>
          <p:cNvPr id="5" name="Image 0" descr="preencoded.png">    </p:cNvPr>
          <p:cNvPicPr>
            <a:picLocks noChangeAspect="1"/>
          </p:cNvPicPr>
          <p:nvPr/>
        </p:nvPicPr>
        <p:blipFill>
          <a:blip r:embed="rId1"/>
          <a:stretch>
            <a:fillRect/>
          </a:stretch>
        </p:blipFill>
        <p:spPr>
          <a:xfrm>
            <a:off x="5257800" y="1106424"/>
            <a:ext cx="438912" cy="438912"/>
          </a:xfrm>
          <a:prstGeom prst="rect">
            <a:avLst/>
          </a:prstGeom>
        </p:spPr>
      </p:pic>
      <p:sp>
        <p:nvSpPr>
          <p:cNvPr id="6" name="Text 3"/>
          <p:cNvSpPr txBox="1"/>
          <p:nvPr/>
        </p:nvSpPr>
        <p:spPr>
          <a:xfrm>
            <a:off x="5806440" y="100584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Le + recommandé par Terex pour la plupart des cas</a:t>
            </a:r>
            <a:endParaRPr lang="en-US" sz="1200" dirty="0"/>
          </a:p>
        </p:txBody>
      </p:sp>
      <p:sp>
        <p:nvSpPr>
          <p:cNvPr id="7" name="Shape 4"/>
          <p:cNvSpPr/>
          <p:nvPr/>
        </p:nvSpPr>
        <p:spPr>
          <a:xfrm>
            <a:off x="5120640" y="1737360"/>
            <a:ext cx="3474720" cy="640080"/>
          </a:xfrm>
          <a:prstGeom prst="roundRect">
            <a:avLst>
              <a:gd name="adj" fmla="val 14286"/>
            </a:avLst>
          </a:prstGeom>
          <a:solidFill>
            <a:srgbClr val="1A2332"/>
          </a:solidFill>
          <a:ln/>
        </p:spPr>
      </p:sp>
      <p:pic>
        <p:nvPicPr>
          <p:cNvPr id="8" name="Image 1" descr="preencoded.png">    </p:cNvPr>
          <p:cNvPicPr>
            <a:picLocks noChangeAspect="1"/>
          </p:cNvPicPr>
          <p:nvPr/>
        </p:nvPicPr>
        <p:blipFill>
          <a:blip r:embed="rId2"/>
          <a:stretch>
            <a:fillRect/>
          </a:stretch>
        </p:blipFill>
        <p:spPr>
          <a:xfrm>
            <a:off x="5257800" y="1837944"/>
            <a:ext cx="438912" cy="438912"/>
          </a:xfrm>
          <a:prstGeom prst="rect">
            <a:avLst/>
          </a:prstGeom>
        </p:spPr>
      </p:pic>
      <p:sp>
        <p:nvSpPr>
          <p:cNvPr id="9" name="Text 5"/>
          <p:cNvSpPr txBox="1"/>
          <p:nvPr/>
        </p:nvSpPr>
        <p:spPr>
          <a:xfrm>
            <a:off x="5806440" y="1737360"/>
            <a:ext cx="2651760" cy="64008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Adresse : commence par « T »</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274320"/>
            <a:ext cx="7680960" cy="502920"/>
          </a:xfrm>
          <a:prstGeom prst="rect">
            <a:avLst/>
          </a:prstGeom>
          <a:noFill/>
          <a:ln/>
        </p:spPr>
        <p:txBody>
          <a:bodyPr wrap="square" lIns="0" tIns="0" rIns="0" bIns="0" rtlCol="0" anchor="ctr"/>
          <a:lstStyle/>
          <a:p>
            <a:pPr indent="0" marL="0">
              <a:buNone/>
            </a:pPr>
            <a:r>
              <a:rPr lang="en-US" sz="2000" b="1" dirty="0">
                <a:solidFill>
                  <a:srgbClr val="06B6D4"/>
                </a:solidFill>
                <a:latin typeface="Calibri" pitchFamily="34" charset="0"/>
                <a:ea typeface="Calibri" pitchFamily="34" charset="-122"/>
                <a:cs typeface="Calibri" pitchFamily="34" charset="-120"/>
              </a:rPr>
              <a:t>BEP20 (réseau BNB Chain)</a:t>
            </a:r>
            <a:endParaRPr lang="en-US" sz="2000" dirty="0"/>
          </a:p>
        </p:txBody>
      </p:sp>
      <p:sp>
        <p:nvSpPr>
          <p:cNvPr id="3" name="Shape 1"/>
          <p:cNvSpPr/>
          <p:nvPr/>
        </p:nvSpPr>
        <p:spPr>
          <a:xfrm>
            <a:off x="594360" y="1005840"/>
            <a:ext cx="2468880" cy="1371600"/>
          </a:xfrm>
          <a:prstGeom prst="roundRect">
            <a:avLst>
              <a:gd name="adj" fmla="val 6667"/>
            </a:avLst>
          </a:prstGeom>
          <a:solidFill>
            <a:srgbClr val="1A2332"/>
          </a:solidFill>
          <a:ln/>
        </p:spPr>
      </p:sp>
      <p:pic>
        <p:nvPicPr>
          <p:cNvPr id="4" name="Image 0" descr="preencoded.png">    </p:cNvPr>
          <p:cNvPicPr>
            <a:picLocks noChangeAspect="1"/>
          </p:cNvPicPr>
          <p:nvPr/>
        </p:nvPicPr>
        <p:blipFill>
          <a:blip r:embed="rId1"/>
          <a:stretch>
            <a:fillRect/>
          </a:stretch>
        </p:blipFill>
        <p:spPr>
          <a:xfrm>
            <a:off x="731520" y="1143000"/>
            <a:ext cx="502920" cy="502920"/>
          </a:xfrm>
          <a:prstGeom prst="rect">
            <a:avLst/>
          </a:prstGeom>
        </p:spPr>
      </p:pic>
      <p:sp>
        <p:nvSpPr>
          <p:cNvPr id="5" name="Text 2"/>
          <p:cNvSpPr txBox="1"/>
          <p:nvPr/>
        </p:nvSpPr>
        <p:spPr>
          <a:xfrm>
            <a:off x="731520" y="171907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Frais : ~0,20 USDT par transfert</a:t>
            </a:r>
            <a:endParaRPr lang="en-US" sz="1100" dirty="0"/>
          </a:p>
        </p:txBody>
      </p:sp>
      <p:sp>
        <p:nvSpPr>
          <p:cNvPr id="6" name="Shape 3"/>
          <p:cNvSpPr/>
          <p:nvPr/>
        </p:nvSpPr>
        <p:spPr>
          <a:xfrm>
            <a:off x="3246120" y="1005840"/>
            <a:ext cx="2468880" cy="1371600"/>
          </a:xfrm>
          <a:prstGeom prst="roundRect">
            <a:avLst>
              <a:gd name="adj" fmla="val 6667"/>
            </a:avLst>
          </a:prstGeom>
          <a:solidFill>
            <a:srgbClr val="1A2332"/>
          </a:solidFill>
          <a:ln/>
        </p:spPr>
      </p:sp>
      <p:pic>
        <p:nvPicPr>
          <p:cNvPr id="7" name="Image 1" descr="preencoded.png">    </p:cNvPr>
          <p:cNvPicPr>
            <a:picLocks noChangeAspect="1"/>
          </p:cNvPicPr>
          <p:nvPr/>
        </p:nvPicPr>
        <p:blipFill>
          <a:blip r:embed="rId2"/>
          <a:stretch>
            <a:fillRect/>
          </a:stretch>
        </p:blipFill>
        <p:spPr>
          <a:xfrm>
            <a:off x="3383280" y="1143000"/>
            <a:ext cx="502920" cy="502920"/>
          </a:xfrm>
          <a:prstGeom prst="rect">
            <a:avLst/>
          </a:prstGeom>
        </p:spPr>
      </p:pic>
      <p:sp>
        <p:nvSpPr>
          <p:cNvPr id="8" name="Text 4"/>
          <p:cNvSpPr txBox="1"/>
          <p:nvPr/>
        </p:nvSpPr>
        <p:spPr>
          <a:xfrm>
            <a:off x="3383280" y="171907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Vitesse : 3 secondes</a:t>
            </a:r>
            <a:endParaRPr lang="en-US" sz="1100" dirty="0"/>
          </a:p>
        </p:txBody>
      </p:sp>
      <p:sp>
        <p:nvSpPr>
          <p:cNvPr id="9" name="Shape 5"/>
          <p:cNvSpPr/>
          <p:nvPr/>
        </p:nvSpPr>
        <p:spPr>
          <a:xfrm>
            <a:off x="5897880" y="1005840"/>
            <a:ext cx="2468880" cy="1371600"/>
          </a:xfrm>
          <a:prstGeom prst="roundRect">
            <a:avLst>
              <a:gd name="adj" fmla="val 6667"/>
            </a:avLst>
          </a:prstGeom>
          <a:solidFill>
            <a:srgbClr val="1A2332"/>
          </a:solidFill>
          <a:ln/>
        </p:spPr>
      </p:sp>
      <p:pic>
        <p:nvPicPr>
          <p:cNvPr id="10" name="Image 2" descr="preencoded.png">    </p:cNvPr>
          <p:cNvPicPr>
            <a:picLocks noChangeAspect="1"/>
          </p:cNvPicPr>
          <p:nvPr/>
        </p:nvPicPr>
        <p:blipFill>
          <a:blip r:embed="rId3"/>
          <a:stretch>
            <a:fillRect/>
          </a:stretch>
        </p:blipFill>
        <p:spPr>
          <a:xfrm>
            <a:off x="6035040" y="1143000"/>
            <a:ext cx="502920" cy="502920"/>
          </a:xfrm>
          <a:prstGeom prst="rect">
            <a:avLst/>
          </a:prstGeom>
        </p:spPr>
      </p:pic>
      <p:sp>
        <p:nvSpPr>
          <p:cNvPr id="11" name="Text 6"/>
          <p:cNvSpPr txBox="1"/>
          <p:nvPr/>
        </p:nvSpPr>
        <p:spPr>
          <a:xfrm>
            <a:off x="6035040" y="171907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Très utilisé si vous avez un compte Binance</a:t>
            </a:r>
            <a:endParaRPr lang="en-US" sz="1100" dirty="0"/>
          </a:p>
        </p:txBody>
      </p:sp>
      <p:sp>
        <p:nvSpPr>
          <p:cNvPr id="12" name="Shape 7"/>
          <p:cNvSpPr/>
          <p:nvPr/>
        </p:nvSpPr>
        <p:spPr>
          <a:xfrm>
            <a:off x="594360" y="2514600"/>
            <a:ext cx="2468880" cy="1371600"/>
          </a:xfrm>
          <a:prstGeom prst="roundRect">
            <a:avLst>
              <a:gd name="adj" fmla="val 6667"/>
            </a:avLst>
          </a:prstGeom>
          <a:solidFill>
            <a:srgbClr val="1A2332"/>
          </a:solidFill>
          <a:ln/>
        </p:spPr>
      </p:sp>
      <p:pic>
        <p:nvPicPr>
          <p:cNvPr id="13" name="Image 3" descr="preencoded.png">    </p:cNvPr>
          <p:cNvPicPr>
            <a:picLocks noChangeAspect="1"/>
          </p:cNvPicPr>
          <p:nvPr/>
        </p:nvPicPr>
        <p:blipFill>
          <a:blip r:embed="rId4"/>
          <a:stretch>
            <a:fillRect/>
          </a:stretch>
        </p:blipFill>
        <p:spPr>
          <a:xfrm>
            <a:off x="731520" y="2651760"/>
            <a:ext cx="502920" cy="502920"/>
          </a:xfrm>
          <a:prstGeom prst="rect">
            <a:avLst/>
          </a:prstGeom>
        </p:spPr>
      </p:pic>
      <p:sp>
        <p:nvSpPr>
          <p:cNvPr id="14" name="Text 8"/>
          <p:cNvSpPr txBox="1"/>
          <p:nvPr/>
        </p:nvSpPr>
        <p:spPr>
          <a:xfrm>
            <a:off x="731520" y="322783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Écosystème DeFi très riche</a:t>
            </a:r>
            <a:endParaRPr lang="en-US" sz="1100" dirty="0"/>
          </a:p>
        </p:txBody>
      </p:sp>
      <p:sp>
        <p:nvSpPr>
          <p:cNvPr id="15" name="Shape 9"/>
          <p:cNvSpPr/>
          <p:nvPr/>
        </p:nvSpPr>
        <p:spPr>
          <a:xfrm>
            <a:off x="3246120" y="2514600"/>
            <a:ext cx="2468880" cy="1371600"/>
          </a:xfrm>
          <a:prstGeom prst="roundRect">
            <a:avLst>
              <a:gd name="adj" fmla="val 6667"/>
            </a:avLst>
          </a:prstGeom>
          <a:solidFill>
            <a:srgbClr val="1A2332"/>
          </a:solidFill>
          <a:ln/>
        </p:spPr>
      </p:sp>
      <p:pic>
        <p:nvPicPr>
          <p:cNvPr id="16" name="Image 4" descr="preencoded.png">    </p:cNvPr>
          <p:cNvPicPr>
            <a:picLocks noChangeAspect="1"/>
          </p:cNvPicPr>
          <p:nvPr/>
        </p:nvPicPr>
        <p:blipFill>
          <a:blip r:embed="rId5"/>
          <a:stretch>
            <a:fillRect/>
          </a:stretch>
        </p:blipFill>
        <p:spPr>
          <a:xfrm>
            <a:off x="3383280" y="2651760"/>
            <a:ext cx="502920" cy="502920"/>
          </a:xfrm>
          <a:prstGeom prst="rect">
            <a:avLst/>
          </a:prstGeom>
        </p:spPr>
      </p:pic>
      <p:sp>
        <p:nvSpPr>
          <p:cNvPr id="17" name="Text 10"/>
          <p:cNvSpPr txBox="1"/>
          <p:nvPr/>
        </p:nvSpPr>
        <p:spPr>
          <a:xfrm>
            <a:off x="3383280" y="3227832"/>
            <a:ext cx="219456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Adresse : commence par « 0x »</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06B6D4">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274320"/>
            <a:ext cx="7132320" cy="502920"/>
          </a:xfrm>
          <a:prstGeom prst="rect">
            <a:avLst/>
          </a:prstGeom>
          <a:noFill/>
          <a:ln/>
        </p:spPr>
        <p:txBody>
          <a:bodyPr wrap="square" lIns="0" tIns="0" rIns="0" bIns="0" rtlCol="0" anchor="ctr"/>
          <a:lstStyle/>
          <a:p>
            <a:pPr indent="0" marL="0">
              <a:buNone/>
            </a:pPr>
            <a:r>
              <a:rPr lang="en-US" sz="2000" b="1" dirty="0">
                <a:solidFill>
                  <a:srgbClr val="06B6D4"/>
                </a:solidFill>
                <a:latin typeface="Calibri" pitchFamily="34" charset="0"/>
                <a:ea typeface="Calibri" pitchFamily="34" charset="-122"/>
                <a:cs typeface="Calibri" pitchFamily="34" charset="-120"/>
              </a:rPr>
              <a:t>ERC20 (réseau Ethereum)</a:t>
            </a:r>
            <a:endParaRPr lang="en-US" sz="2000" dirty="0"/>
          </a:p>
        </p:txBody>
      </p:sp>
      <p:sp>
        <p:nvSpPr>
          <p:cNvPr id="5" name="Text 2"/>
          <p:cNvSpPr txBox="1"/>
          <p:nvPr/>
        </p:nvSpPr>
        <p:spPr>
          <a:xfrm>
            <a:off x="731520" y="96012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Frais : 3 à 30 USDT selon la congestion (attention !)</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Vitesse : 15 secondes à quelques minutes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Le réseau le plus « universel », toujours accepté</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Recommandé uniquement pour de gros montants (&gt;500$) où les frais deviennent relativement faibles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Adresse : commence par « 0x »</a:t>
            </a:r>
            <a:endParaRPr lang="en-US" sz="1400" dirty="0"/>
          </a:p>
        </p:txBody>
      </p:sp>
      <p:sp>
        <p:nvSpPr>
          <p:cNvPr id="6" name="Text 3"/>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6 — Leçon 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06B6D4">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274320"/>
            <a:ext cx="7132320" cy="502920"/>
          </a:xfrm>
          <a:prstGeom prst="rect">
            <a:avLst/>
          </a:prstGeom>
          <a:noFill/>
          <a:ln/>
        </p:spPr>
        <p:txBody>
          <a:bodyPr wrap="square" lIns="0" tIns="0" rIns="0" bIns="0" rtlCol="0" anchor="ctr"/>
          <a:lstStyle/>
          <a:p>
            <a:pPr indent="0" marL="0">
              <a:buNone/>
            </a:pPr>
            <a:r>
              <a:rPr lang="en-US" sz="2000" b="1" dirty="0">
                <a:solidFill>
                  <a:srgbClr val="06B6D4"/>
                </a:solidFill>
                <a:latin typeface="Calibri" pitchFamily="34" charset="0"/>
                <a:ea typeface="Calibri" pitchFamily="34" charset="-122"/>
                <a:cs typeface="Calibri" pitchFamily="34" charset="-120"/>
              </a:rPr>
              <a:t>Polygon, Solana, Aptos</a:t>
            </a:r>
            <a:endParaRPr lang="en-US" sz="2000" dirty="0"/>
          </a:p>
        </p:txBody>
      </p:sp>
      <p:sp>
        <p:nvSpPr>
          <p:cNvPr id="5" name="Text 2"/>
          <p:cNvSpPr txBox="1"/>
          <p:nvPr/>
        </p:nvSpPr>
        <p:spPr>
          <a:xfrm>
            <a:off x="731520" y="96012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Frais quasi nuls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Utile si votre destinataire vous demande ce réseau spécifiquement</a:t>
            </a:r>
            <a:endParaRPr lang="en-US" sz="1400" dirty="0"/>
          </a:p>
        </p:txBody>
      </p:sp>
      <p:sp>
        <p:nvSpPr>
          <p:cNvPr id="6" name="Text 3"/>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6 — Leçon 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419"/>
        </a:solidFill>
      </p:bgPr>
    </p:bg>
    <p:spTree>
      <p:nvGrpSpPr>
        <p:cNvPr id="1" name=""/>
        <p:cNvGrpSpPr/>
        <p:nvPr/>
      </p:nvGrpSpPr>
      <p:grpSpPr>
        <a:xfrm>
          <a:off x="0" y="0"/>
          <a:ext cx="0" cy="0"/>
          <a:chOff x="0" y="0"/>
          <a:chExt cx="0" cy="0"/>
        </a:xfrm>
      </p:grpSpPr>
      <p:sp>
        <p:nvSpPr>
          <p:cNvPr id="2" name="Text 0"/>
          <p:cNvSpPr txBox="1"/>
          <p:nvPr/>
        </p:nvSpPr>
        <p:spPr>
          <a:xfrm>
            <a:off x="731520" y="274320"/>
            <a:ext cx="7680960" cy="502920"/>
          </a:xfrm>
          <a:prstGeom prst="rect">
            <a:avLst/>
          </a:prstGeom>
          <a:noFill/>
          <a:ln/>
        </p:spPr>
        <p:txBody>
          <a:bodyPr wrap="square" lIns="0" tIns="0" rIns="0" bIns="0" rtlCol="0" anchor="ctr"/>
          <a:lstStyle/>
          <a:p>
            <a:pPr indent="0" marL="0">
              <a:buNone/>
            </a:pPr>
            <a:r>
              <a:rPr lang="en-US" sz="2000" b="1" dirty="0">
                <a:solidFill>
                  <a:srgbClr val="06B6D4"/>
                </a:solidFill>
                <a:latin typeface="Calibri" pitchFamily="34" charset="0"/>
                <a:ea typeface="Calibri" pitchFamily="34" charset="-122"/>
                <a:cs typeface="Calibri" pitchFamily="34" charset="-120"/>
              </a:rPr>
              <a:t>Comment choisir ?</a:t>
            </a:r>
            <a:endParaRPr lang="en-US" sz="2000" dirty="0"/>
          </a:p>
        </p:txBody>
      </p:sp>
      <p:sp>
        <p:nvSpPr>
          <p:cNvPr id="3" name="Shape 1"/>
          <p:cNvSpPr/>
          <p:nvPr/>
        </p:nvSpPr>
        <p:spPr>
          <a:xfrm>
            <a:off x="731520" y="1005840"/>
            <a:ext cx="3657600" cy="1371600"/>
          </a:xfrm>
          <a:prstGeom prst="roundRect">
            <a:avLst>
              <a:gd name="adj" fmla="val 6667"/>
            </a:avLst>
          </a:prstGeom>
          <a:solidFill>
            <a:srgbClr val="1A2332"/>
          </a:solidFill>
          <a:ln/>
        </p:spPr>
      </p:sp>
      <p:pic>
        <p:nvPicPr>
          <p:cNvPr id="4" name="Image 0" descr="preencoded.png">    </p:cNvPr>
          <p:cNvPicPr>
            <a:picLocks noChangeAspect="1"/>
          </p:cNvPicPr>
          <p:nvPr/>
        </p:nvPicPr>
        <p:blipFill>
          <a:blip r:embed="rId1"/>
          <a:stretch>
            <a:fillRect/>
          </a:stretch>
        </p:blipFill>
        <p:spPr>
          <a:xfrm>
            <a:off x="868680" y="1143000"/>
            <a:ext cx="502920" cy="502920"/>
          </a:xfrm>
          <a:prstGeom prst="rect">
            <a:avLst/>
          </a:prstGeom>
        </p:spPr>
      </p:pic>
      <p:sp>
        <p:nvSpPr>
          <p:cNvPr id="5" name="Text 2"/>
          <p:cNvSpPr txBox="1"/>
          <p:nvPr/>
        </p:nvSpPr>
        <p:spPr>
          <a:xfrm>
            <a:off x="868680" y="1719072"/>
            <a:ext cx="338328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Demandez à votre destinataire quel réseau il préfère. Il ...</a:t>
            </a:r>
            <a:endParaRPr lang="en-US" sz="1100" dirty="0"/>
          </a:p>
        </p:txBody>
      </p:sp>
      <p:sp>
        <p:nvSpPr>
          <p:cNvPr id="6" name="Text 3"/>
          <p:cNvSpPr txBox="1"/>
          <p:nvPr/>
        </p:nvSpPr>
        <p:spPr>
          <a:xfrm>
            <a:off x="868680" y="2011680"/>
            <a:ext cx="338328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nt que vous envoyiez sur le même réseau que celui de son adresse.</a:t>
            </a:r>
            <a:endParaRPr lang="en-US" sz="900" dirty="0"/>
          </a:p>
        </p:txBody>
      </p:sp>
      <p:sp>
        <p:nvSpPr>
          <p:cNvPr id="7" name="Shape 4"/>
          <p:cNvSpPr/>
          <p:nvPr/>
        </p:nvSpPr>
        <p:spPr>
          <a:xfrm>
            <a:off x="4754880" y="1005840"/>
            <a:ext cx="3657600" cy="1371600"/>
          </a:xfrm>
          <a:prstGeom prst="roundRect">
            <a:avLst>
              <a:gd name="adj" fmla="val 6667"/>
            </a:avLst>
          </a:prstGeom>
          <a:solidFill>
            <a:srgbClr val="1A2332"/>
          </a:solidFill>
          <a:ln/>
        </p:spPr>
      </p:sp>
      <p:pic>
        <p:nvPicPr>
          <p:cNvPr id="8" name="Image 1" descr="preencoded.png">    </p:cNvPr>
          <p:cNvPicPr>
            <a:picLocks noChangeAspect="1"/>
          </p:cNvPicPr>
          <p:nvPr/>
        </p:nvPicPr>
        <p:blipFill>
          <a:blip r:embed="rId2"/>
          <a:stretch>
            <a:fillRect/>
          </a:stretch>
        </p:blipFill>
        <p:spPr>
          <a:xfrm>
            <a:off x="4892040" y="1143000"/>
            <a:ext cx="502920" cy="502920"/>
          </a:xfrm>
          <a:prstGeom prst="rect">
            <a:avLst/>
          </a:prstGeom>
        </p:spPr>
      </p:pic>
      <p:sp>
        <p:nvSpPr>
          <p:cNvPr id="9" name="Text 5"/>
          <p:cNvSpPr txBox="1"/>
          <p:nvPr/>
        </p:nvSpPr>
        <p:spPr>
          <a:xfrm>
            <a:off x="4892040" y="1719072"/>
            <a:ext cx="338328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Si vous choisissez pour vous-même, prenez TRC20 par défau...</a:t>
            </a:r>
            <a:endParaRPr lang="en-US" sz="1100" dirty="0"/>
          </a:p>
        </p:txBody>
      </p:sp>
      <p:sp>
        <p:nvSpPr>
          <p:cNvPr id="10" name="Text 6"/>
          <p:cNvSpPr txBox="1"/>
          <p:nvPr/>
        </p:nvSpPr>
        <p:spPr>
          <a:xfrm>
            <a:off x="4892040" y="2011680"/>
            <a:ext cx="338328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tandard en Afrique.</a:t>
            </a:r>
            <a:endParaRPr lang="en-US" sz="900" dirty="0"/>
          </a:p>
        </p:txBody>
      </p:sp>
      <p:sp>
        <p:nvSpPr>
          <p:cNvPr id="11" name="Shape 7"/>
          <p:cNvSpPr/>
          <p:nvPr/>
        </p:nvSpPr>
        <p:spPr>
          <a:xfrm>
            <a:off x="731520" y="2514600"/>
            <a:ext cx="3657600" cy="1371600"/>
          </a:xfrm>
          <a:prstGeom prst="roundRect">
            <a:avLst>
              <a:gd name="adj" fmla="val 6667"/>
            </a:avLst>
          </a:prstGeom>
          <a:solidFill>
            <a:srgbClr val="1A2332"/>
          </a:solidFill>
          <a:ln/>
        </p:spPr>
      </p:sp>
      <p:pic>
        <p:nvPicPr>
          <p:cNvPr id="12" name="Image 2" descr="preencoded.png">    </p:cNvPr>
          <p:cNvPicPr>
            <a:picLocks noChangeAspect="1"/>
          </p:cNvPicPr>
          <p:nvPr/>
        </p:nvPicPr>
        <p:blipFill>
          <a:blip r:embed="rId3"/>
          <a:stretch>
            <a:fillRect/>
          </a:stretch>
        </p:blipFill>
        <p:spPr>
          <a:xfrm>
            <a:off x="868680" y="2651760"/>
            <a:ext cx="502920" cy="502920"/>
          </a:xfrm>
          <a:prstGeom prst="rect">
            <a:avLst/>
          </a:prstGeom>
        </p:spPr>
      </p:pic>
      <p:sp>
        <p:nvSpPr>
          <p:cNvPr id="13" name="Text 8"/>
          <p:cNvSpPr txBox="1"/>
          <p:nvPr/>
        </p:nvSpPr>
        <p:spPr>
          <a:xfrm>
            <a:off x="868680" y="3227832"/>
            <a:ext cx="3383280" cy="32004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Vérifiez toujours que votre wallet (Trust Wallet, MetaMas...</a:t>
            </a:r>
            <a:endParaRPr lang="en-US" sz="1100" dirty="0"/>
          </a:p>
        </p:txBody>
      </p:sp>
      <p:sp>
        <p:nvSpPr>
          <p:cNvPr id="14" name="Text 9"/>
          <p:cNvSpPr txBox="1"/>
          <p:nvPr/>
        </p:nvSpPr>
        <p:spPr>
          <a:xfrm>
            <a:off x="868680" y="3520440"/>
            <a:ext cx="3383280" cy="274320"/>
          </a:xfrm>
          <a:prstGeom prst="rect">
            <a:avLst/>
          </a:prstGeom>
          <a:noFill/>
          <a:ln/>
        </p:spPr>
        <p:txBody>
          <a:bodyPr wrap="square" lIns="0" tIns="0" rIns="0" bIns="0" rtlCol="0" anchor="t"/>
          <a:lstStyle/>
          <a:p>
            <a:pPr indent="0" marL="0">
              <a:buNone/>
            </a:pPr>
            <a:r>
              <a:rPr lang="en-US" sz="900" dirty="0">
                <a:solidFill>
                  <a:srgbClr val="94A3B8"/>
                </a:solidFill>
                <a:latin typeface="Calibri" pitchFamily="34" charset="0"/>
                <a:ea typeface="Calibri" pitchFamily="34" charset="-122"/>
                <a:cs typeface="Calibri" pitchFamily="34" charset="-120"/>
              </a:rPr>
              <a:t>supporte le réseau choisi. Certains wallets ne gèrent que Ethereum et BNB Chain,</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7955280" y="182880"/>
            <a:ext cx="640080" cy="640080"/>
          </a:xfrm>
          <a:prstGeom prst="ellipse">
            <a:avLst/>
          </a:prstGeom>
          <a:solidFill>
            <a:srgbClr val="06B6D4">
              <a:alpha val="12000"/>
            </a:srgbClr>
          </a:solidFill>
          <a:ln/>
        </p:spPr>
      </p:sp>
      <p:pic>
        <p:nvPicPr>
          <p:cNvPr id="3" name="Image 0" descr="preencoded.png">    </p:cNvPr>
          <p:cNvPicPr>
            <a:picLocks noChangeAspect="1"/>
          </p:cNvPicPr>
          <p:nvPr/>
        </p:nvPicPr>
        <p:blipFill>
          <a:blip r:embed="rId1"/>
          <a:stretch>
            <a:fillRect/>
          </a:stretch>
        </p:blipFill>
        <p:spPr>
          <a:xfrm>
            <a:off x="8028432" y="256032"/>
            <a:ext cx="493776" cy="493776"/>
          </a:xfrm>
          <a:prstGeom prst="rect">
            <a:avLst/>
          </a:prstGeom>
        </p:spPr>
      </p:pic>
      <p:sp>
        <p:nvSpPr>
          <p:cNvPr id="4" name="Text 1"/>
          <p:cNvSpPr txBox="1"/>
          <p:nvPr/>
        </p:nvSpPr>
        <p:spPr>
          <a:xfrm>
            <a:off x="731520" y="274320"/>
            <a:ext cx="7132320" cy="502920"/>
          </a:xfrm>
          <a:prstGeom prst="rect">
            <a:avLst/>
          </a:prstGeom>
          <a:noFill/>
          <a:ln/>
        </p:spPr>
        <p:txBody>
          <a:bodyPr wrap="square" lIns="0" tIns="0" rIns="0" bIns="0" rtlCol="0" anchor="ctr"/>
          <a:lstStyle/>
          <a:p>
            <a:pPr indent="0" marL="0">
              <a:buNone/>
            </a:pPr>
            <a:r>
              <a:rPr lang="en-US" sz="2000" b="1" dirty="0">
                <a:solidFill>
                  <a:srgbClr val="06B6D4"/>
                </a:solidFill>
                <a:latin typeface="Calibri" pitchFamily="34" charset="0"/>
                <a:ea typeface="Calibri" pitchFamily="34" charset="-122"/>
                <a:cs typeface="Calibri" pitchFamily="34" charset="-120"/>
              </a:rPr>
              <a:t>AVERTISSEMENT CRITIQUE</a:t>
            </a:r>
            <a:endParaRPr lang="en-US" sz="2000" dirty="0"/>
          </a:p>
        </p:txBody>
      </p:sp>
      <p:sp>
        <p:nvSpPr>
          <p:cNvPr id="5" name="Text 2"/>
          <p:cNvSpPr txBox="1"/>
          <p:nvPr/>
        </p:nvSpPr>
        <p:spPr>
          <a:xfrm>
            <a:off x="731520" y="960120"/>
            <a:ext cx="76809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Si vous envoyez de l'USDT-TRC20 à une adresse ERC20 (ou l'inverse), votre argent est perdu à jamais.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Ces réseaux sont incompatibles.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C'est l'erreur numéro 1 des débutants.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On y reviendra en détail au Module 8.</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Sur Terex, l'interface vous demande de choisir le réseau AVANT de renseigner l'adresse — c'est fait exprès pour vous éviter cette erreur.</a:t>
            </a:r>
            <a:endParaRPr lang="en-US" sz="1400" dirty="0"/>
          </a:p>
        </p:txBody>
      </p:sp>
      <p:sp>
        <p:nvSpPr>
          <p:cNvPr id="6" name="Text 3"/>
          <p:cNvSpPr txBox="1"/>
          <p:nvPr/>
        </p:nvSpPr>
        <p:spPr>
          <a:xfrm>
            <a:off x="731520" y="4709160"/>
            <a:ext cx="76809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Module 6 — Leçon 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233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20040"/>
            <a:ext cx="457200" cy="457200"/>
          </a:xfrm>
          <a:prstGeom prst="rect">
            <a:avLst/>
          </a:prstGeom>
        </p:spPr>
      </p:pic>
      <p:sp>
        <p:nvSpPr>
          <p:cNvPr id="3" name="Text 0"/>
          <p:cNvSpPr txBox="1"/>
          <p:nvPr/>
        </p:nvSpPr>
        <p:spPr>
          <a:xfrm>
            <a:off x="1280160" y="365760"/>
            <a:ext cx="2743200" cy="320040"/>
          </a:xfrm>
          <a:prstGeom prst="rect">
            <a:avLst/>
          </a:prstGeom>
          <a:noFill/>
          <a:ln/>
        </p:spPr>
        <p:txBody>
          <a:bodyPr wrap="square" lIns="0" tIns="0" rIns="0" bIns="0" rtlCol="0" anchor="ctr"/>
          <a:lstStyle/>
          <a:p>
            <a:pPr indent="0" marL="0">
              <a:buNone/>
            </a:pPr>
            <a:r>
              <a:rPr lang="en-US" sz="1200" b="1" spc="300" kern="0" dirty="0">
                <a:solidFill>
                  <a:srgbClr val="F59E0B"/>
                </a:solidFill>
                <a:latin typeface="Calibri" pitchFamily="34" charset="0"/>
                <a:ea typeface="Calibri" pitchFamily="34" charset="-122"/>
                <a:cs typeface="Calibri" pitchFamily="34" charset="-120"/>
              </a:rPr>
              <a:t>A RETENIR</a:t>
            </a:r>
            <a:endParaRPr lang="en-US" sz="1200" dirty="0"/>
          </a:p>
        </p:txBody>
      </p:sp>
      <p:sp>
        <p:nvSpPr>
          <p:cNvPr id="4" name="Text 1"/>
          <p:cNvSpPr txBox="1"/>
          <p:nvPr/>
        </p:nvSpPr>
        <p:spPr>
          <a:xfrm>
            <a:off x="731520" y="822960"/>
            <a:ext cx="768096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TRC20, ERC20, BEP20 — comment choisir ?</a:t>
            </a:r>
            <a:endParaRPr lang="en-US" sz="2000" dirty="0"/>
          </a:p>
        </p:txBody>
      </p:sp>
      <p:sp>
        <p:nvSpPr>
          <p:cNvPr id="5" name="Shape 2"/>
          <p:cNvSpPr/>
          <p:nvPr/>
        </p:nvSpPr>
        <p:spPr>
          <a:xfrm>
            <a:off x="731520" y="1463040"/>
            <a:ext cx="7680960" cy="548640"/>
          </a:xfrm>
          <a:prstGeom prst="roundRect">
            <a:avLst>
              <a:gd name="adj" fmla="val 13333"/>
            </a:avLst>
          </a:prstGeom>
          <a:solidFill>
            <a:srgbClr val="0F1419"/>
          </a:solidFill>
          <a:ln/>
        </p:spPr>
      </p:sp>
      <p:sp>
        <p:nvSpPr>
          <p:cNvPr id="6" name="Text 3"/>
          <p:cNvSpPr txBox="1"/>
          <p:nvPr/>
        </p:nvSpPr>
        <p:spPr>
          <a:xfrm>
            <a:off x="914400" y="146304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508760" y="146304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Frais : ~1 USDT par transfert</a:t>
            </a:r>
            <a:endParaRPr lang="en-US" sz="1300" dirty="0"/>
          </a:p>
        </p:txBody>
      </p:sp>
      <p:sp>
        <p:nvSpPr>
          <p:cNvPr id="8" name="Shape 5"/>
          <p:cNvSpPr/>
          <p:nvPr/>
        </p:nvSpPr>
        <p:spPr>
          <a:xfrm>
            <a:off x="731520" y="2103120"/>
            <a:ext cx="7680960" cy="548640"/>
          </a:xfrm>
          <a:prstGeom prst="roundRect">
            <a:avLst>
              <a:gd name="adj" fmla="val 13333"/>
            </a:avLst>
          </a:prstGeom>
          <a:solidFill>
            <a:srgbClr val="0F1419"/>
          </a:solidFill>
          <a:ln/>
        </p:spPr>
      </p:sp>
      <p:sp>
        <p:nvSpPr>
          <p:cNvPr id="9" name="Text 6"/>
          <p:cNvSpPr txBox="1"/>
          <p:nvPr/>
        </p:nvSpPr>
        <p:spPr>
          <a:xfrm>
            <a:off x="914400" y="210312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2</a:t>
            </a:r>
            <a:endParaRPr lang="en-US" sz="1500" dirty="0"/>
          </a:p>
        </p:txBody>
      </p:sp>
      <p:sp>
        <p:nvSpPr>
          <p:cNvPr id="10" name="Text 7"/>
          <p:cNvSpPr txBox="1"/>
          <p:nvPr/>
        </p:nvSpPr>
        <p:spPr>
          <a:xfrm>
            <a:off x="1508760" y="210312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Vitesse : 3 secondes</a:t>
            </a:r>
            <a:endParaRPr lang="en-US" sz="1300" dirty="0"/>
          </a:p>
        </p:txBody>
      </p:sp>
      <p:sp>
        <p:nvSpPr>
          <p:cNvPr id="11" name="Shape 8"/>
          <p:cNvSpPr/>
          <p:nvPr/>
        </p:nvSpPr>
        <p:spPr>
          <a:xfrm>
            <a:off x="731520" y="2743200"/>
            <a:ext cx="7680960" cy="548640"/>
          </a:xfrm>
          <a:prstGeom prst="roundRect">
            <a:avLst>
              <a:gd name="adj" fmla="val 13333"/>
            </a:avLst>
          </a:prstGeom>
          <a:solidFill>
            <a:srgbClr val="0F1419"/>
          </a:solidFill>
          <a:ln/>
        </p:spPr>
      </p:sp>
      <p:sp>
        <p:nvSpPr>
          <p:cNvPr id="12" name="Text 9"/>
          <p:cNvSpPr txBox="1"/>
          <p:nvPr/>
        </p:nvSpPr>
        <p:spPr>
          <a:xfrm>
            <a:off x="914400" y="274320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3</a:t>
            </a:r>
            <a:endParaRPr lang="en-US" sz="1500" dirty="0"/>
          </a:p>
        </p:txBody>
      </p:sp>
      <p:sp>
        <p:nvSpPr>
          <p:cNvPr id="13" name="Text 10"/>
          <p:cNvSpPr txBox="1"/>
          <p:nvPr/>
        </p:nvSpPr>
        <p:spPr>
          <a:xfrm>
            <a:off x="1508760" y="274320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 utilisé en Afrique</a:t>
            </a:r>
            <a:endParaRPr lang="en-US" sz="1300" dirty="0"/>
          </a:p>
        </p:txBody>
      </p:sp>
      <p:sp>
        <p:nvSpPr>
          <p:cNvPr id="14" name="Shape 11"/>
          <p:cNvSpPr/>
          <p:nvPr/>
        </p:nvSpPr>
        <p:spPr>
          <a:xfrm>
            <a:off x="731520" y="3383280"/>
            <a:ext cx="7680960" cy="548640"/>
          </a:xfrm>
          <a:prstGeom prst="roundRect">
            <a:avLst>
              <a:gd name="adj" fmla="val 13333"/>
            </a:avLst>
          </a:prstGeom>
          <a:solidFill>
            <a:srgbClr val="0F1419"/>
          </a:solidFill>
          <a:ln/>
        </p:spPr>
      </p:sp>
      <p:sp>
        <p:nvSpPr>
          <p:cNvPr id="15" name="Text 12"/>
          <p:cNvSpPr txBox="1"/>
          <p:nvPr/>
        </p:nvSpPr>
        <p:spPr>
          <a:xfrm>
            <a:off x="914400" y="338328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4</a:t>
            </a:r>
            <a:endParaRPr lang="en-US" sz="1500" dirty="0"/>
          </a:p>
        </p:txBody>
      </p:sp>
      <p:sp>
        <p:nvSpPr>
          <p:cNvPr id="16" name="Text 13"/>
          <p:cNvSpPr txBox="1"/>
          <p:nvPr/>
        </p:nvSpPr>
        <p:spPr>
          <a:xfrm>
            <a:off x="1508760" y="338328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Le + recommandé par Terex pour la plupart des cas</a:t>
            </a:r>
            <a:endParaRPr lang="en-US" sz="1300" dirty="0"/>
          </a:p>
        </p:txBody>
      </p:sp>
      <p:sp>
        <p:nvSpPr>
          <p:cNvPr id="17" name="Shape 14"/>
          <p:cNvSpPr/>
          <p:nvPr/>
        </p:nvSpPr>
        <p:spPr>
          <a:xfrm>
            <a:off x="731520" y="4023360"/>
            <a:ext cx="7680960" cy="548640"/>
          </a:xfrm>
          <a:prstGeom prst="roundRect">
            <a:avLst>
              <a:gd name="adj" fmla="val 13333"/>
            </a:avLst>
          </a:prstGeom>
          <a:solidFill>
            <a:srgbClr val="0F1419"/>
          </a:solidFill>
          <a:ln/>
        </p:spPr>
      </p:sp>
      <p:sp>
        <p:nvSpPr>
          <p:cNvPr id="18" name="Text 15"/>
          <p:cNvSpPr txBox="1"/>
          <p:nvPr/>
        </p:nvSpPr>
        <p:spPr>
          <a:xfrm>
            <a:off x="914400" y="4023360"/>
            <a:ext cx="411480" cy="548640"/>
          </a:xfrm>
          <a:prstGeom prst="roundRect">
            <a:avLst>
              <a:gd name="adj" fmla="val 48889"/>
            </a:avLst>
          </a:prstGeom>
          <a:solidFill>
            <a:srgbClr val="06B6D4"/>
          </a:solidFill>
          <a:ln/>
        </p:spPr>
        <p:txBody>
          <a:bodyPr wrap="square" lIns="0" tIns="0" rIns="0" bIns="0" rtlCol="0" anchor="ctr"/>
          <a:lstStyle/>
          <a:p>
            <a:pPr algn="ctr" indent="0" marL="0">
              <a:buNone/>
            </a:pPr>
            <a:r>
              <a:rPr lang="en-US" sz="1500" b="1" dirty="0">
                <a:solidFill>
                  <a:srgbClr val="0F1419"/>
                </a:solidFill>
                <a:latin typeface="Calibri" pitchFamily="34" charset="0"/>
                <a:ea typeface="Calibri" pitchFamily="34" charset="-122"/>
                <a:cs typeface="Calibri" pitchFamily="34" charset="-120"/>
              </a:rPr>
              <a:t>5</a:t>
            </a:r>
            <a:endParaRPr lang="en-US" sz="1500" dirty="0"/>
          </a:p>
        </p:txBody>
      </p:sp>
      <p:sp>
        <p:nvSpPr>
          <p:cNvPr id="19" name="Text 16"/>
          <p:cNvSpPr txBox="1"/>
          <p:nvPr/>
        </p:nvSpPr>
        <p:spPr>
          <a:xfrm>
            <a:off x="1508760" y="4023360"/>
            <a:ext cx="6766560" cy="5486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Adresse : commence par « T »</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548640" y="548640"/>
            <a:ext cx="8046720" cy="3840480"/>
          </a:xfrm>
          <a:prstGeom prst="roundRect">
            <a:avLst>
              <a:gd name="adj" fmla="val 3571"/>
            </a:avLst>
          </a:prstGeom>
          <a:solidFill>
            <a:srgbClr val="2D1B1B"/>
          </a:solidFill>
          <a:ln/>
        </p:spPr>
      </p:sp>
      <p:sp>
        <p:nvSpPr>
          <p:cNvPr id="3" name="Shape 1"/>
          <p:cNvSpPr/>
          <p:nvPr/>
        </p:nvSpPr>
        <p:spPr>
          <a:xfrm>
            <a:off x="548640" y="548640"/>
            <a:ext cx="54864" cy="3840480"/>
          </a:xfrm>
          <a:prstGeom prst="rect">
            <a:avLst/>
          </a:prstGeom>
          <a:solidFill>
            <a:srgbClr val="EF4444"/>
          </a:solidFill>
          <a:ln/>
        </p:spPr>
      </p:sp>
      <p:pic>
        <p:nvPicPr>
          <p:cNvPr id="4" name="Image 0" descr="preencoded.png">    </p:cNvPr>
          <p:cNvPicPr>
            <a:picLocks noChangeAspect="1"/>
          </p:cNvPicPr>
          <p:nvPr/>
        </p:nvPicPr>
        <p:blipFill>
          <a:blip r:embed="rId1"/>
          <a:stretch>
            <a:fillRect/>
          </a:stretch>
        </p:blipFill>
        <p:spPr>
          <a:xfrm>
            <a:off x="914400" y="777240"/>
            <a:ext cx="548640" cy="548640"/>
          </a:xfrm>
          <a:prstGeom prst="rect">
            <a:avLst/>
          </a:prstGeom>
        </p:spPr>
      </p:pic>
      <p:sp>
        <p:nvSpPr>
          <p:cNvPr id="5" name="Text 2"/>
          <p:cNvSpPr txBox="1"/>
          <p:nvPr/>
        </p:nvSpPr>
        <p:spPr>
          <a:xfrm>
            <a:off x="1600200" y="777240"/>
            <a:ext cx="2743200" cy="320040"/>
          </a:xfrm>
          <a:prstGeom prst="rect">
            <a:avLst/>
          </a:prstGeom>
          <a:noFill/>
          <a:ln/>
        </p:spPr>
        <p:txBody>
          <a:bodyPr wrap="square" lIns="0" tIns="0" rIns="0" bIns="0" rtlCol="0" anchor="ctr"/>
          <a:lstStyle/>
          <a:p>
            <a:pPr indent="0" marL="0">
              <a:buNone/>
            </a:pPr>
            <a:r>
              <a:rPr lang="en-US" sz="1200" b="1" spc="300" kern="0" dirty="0">
                <a:solidFill>
                  <a:srgbClr val="EF4444"/>
                </a:solidFill>
                <a:latin typeface="Calibri" pitchFamily="34" charset="0"/>
                <a:ea typeface="Calibri" pitchFamily="34" charset="-122"/>
                <a:cs typeface="Calibri" pitchFamily="34" charset="-120"/>
              </a:rPr>
              <a:t>ATTENTION</a:t>
            </a:r>
            <a:endParaRPr lang="en-US" sz="1200" dirty="0"/>
          </a:p>
        </p:txBody>
      </p:sp>
      <p:sp>
        <p:nvSpPr>
          <p:cNvPr id="6" name="Text 3"/>
          <p:cNvSpPr txBox="1"/>
          <p:nvPr/>
        </p:nvSpPr>
        <p:spPr>
          <a:xfrm>
            <a:off x="914400" y="1371600"/>
            <a:ext cx="7406640" cy="2286000"/>
          </a:xfrm>
          <a:prstGeom prst="rect">
            <a:avLst/>
          </a:prstGeom>
          <a:noFill/>
          <a:ln/>
        </p:spPr>
        <p:txBody>
          <a:bodyPr wrap="square" lIns="0" tIns="0" rIns="0" bIns="0" rtlCol="0" anchor="t"/>
          <a:lstStyle/>
          <a:p>
            <a:pPr indent="0" marL="0">
              <a:buNone/>
            </a:pPr>
            <a:r>
              <a:rPr lang="en-US" sz="1300" dirty="0">
                <a:solidFill>
                  <a:srgbClr val="FCA5A5"/>
                </a:solidFill>
                <a:latin typeface="Calibri" pitchFamily="34" charset="0"/>
                <a:ea typeface="Calibri" pitchFamily="34" charset="-122"/>
                <a:cs typeface="Calibri" pitchFamily="34" charset="-120"/>
              </a:rPr>
              <a:t>• Frais : 3 à 30 USDT selon la congestion (attention !)</a:t>
            </a:r>
            <a:endParaRPr lang="en-US" sz="1300" dirty="0"/>
          </a:p>
          <a:p>
            <a:pPr indent="0" marL="0">
              <a:buNone/>
            </a:pPr>
            <a:r>
              <a:rPr lang="en-US" sz="1300" dirty="0">
                <a:solidFill>
                  <a:srgbClr val="FCA5A5"/>
                </a:solidFill>
                <a:latin typeface="Calibri" pitchFamily="34" charset="0"/>
                <a:ea typeface="Calibri" pitchFamily="34" charset="-122"/>
                <a:cs typeface="Calibri" pitchFamily="34" charset="-120"/>
              </a:rPr>
              <a:t>• Vitesse : 15 secondes à quelques minutes</a:t>
            </a:r>
            <a:endParaRPr lang="en-US" sz="1300" dirty="0"/>
          </a:p>
          <a:p>
            <a:pPr indent="0" marL="0">
              <a:buNone/>
            </a:pPr>
            <a:r>
              <a:rPr lang="en-US" sz="1300" dirty="0">
                <a:solidFill>
                  <a:srgbClr val="FCA5A5"/>
                </a:solidFill>
                <a:latin typeface="Calibri" pitchFamily="34" charset="0"/>
                <a:ea typeface="Calibri" pitchFamily="34" charset="-122"/>
                <a:cs typeface="Calibri" pitchFamily="34" charset="-120"/>
              </a:rPr>
              <a:t>• Le réseau le plus « universel », toujours accepté</a:t>
            </a:r>
            <a:endParaRPr lang="en-US" sz="1300" dirty="0"/>
          </a:p>
          <a:p>
            <a:pPr indent="0" marL="0">
              <a:buNone/>
            </a:pPr>
            <a:r>
              <a:rPr lang="en-US" sz="1300" dirty="0">
                <a:solidFill>
                  <a:srgbClr val="FCA5A5"/>
                </a:solidFill>
                <a:latin typeface="Calibri" pitchFamily="34" charset="0"/>
                <a:ea typeface="Calibri" pitchFamily="34" charset="-122"/>
                <a:cs typeface="Calibri" pitchFamily="34" charset="-120"/>
              </a:rPr>
              <a:t>• Recommandé uniquement pour de gros montants (&gt;500$) où les frais deviennent relativement faibles</a:t>
            </a:r>
            <a:endParaRPr lang="en-US" sz="1300" dirty="0"/>
          </a:p>
          <a:p>
            <a:pPr indent="0" marL="0">
              <a:buNone/>
            </a:pPr>
            <a:r>
              <a:rPr lang="en-US" sz="1300" dirty="0">
                <a:solidFill>
                  <a:srgbClr val="FCA5A5"/>
                </a:solidFill>
                <a:latin typeface="Calibri" pitchFamily="34" charset="0"/>
                <a:ea typeface="Calibri" pitchFamily="34" charset="-122"/>
                <a:cs typeface="Calibri" pitchFamily="34" charset="-120"/>
              </a:rPr>
              <a:t>• Adresse : commence par « 0x »</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419"/>
        </a:solidFill>
      </p:bgPr>
    </p:bg>
    <p:spTree>
      <p:nvGrpSpPr>
        <p:cNvPr id="1" name=""/>
        <p:cNvGrpSpPr/>
        <p:nvPr/>
      </p:nvGrpSpPr>
      <p:grpSpPr>
        <a:xfrm>
          <a:off x="0" y="0"/>
          <a:ext cx="0" cy="0"/>
          <a:chOff x="0" y="0"/>
          <a:chExt cx="0" cy="0"/>
        </a:xfrm>
      </p:grpSpPr>
      <p:sp>
        <p:nvSpPr>
          <p:cNvPr id="2" name="Shape 0"/>
          <p:cNvSpPr/>
          <p:nvPr/>
        </p:nvSpPr>
        <p:spPr>
          <a:xfrm>
            <a:off x="2743200" y="457200"/>
            <a:ext cx="3657600" cy="3657600"/>
          </a:xfrm>
          <a:prstGeom prst="ellipse">
            <a:avLst/>
          </a:prstGeom>
          <a:solidFill>
            <a:srgbClr val="06B6D4">
              <a:alpha val="6000"/>
            </a:srgbClr>
          </a:solidFill>
          <a:ln/>
        </p:spPr>
      </p:sp>
      <p:pic>
        <p:nvPicPr>
          <p:cNvPr id="3" name="Image 0" descr="preencoded.png">    </p:cNvPr>
          <p:cNvPicPr>
            <a:picLocks noChangeAspect="1"/>
          </p:cNvPicPr>
          <p:nvPr/>
        </p:nvPicPr>
        <p:blipFill>
          <a:blip r:embed="rId1"/>
          <a:stretch>
            <a:fillRect/>
          </a:stretch>
        </p:blipFill>
        <p:spPr>
          <a:xfrm>
            <a:off x="3931920" y="914400"/>
            <a:ext cx="1280160" cy="1280160"/>
          </a:xfrm>
          <a:prstGeom prst="rect">
            <a:avLst/>
          </a:prstGeom>
        </p:spPr>
      </p:pic>
      <p:sp>
        <p:nvSpPr>
          <p:cNvPr id="4" name="Text 1"/>
          <p:cNvSpPr txBox="1"/>
          <p:nvPr/>
        </p:nvSpPr>
        <p:spPr>
          <a:xfrm>
            <a:off x="731520" y="2377440"/>
            <a:ext cx="768096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Module 6 termine</a:t>
            </a:r>
            <a:endParaRPr lang="en-US" sz="2800" dirty="0"/>
          </a:p>
        </p:txBody>
      </p:sp>
      <p:sp>
        <p:nvSpPr>
          <p:cNvPr id="5" name="Text 2"/>
          <p:cNvSpPr txBox="1"/>
          <p:nvPr/>
        </p:nvSpPr>
        <p:spPr>
          <a:xfrm>
            <a:off x="1371600" y="3017520"/>
            <a:ext cx="6400800" cy="36576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Passez au module suivant pour continuer votre apprentissage.</a:t>
            </a:r>
            <a:endParaRPr lang="en-US" sz="1300" dirty="0"/>
          </a:p>
        </p:txBody>
      </p:sp>
      <p:sp>
        <p:nvSpPr>
          <p:cNvPr id="6" name="Shape 3"/>
          <p:cNvSpPr/>
          <p:nvPr/>
        </p:nvSpPr>
        <p:spPr>
          <a:xfrm>
            <a:off x="3200400" y="3657600"/>
            <a:ext cx="2743200" cy="36576"/>
          </a:xfrm>
          <a:prstGeom prst="rect">
            <a:avLst/>
          </a:prstGeom>
          <a:solidFill>
            <a:srgbClr val="06B6D4"/>
          </a:solidFill>
          <a:ln/>
        </p:spPr>
      </p:sp>
      <p:sp>
        <p:nvSpPr>
          <p:cNvPr id="7" name="Text 4"/>
          <p:cNvSpPr txBox="1"/>
          <p:nvPr/>
        </p:nvSpPr>
        <p:spPr>
          <a:xfrm>
            <a:off x="2286000" y="3931920"/>
            <a:ext cx="4572000" cy="320040"/>
          </a:xfrm>
          <a:prstGeom prst="rect">
            <a:avLst/>
          </a:prstGeom>
          <a:noFill/>
          <a:ln/>
        </p:spPr>
        <p:txBody>
          <a:bodyPr wrap="square" lIns="0" tIns="0" rIns="0" bIns="0" rtlCol="0" anchor="ctr"/>
          <a:lstStyle/>
          <a:p>
            <a:pPr algn="ctr" indent="0" marL="0">
              <a:buNone/>
            </a:pPr>
            <a:r>
              <a:rPr lang="en-US" sz="1100" spc="300" kern="0" dirty="0">
                <a:solidFill>
                  <a:srgbClr val="64748B"/>
                </a:solidFill>
                <a:latin typeface="Calibri" pitchFamily="34" charset="0"/>
                <a:ea typeface="Calibri" pitchFamily="34" charset="-122"/>
                <a:cs typeface="Calibri" pitchFamily="34" charset="-120"/>
              </a:rPr>
              <a:t>TEREX ACADEMY</a:t>
            </a:r>
            <a:endParaRPr lang="en-US" sz="1100" dirty="0"/>
          </a:p>
        </p:txBody>
      </p:sp>
      <p:sp>
        <p:nvSpPr>
          <p:cNvPr id="8" name="Text 5"/>
          <p:cNvSpPr txBox="1"/>
          <p:nvPr/>
        </p:nvSpPr>
        <p:spPr>
          <a:xfrm>
            <a:off x="2286000" y="4251960"/>
            <a:ext cx="4572000" cy="274320"/>
          </a:xfrm>
          <a:prstGeom prst="rect">
            <a:avLst/>
          </a:prstGeom>
          <a:noFill/>
          <a:ln/>
        </p:spPr>
        <p:txBody>
          <a:bodyPr wrap="square" lIns="0" tIns="0" rIns="0" bIns="0" rtlCol="0" anchor="ctr"/>
          <a:lstStyle/>
          <a:p>
            <a:pPr algn="ctr" indent="0" marL="0">
              <a:buNone/>
            </a:pPr>
            <a:r>
              <a:rPr lang="en-US" sz="1100" dirty="0">
                <a:solidFill>
                  <a:srgbClr val="009E8B"/>
                </a:solidFill>
                <a:latin typeface="Calibri" pitchFamily="34" charset="0"/>
                <a:ea typeface="Calibri" pitchFamily="34" charset="-122"/>
                <a:cs typeface="Calibri" pitchFamily="34" charset="-120"/>
              </a:rPr>
              <a:t>terangaexchange.com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Terex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 Les stablecoins : USDT &amp; pourquoi c'est utile</dc:title>
  <dc:subject>Les stablecoins : USDT &amp; pourquoi c'est utile</dc:subject>
  <dc:creator>Terex Academy</dc:creator>
  <cp:lastModifiedBy>Terex Academy</cp:lastModifiedBy>
  <cp:revision>1</cp:revision>
  <dcterms:created xsi:type="dcterms:W3CDTF">2026-09-07T01:22:29Z</dcterms:created>
  <dcterms:modified xsi:type="dcterms:W3CDTF">2026-09-07T01:22:29Z</dcterms:modified>
</cp:coreProperties>
</file>