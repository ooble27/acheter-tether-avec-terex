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BFA6"/>
          </a:solidFill>
          <a:ln/>
        </p:spPr>
      </p:sp>
      <p:sp>
        <p:nvSpPr>
          <p:cNvPr id="3" name="Text 1"/>
          <p:cNvSpPr txBox="1"/>
          <p:nvPr/>
        </p:nvSpPr>
        <p:spPr>
          <a:xfrm>
            <a:off x="731520" y="1097280"/>
            <a:ext cx="2286000" cy="457200"/>
          </a:xfrm>
          <a:prstGeom prst="rect">
            <a:avLst/>
          </a:prstGeom>
          <a:noFill/>
          <a:ln/>
        </p:spPr>
        <p:txBody>
          <a:bodyPr wrap="square" lIns="0" tIns="0" rIns="0" bIns="0" rtlCol="0" anchor="ctr"/>
          <a:lstStyle/>
          <a:p>
            <a:pPr indent="0" marL="0">
              <a:buNone/>
            </a:pPr>
            <a:r>
              <a:rPr lang="en-US" sz="1400" b="1" spc="400" kern="0" dirty="0">
                <a:solidFill>
                  <a:srgbClr val="00BFA6"/>
                </a:solidFill>
                <a:latin typeface="Calibri" pitchFamily="34" charset="0"/>
                <a:ea typeface="Calibri" pitchFamily="34" charset="-122"/>
                <a:cs typeface="Calibri" pitchFamily="34" charset="-120"/>
              </a:rPr>
              <a:t>MODULE 6</a:t>
            </a:r>
            <a:endParaRPr lang="en-US" sz="1400" dirty="0"/>
          </a:p>
        </p:txBody>
      </p:sp>
      <p:sp>
        <p:nvSpPr>
          <p:cNvPr id="4" name="Text 2"/>
          <p:cNvSpPr txBox="1"/>
          <p:nvPr/>
        </p:nvSpPr>
        <p:spPr>
          <a:xfrm>
            <a:off x="731520" y="1645920"/>
            <a:ext cx="7680960" cy="146304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Les stablecoins : USDT &amp; pourquoi c'est utile</a:t>
            </a:r>
            <a:endParaRPr lang="en-US" sz="3600" dirty="0"/>
          </a:p>
        </p:txBody>
      </p:sp>
      <p:sp>
        <p:nvSpPr>
          <p:cNvPr id="5" name="Text 3"/>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200" spc="300" kern="0" dirty="0">
                <a:solidFill>
                  <a:srgbClr val="64748B"/>
                </a:solidFill>
                <a:latin typeface="Calibri" pitchFamily="34" charset="0"/>
                <a:ea typeface="Calibri" pitchFamily="34" charset="-122"/>
                <a:cs typeface="Calibri" pitchFamily="34" charset="-120"/>
              </a:rPr>
              <a:t>TEREX ACADEMY</a:t>
            </a:r>
            <a:endParaRPr lang="en-US" sz="1200" dirty="0"/>
          </a:p>
        </p:txBody>
      </p:sp>
      <p:sp>
        <p:nvSpPr>
          <p:cNvPr id="6" name="Text 4"/>
          <p:cNvSpPr txBox="1"/>
          <p:nvPr/>
        </p:nvSpPr>
        <p:spPr>
          <a:xfrm>
            <a:off x="731520" y="4389120"/>
            <a:ext cx="3657600" cy="32004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Formation Crypto &amp; Blockchain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457200"/>
            <a:ext cx="2743200" cy="365760"/>
          </a:xfrm>
          <a:prstGeom prst="rect">
            <a:avLst/>
          </a:prstGeom>
          <a:noFill/>
          <a:ln/>
        </p:spPr>
        <p:txBody>
          <a:bodyPr wrap="square" lIns="0" tIns="0" rIns="0" bIns="0" rtlCol="0" anchor="ctr"/>
          <a:lstStyle/>
          <a:p>
            <a:pPr indent="0" marL="0">
              <a:buNone/>
            </a:pPr>
            <a:r>
              <a:rPr lang="en-US" sz="1200" b="1" spc="300" kern="0" dirty="0">
                <a:solidFill>
                  <a:srgbClr val="00BFA6"/>
                </a:solidFill>
                <a:latin typeface="Calibri" pitchFamily="34" charset="0"/>
                <a:ea typeface="Calibri" pitchFamily="34" charset="-122"/>
                <a:cs typeface="Calibri" pitchFamily="34" charset="-120"/>
              </a:rPr>
              <a:t>SOMMAIRE</a:t>
            </a:r>
            <a:endParaRPr lang="en-US" sz="1200" dirty="0"/>
          </a:p>
        </p:txBody>
      </p:sp>
      <p:sp>
        <p:nvSpPr>
          <p:cNvPr id="3" name="Text 1"/>
          <p:cNvSpPr txBox="1"/>
          <p:nvPr/>
        </p:nvSpPr>
        <p:spPr>
          <a:xfrm>
            <a:off x="731520" y="868680"/>
            <a:ext cx="45720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Module 6</a:t>
            </a:r>
            <a:endParaRPr lang="en-US" sz="2200" dirty="0"/>
          </a:p>
        </p:txBody>
      </p:sp>
      <p:sp>
        <p:nvSpPr>
          <p:cNvPr id="4" name="Text 2"/>
          <p:cNvSpPr txBox="1"/>
          <p:nvPr/>
        </p:nvSpPr>
        <p:spPr>
          <a:xfrm>
            <a:off x="731520" y="1554480"/>
            <a:ext cx="7680960" cy="3200400"/>
          </a:xfrm>
          <a:prstGeom prst="rect">
            <a:avLst/>
          </a:prstGeom>
          <a:noFill/>
          <a:ln/>
        </p:spPr>
        <p:txBody>
          <a:bodyPr wrap="square" lIns="0" tIns="0" rIns="0" bIns="0" rtlCol="0" anchor="t"/>
          <a:lstStyle/>
          <a:p>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1.  Qu'est-ce qu'un stablecoin ?</a:t>
            </a:r>
            <a:endParaRPr lang="en-US" sz="1500" dirty="0"/>
          </a:p>
          <a:p>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2.  USDT — le pilier de l'échange</a:t>
            </a:r>
            <a:endParaRPr lang="en-US" sz="1500" dirty="0"/>
          </a:p>
          <a:p>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3.  TRC20, ERC20, BEP20 — comment choisir ?</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2137"/>
        </a:solidFill>
      </p:bgPr>
    </p:bg>
    <p:spTree>
      <p:nvGrpSpPr>
        <p:cNvPr id="1" name=""/>
        <p:cNvGrpSpPr/>
        <p:nvPr/>
      </p:nvGrpSpPr>
      <p:grpSpPr>
        <a:xfrm>
          <a:off x="0" y="0"/>
          <a:ext cx="0" cy="0"/>
          <a:chOff x="0" y="0"/>
          <a:chExt cx="0" cy="0"/>
        </a:xfrm>
      </p:grpSpPr>
      <p:sp>
        <p:nvSpPr>
          <p:cNvPr id="2" name="Shape 0"/>
          <p:cNvSpPr/>
          <p:nvPr/>
        </p:nvSpPr>
        <p:spPr>
          <a:xfrm>
            <a:off x="548640" y="914400"/>
            <a:ext cx="45720" cy="2560320"/>
          </a:xfrm>
          <a:prstGeom prst="rect">
            <a:avLst/>
          </a:prstGeom>
          <a:solidFill>
            <a:srgbClr val="00BFA6"/>
          </a:solidFill>
          <a:ln/>
        </p:spPr>
      </p:sp>
      <p:sp>
        <p:nvSpPr>
          <p:cNvPr id="3" name="Text 1"/>
          <p:cNvSpPr txBox="1"/>
          <p:nvPr/>
        </p:nvSpPr>
        <p:spPr>
          <a:xfrm>
            <a:off x="822960" y="1097280"/>
            <a:ext cx="2743200" cy="365760"/>
          </a:xfrm>
          <a:prstGeom prst="rect">
            <a:avLst/>
          </a:prstGeom>
          <a:noFill/>
          <a:ln/>
        </p:spPr>
        <p:txBody>
          <a:bodyPr wrap="square" lIns="0" tIns="0" rIns="0" bIns="0" rtlCol="0" anchor="ctr"/>
          <a:lstStyle/>
          <a:p>
            <a:pPr indent="0" marL="0">
              <a:buNone/>
            </a:pPr>
            <a:r>
              <a:rPr lang="en-US" sz="1200" b="1" spc="200" kern="0" dirty="0">
                <a:solidFill>
                  <a:srgbClr val="00BFA6"/>
                </a:solidFill>
                <a:latin typeface="Calibri" pitchFamily="34" charset="0"/>
                <a:ea typeface="Calibri" pitchFamily="34" charset="-122"/>
                <a:cs typeface="Calibri" pitchFamily="34" charset="-120"/>
              </a:rPr>
              <a:t>Lecon 1 / 3</a:t>
            </a:r>
            <a:endParaRPr lang="en-US" sz="1200" dirty="0"/>
          </a:p>
        </p:txBody>
      </p:sp>
      <p:sp>
        <p:nvSpPr>
          <p:cNvPr id="4" name="Text 2"/>
          <p:cNvSpPr txBox="1"/>
          <p:nvPr/>
        </p:nvSpPr>
        <p:spPr>
          <a:xfrm>
            <a:off x="822960" y="1645920"/>
            <a:ext cx="7498080" cy="128016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Qu'est-ce qu'un stablecoin ?</a:t>
            </a:r>
            <a:endParaRPr lang="en-US" sz="3000" dirty="0"/>
          </a:p>
        </p:txBody>
      </p:sp>
      <p:sp>
        <p:nvSpPr>
          <p:cNvPr id="5" name="Text 3"/>
          <p:cNvSpPr txBox="1"/>
          <p:nvPr/>
        </p:nvSpPr>
        <p:spPr>
          <a:xfrm>
            <a:off x="822960" y="4206240"/>
            <a:ext cx="5486400" cy="32004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 stablecoin est une cryptomonnaie dont le prix est stable par construction — parce qu'il est adossé à un actif traditionnel, généralement le dollar américain.</a:t>
            </a:r>
            <a:endParaRPr lang="en-US" sz="1400" dirty="0"/>
          </a:p>
        </p:txBody>
      </p:sp>
      <p:sp>
        <p:nvSpPr>
          <p:cNvPr id="3" name="Text 1"/>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Le problème que ça résout</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Bitcoin peut monter de 20% en une semaine. Ethereum peut chuter de 15% en un jour. Ces variations sont excellentes pour les traders, mais impraticables pour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Payer votre loyer en crypto.</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Recevoir votre salaire en crypto.</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Épargner sans stress.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Faire du commerce international.</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 a besoin d'une crypto prévisible. C'est là qu'interviennent les stablecoins.</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Le principe</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Une société (Tether pour l'USDT, Circle pour l'USDC) garde en réserve 1 dollar réel pour chaque token émis. Vous pouvez à tout moment échanger vos tokens contre des dollars aupr...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Évidemment, il faut faire confiance à l'émetteur : est-ce qu'il a vraiment les réserves qu'il prétend avoir ? Tether publie des rapports d'audit trimestriels. USDC (émis par Cir...</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Les grandes catégories</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collatéralisés en fiat : USDT, USDC. 1 token = 1 dollar en réserve. Les plus utilisés (&gt;200 milliards en circulation).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collatéralisés en crypto : DAI. Adossés à d'autres cryptos comme collatéral. Plus décentralisés, plus complexes.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algorithmiques : ils tentent de maintenir leur prix par des mécanismes de marché. L'expérience Terra/UST en 2022 a montré leur fragilité — évitez-les.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Pour vous, en Afrique de l'Ouest, retenez : USDT et USDC. Ce sont les deux références.</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332"/>
        </a:solidFill>
      </p:bgPr>
    </p:bg>
    <p:spTree>
      <p:nvGrpSpPr>
        <p:cNvPr id="1" name=""/>
        <p:cNvGrpSpPr/>
        <p:nvPr/>
      </p:nvGrpSpPr>
      <p:grpSpPr>
        <a:xfrm>
          <a:off x="0" y="0"/>
          <a:ext cx="0" cy="0"/>
          <a:chOff x="0" y="0"/>
          <a:chExt cx="0" cy="0"/>
        </a:xfrm>
      </p:grpSpPr>
      <p:sp>
        <p:nvSpPr>
          <p:cNvPr id="2" name="Text 0"/>
          <p:cNvSpPr txBox="1"/>
          <p:nvPr/>
        </p:nvSpPr>
        <p:spPr>
          <a:xfrm>
            <a:off x="731520" y="457200"/>
            <a:ext cx="2743200" cy="36576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 RETENIR</a:t>
            </a:r>
            <a:endParaRPr lang="en-US" sz="1200" dirty="0"/>
          </a:p>
        </p:txBody>
      </p:sp>
      <p:sp>
        <p:nvSpPr>
          <p:cNvPr id="3" name="Text 1"/>
          <p:cNvSpPr txBox="1"/>
          <p:nvPr/>
        </p:nvSpPr>
        <p:spPr>
          <a:xfrm>
            <a:off x="731520" y="868680"/>
            <a:ext cx="7680960" cy="5029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Qu'est-ce qu'un stablecoin ?</a:t>
            </a:r>
            <a:endParaRPr lang="en-US" sz="2200" dirty="0"/>
          </a:p>
        </p:txBody>
      </p:sp>
      <p:sp>
        <p:nvSpPr>
          <p:cNvPr id="4" name="Text 2"/>
          <p:cNvSpPr txBox="1"/>
          <p:nvPr/>
        </p:nvSpPr>
        <p:spPr>
          <a:xfrm>
            <a:off x="731520" y="1554480"/>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71600" y="1554480"/>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Payer votre loyer en crypto.</a:t>
            </a:r>
            <a:endParaRPr lang="en-US" sz="1400" dirty="0"/>
          </a:p>
        </p:txBody>
      </p:sp>
      <p:sp>
        <p:nvSpPr>
          <p:cNvPr id="6" name="Text 4"/>
          <p:cNvSpPr txBox="1"/>
          <p:nvPr/>
        </p:nvSpPr>
        <p:spPr>
          <a:xfrm>
            <a:off x="731520" y="2212848"/>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2</a:t>
            </a:r>
            <a:endParaRPr lang="en-US" sz="1600" dirty="0"/>
          </a:p>
        </p:txBody>
      </p:sp>
      <p:sp>
        <p:nvSpPr>
          <p:cNvPr id="7" name="Text 5"/>
          <p:cNvSpPr txBox="1"/>
          <p:nvPr/>
        </p:nvSpPr>
        <p:spPr>
          <a:xfrm>
            <a:off x="1371600" y="2212848"/>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Recevoir votre salaire en crypto.</a:t>
            </a:r>
            <a:endParaRPr lang="en-US" sz="1400" dirty="0"/>
          </a:p>
        </p:txBody>
      </p:sp>
      <p:sp>
        <p:nvSpPr>
          <p:cNvPr id="8" name="Text 6"/>
          <p:cNvSpPr txBox="1"/>
          <p:nvPr/>
        </p:nvSpPr>
        <p:spPr>
          <a:xfrm>
            <a:off x="731520" y="2871216"/>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3</a:t>
            </a:r>
            <a:endParaRPr lang="en-US" sz="1600" dirty="0"/>
          </a:p>
        </p:txBody>
      </p:sp>
      <p:sp>
        <p:nvSpPr>
          <p:cNvPr id="9" name="Text 7"/>
          <p:cNvSpPr txBox="1"/>
          <p:nvPr/>
        </p:nvSpPr>
        <p:spPr>
          <a:xfrm>
            <a:off x="1371600" y="2871216"/>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Épargner sans stress.</a:t>
            </a:r>
            <a:endParaRPr lang="en-US" sz="1400" dirty="0"/>
          </a:p>
        </p:txBody>
      </p:sp>
      <p:sp>
        <p:nvSpPr>
          <p:cNvPr id="10" name="Text 8"/>
          <p:cNvSpPr txBox="1"/>
          <p:nvPr/>
        </p:nvSpPr>
        <p:spPr>
          <a:xfrm>
            <a:off x="731520" y="3529584"/>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4</a:t>
            </a:r>
            <a:endParaRPr lang="en-US" sz="1600" dirty="0"/>
          </a:p>
        </p:txBody>
      </p:sp>
      <p:sp>
        <p:nvSpPr>
          <p:cNvPr id="11" name="Text 9"/>
          <p:cNvSpPr txBox="1"/>
          <p:nvPr/>
        </p:nvSpPr>
        <p:spPr>
          <a:xfrm>
            <a:off x="1371600" y="3529584"/>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Faire du commerce international.</a:t>
            </a:r>
            <a:endParaRPr lang="en-US" sz="1400" dirty="0"/>
          </a:p>
        </p:txBody>
      </p:sp>
      <p:sp>
        <p:nvSpPr>
          <p:cNvPr id="12" name="Text 10"/>
          <p:cNvSpPr txBox="1"/>
          <p:nvPr/>
        </p:nvSpPr>
        <p:spPr>
          <a:xfrm>
            <a:off x="731520" y="4187952"/>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5</a:t>
            </a:r>
            <a:endParaRPr lang="en-US" sz="1600" dirty="0"/>
          </a:p>
        </p:txBody>
      </p:sp>
      <p:sp>
        <p:nvSpPr>
          <p:cNvPr id="13" name="Text 11"/>
          <p:cNvSpPr txBox="1"/>
          <p:nvPr/>
        </p:nvSpPr>
        <p:spPr>
          <a:xfrm>
            <a:off x="1371600" y="4187952"/>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Stablecoins collatéralisés en fiat : USDT, USDC. 1 token = 1 dollar en réserve. Les plus utilisés (&gt;200 milliards en circulation).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2137"/>
        </a:solidFill>
      </p:bgPr>
    </p:bg>
    <p:spTree>
      <p:nvGrpSpPr>
        <p:cNvPr id="1" name=""/>
        <p:cNvGrpSpPr/>
        <p:nvPr/>
      </p:nvGrpSpPr>
      <p:grpSpPr>
        <a:xfrm>
          <a:off x="0" y="0"/>
          <a:ext cx="0" cy="0"/>
          <a:chOff x="0" y="0"/>
          <a:chExt cx="0" cy="0"/>
        </a:xfrm>
      </p:grpSpPr>
      <p:sp>
        <p:nvSpPr>
          <p:cNvPr id="2" name="Shape 0"/>
          <p:cNvSpPr/>
          <p:nvPr/>
        </p:nvSpPr>
        <p:spPr>
          <a:xfrm>
            <a:off x="548640" y="914400"/>
            <a:ext cx="45720" cy="2560320"/>
          </a:xfrm>
          <a:prstGeom prst="rect">
            <a:avLst/>
          </a:prstGeom>
          <a:solidFill>
            <a:srgbClr val="00BFA6"/>
          </a:solidFill>
          <a:ln/>
        </p:spPr>
      </p:sp>
      <p:sp>
        <p:nvSpPr>
          <p:cNvPr id="3" name="Text 1"/>
          <p:cNvSpPr txBox="1"/>
          <p:nvPr/>
        </p:nvSpPr>
        <p:spPr>
          <a:xfrm>
            <a:off x="822960" y="1097280"/>
            <a:ext cx="2743200" cy="365760"/>
          </a:xfrm>
          <a:prstGeom prst="rect">
            <a:avLst/>
          </a:prstGeom>
          <a:noFill/>
          <a:ln/>
        </p:spPr>
        <p:txBody>
          <a:bodyPr wrap="square" lIns="0" tIns="0" rIns="0" bIns="0" rtlCol="0" anchor="ctr"/>
          <a:lstStyle/>
          <a:p>
            <a:pPr indent="0" marL="0">
              <a:buNone/>
            </a:pPr>
            <a:r>
              <a:rPr lang="en-US" sz="1200" b="1" spc="200" kern="0" dirty="0">
                <a:solidFill>
                  <a:srgbClr val="00BFA6"/>
                </a:solidFill>
                <a:latin typeface="Calibri" pitchFamily="34" charset="0"/>
                <a:ea typeface="Calibri" pitchFamily="34" charset="-122"/>
                <a:cs typeface="Calibri" pitchFamily="34" charset="-120"/>
              </a:rPr>
              <a:t>Lecon 2 / 3</a:t>
            </a:r>
            <a:endParaRPr lang="en-US" sz="1200" dirty="0"/>
          </a:p>
        </p:txBody>
      </p:sp>
      <p:sp>
        <p:nvSpPr>
          <p:cNvPr id="4" name="Text 2"/>
          <p:cNvSpPr txBox="1"/>
          <p:nvPr/>
        </p:nvSpPr>
        <p:spPr>
          <a:xfrm>
            <a:off x="822960" y="1645920"/>
            <a:ext cx="7498080" cy="128016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USDT — le pilier de l'échange</a:t>
            </a:r>
            <a:endParaRPr lang="en-US" sz="3000" dirty="0"/>
          </a:p>
        </p:txBody>
      </p:sp>
      <p:sp>
        <p:nvSpPr>
          <p:cNvPr id="5" name="Text 3"/>
          <p:cNvSpPr txBox="1"/>
          <p:nvPr/>
        </p:nvSpPr>
        <p:spPr>
          <a:xfrm>
            <a:off x="822960" y="4206240"/>
            <a:ext cx="5486400" cy="32004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USDT (Tether) est le stablecoin le plus utilisé au monde. Lancé en 2014, il représente aujourd'hui plus de 60% du marché des stablecoins, avec une capitalisation de plus de 200 ...</a:t>
            </a:r>
            <a:endParaRPr lang="en-US" sz="1400" dirty="0"/>
          </a:p>
        </p:txBody>
      </p:sp>
      <p:sp>
        <p:nvSpPr>
          <p:cNvPr id="3" name="Text 1"/>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Pourquoi USDT est-il devenu la référence en Afrique ?</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Il est partout : accepté sur toutes les plateformes d'échange, tous les portefeuilles, tous les marchands crypto africains.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Il est stable : 1 USDT ≈ 1 USD, à quelques dixièmes de cent près.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Il protège contre l'inflation locale : le franc CFA est stable, mais dans d'autres pays africains (Nigeria, Ghana, Zimbabwe), les monnaies locales perdent 10 à 50% par an. Déten...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Il traverse les frontières : envoyer 500 USDT du Sénégal au Cameroun prend 10 minutes et coûte moins de 1$. Impossible avec un virement bancaire classique.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Il est disponible sur plusieurs réseaux : Tron, Ethereum, BNB Chain, Solana, Polygon. Vous choisissez selon votre besoin.</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Les cas d'usage concrets en Afrique</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Épargner en dollars sans banque : impossible d'ouvrir un compte USD au Sénégal ? Achetez des USDT sur Terex.</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Payer un fournisseur en Chine : plus rapide et moins cher qu'un virement bancaire.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Envoyer de l'argent à la famille à l'étranger : votre neveu en France reçoit ses USDT en 10 minutes.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Recevoir un paiement d'un client international : freelance, e-commerce, consultant — vous êtes payé sans commission bancaire de 3-5%.</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Faire du trading : USDT est la paire de référence face à toutes les autres cryptos sur les plateformes.</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Est-ce que USDT est risqué ?</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risque principal est un défaut de Tether (la société qui l'émet). C'est théoriquement possible, mais c'est aujourd'hui le stablecoin le plus liquide et l'un des plus scrutés ...</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332"/>
        </a:solidFill>
      </p:bgPr>
    </p:bg>
    <p:spTree>
      <p:nvGrpSpPr>
        <p:cNvPr id="1" name=""/>
        <p:cNvGrpSpPr/>
        <p:nvPr/>
      </p:nvGrpSpPr>
      <p:grpSpPr>
        <a:xfrm>
          <a:off x="0" y="0"/>
          <a:ext cx="0" cy="0"/>
          <a:chOff x="0" y="0"/>
          <a:chExt cx="0" cy="0"/>
        </a:xfrm>
      </p:grpSpPr>
      <p:sp>
        <p:nvSpPr>
          <p:cNvPr id="2" name="Text 0"/>
          <p:cNvSpPr txBox="1"/>
          <p:nvPr/>
        </p:nvSpPr>
        <p:spPr>
          <a:xfrm>
            <a:off x="731520" y="457200"/>
            <a:ext cx="2743200" cy="36576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 RETENIR</a:t>
            </a:r>
            <a:endParaRPr lang="en-US" sz="1200" dirty="0"/>
          </a:p>
        </p:txBody>
      </p:sp>
      <p:sp>
        <p:nvSpPr>
          <p:cNvPr id="3" name="Text 1"/>
          <p:cNvSpPr txBox="1"/>
          <p:nvPr/>
        </p:nvSpPr>
        <p:spPr>
          <a:xfrm>
            <a:off x="731520" y="868680"/>
            <a:ext cx="7680960" cy="5029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USDT — le pilier de l'échange</a:t>
            </a:r>
            <a:endParaRPr lang="en-US" sz="2200" dirty="0"/>
          </a:p>
        </p:txBody>
      </p:sp>
      <p:sp>
        <p:nvSpPr>
          <p:cNvPr id="4" name="Text 2"/>
          <p:cNvSpPr txBox="1"/>
          <p:nvPr/>
        </p:nvSpPr>
        <p:spPr>
          <a:xfrm>
            <a:off x="731520" y="1554480"/>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71600" y="1554480"/>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Il est partout : accepté sur toutes les plateformes d'échange, tous les portefeuilles, tous les marchands crypto africains.</a:t>
            </a:r>
            <a:endParaRPr lang="en-US" sz="1400" dirty="0"/>
          </a:p>
        </p:txBody>
      </p:sp>
      <p:sp>
        <p:nvSpPr>
          <p:cNvPr id="6" name="Text 4"/>
          <p:cNvSpPr txBox="1"/>
          <p:nvPr/>
        </p:nvSpPr>
        <p:spPr>
          <a:xfrm>
            <a:off x="731520" y="2212848"/>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2</a:t>
            </a:r>
            <a:endParaRPr lang="en-US" sz="1600" dirty="0"/>
          </a:p>
        </p:txBody>
      </p:sp>
      <p:sp>
        <p:nvSpPr>
          <p:cNvPr id="7" name="Text 5"/>
          <p:cNvSpPr txBox="1"/>
          <p:nvPr/>
        </p:nvSpPr>
        <p:spPr>
          <a:xfrm>
            <a:off x="1371600" y="2212848"/>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Il est stable : 1 USDT ≈ 1 USD, à quelques dixièmes de cent près.</a:t>
            </a:r>
            <a:endParaRPr lang="en-US" sz="1400" dirty="0"/>
          </a:p>
        </p:txBody>
      </p:sp>
      <p:sp>
        <p:nvSpPr>
          <p:cNvPr id="8" name="Text 6"/>
          <p:cNvSpPr txBox="1"/>
          <p:nvPr/>
        </p:nvSpPr>
        <p:spPr>
          <a:xfrm>
            <a:off x="731520" y="2871216"/>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3</a:t>
            </a:r>
            <a:endParaRPr lang="en-US" sz="1600" dirty="0"/>
          </a:p>
        </p:txBody>
      </p:sp>
      <p:sp>
        <p:nvSpPr>
          <p:cNvPr id="9" name="Text 7"/>
          <p:cNvSpPr txBox="1"/>
          <p:nvPr/>
        </p:nvSpPr>
        <p:spPr>
          <a:xfrm>
            <a:off x="1371600" y="2871216"/>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Il traverse les frontières : envoyer 500 USDT du Sénégal au Cameroun prend 10 minutes et coûte moins de 1$. Impossible avec un virement bancaire cl...</a:t>
            </a:r>
            <a:endParaRPr lang="en-US" sz="1400" dirty="0"/>
          </a:p>
        </p:txBody>
      </p:sp>
      <p:sp>
        <p:nvSpPr>
          <p:cNvPr id="10" name="Text 8"/>
          <p:cNvSpPr txBox="1"/>
          <p:nvPr/>
        </p:nvSpPr>
        <p:spPr>
          <a:xfrm>
            <a:off x="731520" y="3529584"/>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4</a:t>
            </a:r>
            <a:endParaRPr lang="en-US" sz="1600" dirty="0"/>
          </a:p>
        </p:txBody>
      </p:sp>
      <p:sp>
        <p:nvSpPr>
          <p:cNvPr id="11" name="Text 9"/>
          <p:cNvSpPr txBox="1"/>
          <p:nvPr/>
        </p:nvSpPr>
        <p:spPr>
          <a:xfrm>
            <a:off x="1371600" y="3529584"/>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Il est disponible sur plusieurs réseaux : Tron, Ethereum, BNB Chain, Solana, Polygon. Vous choisissez selon votre besoin.</a:t>
            </a:r>
            <a:endParaRPr lang="en-US" sz="1400" dirty="0"/>
          </a:p>
        </p:txBody>
      </p:sp>
      <p:sp>
        <p:nvSpPr>
          <p:cNvPr id="12" name="Text 10"/>
          <p:cNvSpPr txBox="1"/>
          <p:nvPr/>
        </p:nvSpPr>
        <p:spPr>
          <a:xfrm>
            <a:off x="731520" y="4187952"/>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5</a:t>
            </a:r>
            <a:endParaRPr lang="en-US" sz="1600" dirty="0"/>
          </a:p>
        </p:txBody>
      </p:sp>
      <p:sp>
        <p:nvSpPr>
          <p:cNvPr id="13" name="Text 11"/>
          <p:cNvSpPr txBox="1"/>
          <p:nvPr/>
        </p:nvSpPr>
        <p:spPr>
          <a:xfrm>
            <a:off x="1371600" y="4187952"/>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Épargner en dollars sans banque : impossible d'ouvrir un compte USD au Sénégal ? Achetez des USDT sur Terex.</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548640" y="731520"/>
            <a:ext cx="8046720" cy="3657600"/>
          </a:xfrm>
          <a:prstGeom prst="roundRect">
            <a:avLst>
              <a:gd name="adj" fmla="val 3750"/>
            </a:avLst>
          </a:prstGeom>
          <a:solidFill>
            <a:srgbClr val="2D1B1B"/>
          </a:solidFill>
          <a:ln/>
        </p:spPr>
      </p:sp>
      <p:sp>
        <p:nvSpPr>
          <p:cNvPr id="3" name="Text 1"/>
          <p:cNvSpPr txBox="1"/>
          <p:nvPr/>
        </p:nvSpPr>
        <p:spPr>
          <a:xfrm>
            <a:off x="822960" y="914400"/>
            <a:ext cx="2743200" cy="411480"/>
          </a:xfrm>
          <a:prstGeom prst="rect">
            <a:avLst/>
          </a:prstGeom>
          <a:noFill/>
          <a:ln/>
        </p:spPr>
        <p:txBody>
          <a:bodyPr wrap="square" lIns="0" tIns="0" rIns="0" bIns="0" rtlCol="0" anchor="ctr"/>
          <a:lstStyle/>
          <a:p>
            <a:pPr indent="0" marL="0">
              <a:buNone/>
            </a:pPr>
            <a:r>
              <a:rPr lang="en-US" sz="1400" b="1" spc="300" kern="0" dirty="0">
                <a:solidFill>
                  <a:srgbClr val="EF4444"/>
                </a:solidFill>
                <a:latin typeface="Calibri" pitchFamily="34" charset="0"/>
                <a:ea typeface="Calibri" pitchFamily="34" charset="-122"/>
                <a:cs typeface="Calibri" pitchFamily="34" charset="-120"/>
              </a:rPr>
              <a:t>ATTENTION</a:t>
            </a:r>
            <a:endParaRPr lang="en-US" sz="1400" dirty="0"/>
          </a:p>
        </p:txBody>
      </p:sp>
      <p:sp>
        <p:nvSpPr>
          <p:cNvPr id="4" name="Text 2"/>
          <p:cNvSpPr txBox="1"/>
          <p:nvPr/>
        </p:nvSpPr>
        <p:spPr>
          <a:xfrm>
            <a:off x="822960" y="1371600"/>
            <a:ext cx="7498080" cy="2194560"/>
          </a:xfrm>
          <a:prstGeom prst="rect">
            <a:avLst/>
          </a:prstGeom>
          <a:noFill/>
          <a:ln/>
        </p:spPr>
        <p:txBody>
          <a:bodyPr wrap="square" lIns="0" tIns="0" rIns="0" bIns="0" rtlCol="0" anchor="t"/>
          <a:lstStyle/>
          <a:p>
            <a:pPr indent="0" marL="0">
              <a:buNone/>
            </a:pPr>
            <a:r>
              <a:rPr lang="en-US" sz="1300" dirty="0">
                <a:solidFill>
                  <a:srgbClr val="FCA5A5"/>
                </a:solidFill>
                <a:latin typeface="Calibri" pitchFamily="34" charset="0"/>
                <a:ea typeface="Calibri" pitchFamily="34" charset="-122"/>
                <a:cs typeface="Calibri" pitchFamily="34" charset="-120"/>
              </a:rPr>
              <a:t>Le risque principal est un défaut de Tether (la société qui l'émet). C'est théoriquement possible, mais c'est aujourd'hui le stablecoin le plus liquide et l'un des plus scrutés du secteur. Pour limiter le risque, ne stockez pas des centaines de milliers de dollars sur un seul stablecoin — diversifiez avec USDC si les montants sont importants.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2137"/>
        </a:solidFill>
      </p:bgPr>
    </p:bg>
    <p:spTree>
      <p:nvGrpSpPr>
        <p:cNvPr id="1" name=""/>
        <p:cNvGrpSpPr/>
        <p:nvPr/>
      </p:nvGrpSpPr>
      <p:grpSpPr>
        <a:xfrm>
          <a:off x="0" y="0"/>
          <a:ext cx="0" cy="0"/>
          <a:chOff x="0" y="0"/>
          <a:chExt cx="0" cy="0"/>
        </a:xfrm>
      </p:grpSpPr>
      <p:sp>
        <p:nvSpPr>
          <p:cNvPr id="2" name="Shape 0"/>
          <p:cNvSpPr/>
          <p:nvPr/>
        </p:nvSpPr>
        <p:spPr>
          <a:xfrm>
            <a:off x="548640" y="914400"/>
            <a:ext cx="45720" cy="2560320"/>
          </a:xfrm>
          <a:prstGeom prst="rect">
            <a:avLst/>
          </a:prstGeom>
          <a:solidFill>
            <a:srgbClr val="00BFA6"/>
          </a:solidFill>
          <a:ln/>
        </p:spPr>
      </p:sp>
      <p:sp>
        <p:nvSpPr>
          <p:cNvPr id="3" name="Text 1"/>
          <p:cNvSpPr txBox="1"/>
          <p:nvPr/>
        </p:nvSpPr>
        <p:spPr>
          <a:xfrm>
            <a:off x="822960" y="1097280"/>
            <a:ext cx="2743200" cy="365760"/>
          </a:xfrm>
          <a:prstGeom prst="rect">
            <a:avLst/>
          </a:prstGeom>
          <a:noFill/>
          <a:ln/>
        </p:spPr>
        <p:txBody>
          <a:bodyPr wrap="square" lIns="0" tIns="0" rIns="0" bIns="0" rtlCol="0" anchor="ctr"/>
          <a:lstStyle/>
          <a:p>
            <a:pPr indent="0" marL="0">
              <a:buNone/>
            </a:pPr>
            <a:r>
              <a:rPr lang="en-US" sz="1200" b="1" spc="200" kern="0" dirty="0">
                <a:solidFill>
                  <a:srgbClr val="00BFA6"/>
                </a:solidFill>
                <a:latin typeface="Calibri" pitchFamily="34" charset="0"/>
                <a:ea typeface="Calibri" pitchFamily="34" charset="-122"/>
                <a:cs typeface="Calibri" pitchFamily="34" charset="-120"/>
              </a:rPr>
              <a:t>Lecon 3 / 3</a:t>
            </a:r>
            <a:endParaRPr lang="en-US" sz="1200" dirty="0"/>
          </a:p>
        </p:txBody>
      </p:sp>
      <p:sp>
        <p:nvSpPr>
          <p:cNvPr id="4" name="Text 2"/>
          <p:cNvSpPr txBox="1"/>
          <p:nvPr/>
        </p:nvSpPr>
        <p:spPr>
          <a:xfrm>
            <a:off x="822960" y="1645920"/>
            <a:ext cx="7498080" cy="128016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TRC20, ERC20, BEP20 — comment choisir ?</a:t>
            </a:r>
            <a:endParaRPr lang="en-US" sz="3000" dirty="0"/>
          </a:p>
        </p:txBody>
      </p:sp>
      <p:sp>
        <p:nvSpPr>
          <p:cNvPr id="5" name="Text 3"/>
          <p:cNvSpPr txBox="1"/>
          <p:nvPr/>
        </p:nvSpPr>
        <p:spPr>
          <a:xfrm>
            <a:off x="822960" y="4206240"/>
            <a:ext cx="5486400" cy="32004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C'est LA question que se pose tout débutant à son premier achat de USDT. Explication simple.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 USDT est un token — un jeton numérique. Ce jeton peut « voyager » sur plusieurs blockchains différentes. On appelle ça un token multi-chaîne.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Quand vous achetez de l'USDT sur Terex, vous devez choisir sur quel réseau vous voulez le recevoir. Le token sera alors émis sur ce réseau spécifique, et vous devrez donner une ...</a:t>
            </a:r>
            <a:endParaRPr lang="en-US" sz="1400" dirty="0"/>
          </a:p>
        </p:txBody>
      </p:sp>
      <p:sp>
        <p:nvSpPr>
          <p:cNvPr id="3" name="Text 1"/>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TRC20 (réseau Tron)</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 ~1 USDT par transfert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Vitesse : 3 secondes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 utilisé en Afrique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 recommandé par Terex pour la plupart des cas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Adresse : commence par « T »</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BEP20 (réseau BNB Chain)</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 ~0,20 USDT par transfert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Vitesse : 3 secondes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Très utilisé si vous avez un compte Binance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Écosystème DeFi très riche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Adresse : commence par « 0x »</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ERC20 (réseau Ethereum)</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 3 à 30 USDT selon la congestion (attention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Vitesse : 15 secondes à quelques minutes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réseau le plus « universel », toujours accepté</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Recommandé uniquement pour de gros montants (&gt;500$) où les frais deviennent relativement faibles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Adresse : commence par « 0x »</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Polygon, Solana, Aptos</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quasi nuls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Utile si votre destinataire vous demande ce réseau spécifiquement</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Comment choisir ?</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Demandez à votre destinataire quel réseau il préfère. Il faut absolument que vous envoyiez sur le même réseau que celui de son adresse.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 vous choisissez pour vous-même, prenez TRC20 par défaut. C'est le standard en Afrique.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Vérifiez toujours que votre wallet (Trust Wallet, MetaMask, Binance…) supporte le réseau choisi. Certains wallets ne gèrent que Ethereum et BNB Chain, pas Tron.</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365760"/>
            <a:ext cx="7680960" cy="548640"/>
          </a:xfrm>
          <a:prstGeom prst="rect">
            <a:avLst/>
          </a:prstGeom>
          <a:noFill/>
          <a:ln/>
        </p:spPr>
        <p:txBody>
          <a:bodyPr wrap="square" lIns="0" tIns="0" rIns="0" bIns="0" rtlCol="0" anchor="ctr"/>
          <a:lstStyle/>
          <a:p>
            <a:pPr indent="0" marL="0">
              <a:buNone/>
            </a:pPr>
            <a:r>
              <a:rPr lang="en-US" sz="2200" b="1" dirty="0">
                <a:solidFill>
                  <a:srgbClr val="00BFA6"/>
                </a:solidFill>
                <a:latin typeface="Calibri" pitchFamily="34" charset="0"/>
                <a:ea typeface="Calibri" pitchFamily="34" charset="-122"/>
                <a:cs typeface="Calibri" pitchFamily="34" charset="-120"/>
              </a:rPr>
              <a:t>AVERTISSEMENT CRITIQUE</a:t>
            </a:r>
            <a:endParaRPr lang="en-US" sz="2200" dirty="0"/>
          </a:p>
        </p:txBody>
      </p:sp>
      <p:sp>
        <p:nvSpPr>
          <p:cNvPr id="3" name="Text 1"/>
          <p:cNvSpPr txBox="1"/>
          <p:nvPr/>
        </p:nvSpPr>
        <p:spPr>
          <a:xfrm>
            <a:off x="731520" y="105156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 vous envoyez de l'USDT-TRC20 à une adresse ERC20 (ou l'inverse), votre argent est perdu à jamais. Ces réseaux sont incompatibles. C'est l'erreur numéro 1 des débutants. On y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Sur Terex, l'interface vous demande de choisir le réseau AVANT de renseigner l'adresse — c'est fait exprès pour vous éviter cette erreur.</a:t>
            </a:r>
            <a:endParaRPr lang="en-US" sz="1400" dirty="0"/>
          </a:p>
        </p:txBody>
      </p:sp>
      <p:sp>
        <p:nvSpPr>
          <p:cNvPr id="4"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Module 6 — Lecon 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2332"/>
        </a:solidFill>
      </p:bgPr>
    </p:bg>
    <p:spTree>
      <p:nvGrpSpPr>
        <p:cNvPr id="1" name=""/>
        <p:cNvGrpSpPr/>
        <p:nvPr/>
      </p:nvGrpSpPr>
      <p:grpSpPr>
        <a:xfrm>
          <a:off x="0" y="0"/>
          <a:ext cx="0" cy="0"/>
          <a:chOff x="0" y="0"/>
          <a:chExt cx="0" cy="0"/>
        </a:xfrm>
      </p:grpSpPr>
      <p:sp>
        <p:nvSpPr>
          <p:cNvPr id="2" name="Text 0"/>
          <p:cNvSpPr txBox="1"/>
          <p:nvPr/>
        </p:nvSpPr>
        <p:spPr>
          <a:xfrm>
            <a:off x="731520" y="457200"/>
            <a:ext cx="2743200" cy="36576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 RETENIR</a:t>
            </a:r>
            <a:endParaRPr lang="en-US" sz="1200" dirty="0"/>
          </a:p>
        </p:txBody>
      </p:sp>
      <p:sp>
        <p:nvSpPr>
          <p:cNvPr id="3" name="Text 1"/>
          <p:cNvSpPr txBox="1"/>
          <p:nvPr/>
        </p:nvSpPr>
        <p:spPr>
          <a:xfrm>
            <a:off x="731520" y="868680"/>
            <a:ext cx="7680960" cy="5029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TRC20, ERC20, BEP20 — comment choisir ?</a:t>
            </a:r>
            <a:endParaRPr lang="en-US" sz="2200" dirty="0"/>
          </a:p>
        </p:txBody>
      </p:sp>
      <p:sp>
        <p:nvSpPr>
          <p:cNvPr id="4" name="Text 2"/>
          <p:cNvSpPr txBox="1"/>
          <p:nvPr/>
        </p:nvSpPr>
        <p:spPr>
          <a:xfrm>
            <a:off x="731520" y="1554480"/>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71600" y="1554480"/>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Frais : ~1 USDT par transfert</a:t>
            </a:r>
            <a:endParaRPr lang="en-US" sz="1400" dirty="0"/>
          </a:p>
        </p:txBody>
      </p:sp>
      <p:sp>
        <p:nvSpPr>
          <p:cNvPr id="6" name="Text 4"/>
          <p:cNvSpPr txBox="1"/>
          <p:nvPr/>
        </p:nvSpPr>
        <p:spPr>
          <a:xfrm>
            <a:off x="731520" y="2212848"/>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2</a:t>
            </a:r>
            <a:endParaRPr lang="en-US" sz="1600" dirty="0"/>
          </a:p>
        </p:txBody>
      </p:sp>
      <p:sp>
        <p:nvSpPr>
          <p:cNvPr id="7" name="Text 5"/>
          <p:cNvSpPr txBox="1"/>
          <p:nvPr/>
        </p:nvSpPr>
        <p:spPr>
          <a:xfrm>
            <a:off x="1371600" y="2212848"/>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Vitesse : 3 secondes</a:t>
            </a:r>
            <a:endParaRPr lang="en-US" sz="1400" dirty="0"/>
          </a:p>
        </p:txBody>
      </p:sp>
      <p:sp>
        <p:nvSpPr>
          <p:cNvPr id="8" name="Text 6"/>
          <p:cNvSpPr txBox="1"/>
          <p:nvPr/>
        </p:nvSpPr>
        <p:spPr>
          <a:xfrm>
            <a:off x="731520" y="2871216"/>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3</a:t>
            </a:r>
            <a:endParaRPr lang="en-US" sz="1600" dirty="0"/>
          </a:p>
        </p:txBody>
      </p:sp>
      <p:sp>
        <p:nvSpPr>
          <p:cNvPr id="9" name="Text 7"/>
          <p:cNvSpPr txBox="1"/>
          <p:nvPr/>
        </p:nvSpPr>
        <p:spPr>
          <a:xfrm>
            <a:off x="1371600" y="2871216"/>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Le + utilisé en Afrique</a:t>
            </a:r>
            <a:endParaRPr lang="en-US" sz="1400" dirty="0"/>
          </a:p>
        </p:txBody>
      </p:sp>
      <p:sp>
        <p:nvSpPr>
          <p:cNvPr id="10" name="Text 8"/>
          <p:cNvSpPr txBox="1"/>
          <p:nvPr/>
        </p:nvSpPr>
        <p:spPr>
          <a:xfrm>
            <a:off x="731520" y="3529584"/>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4</a:t>
            </a:r>
            <a:endParaRPr lang="en-US" sz="1600" dirty="0"/>
          </a:p>
        </p:txBody>
      </p:sp>
      <p:sp>
        <p:nvSpPr>
          <p:cNvPr id="11" name="Text 9"/>
          <p:cNvSpPr txBox="1"/>
          <p:nvPr/>
        </p:nvSpPr>
        <p:spPr>
          <a:xfrm>
            <a:off x="1371600" y="3529584"/>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Le + recommandé par Terex pour la plupart des cas</a:t>
            </a:r>
            <a:endParaRPr lang="en-US" sz="1400" dirty="0"/>
          </a:p>
        </p:txBody>
      </p:sp>
      <p:sp>
        <p:nvSpPr>
          <p:cNvPr id="12" name="Text 10"/>
          <p:cNvSpPr txBox="1"/>
          <p:nvPr/>
        </p:nvSpPr>
        <p:spPr>
          <a:xfrm>
            <a:off x="731520" y="4187952"/>
            <a:ext cx="457200" cy="548640"/>
          </a:xfrm>
          <a:prstGeom prst="roundRect">
            <a:avLst>
              <a:gd name="adj" fmla="val 50000"/>
            </a:avLst>
          </a:prstGeom>
          <a:solidFill>
            <a:srgbClr val="00BFA6"/>
          </a:solidFill>
          <a:ln/>
        </p:spPr>
        <p:txBody>
          <a:bodyPr wrap="square" lIns="0" tIns="0" rIns="0" bIns="0" rtlCol="0" anchor="ctr"/>
          <a:lstStyle/>
          <a:p>
            <a:pPr algn="ctr" indent="0" marL="0">
              <a:buNone/>
            </a:pPr>
            <a:r>
              <a:rPr lang="en-US" sz="1600" b="1" dirty="0">
                <a:solidFill>
                  <a:srgbClr val="0F1419"/>
                </a:solidFill>
                <a:latin typeface="Calibri" pitchFamily="34" charset="0"/>
                <a:ea typeface="Calibri" pitchFamily="34" charset="-122"/>
                <a:cs typeface="Calibri" pitchFamily="34" charset="-120"/>
              </a:rPr>
              <a:t>5</a:t>
            </a:r>
            <a:endParaRPr lang="en-US" sz="1600" dirty="0"/>
          </a:p>
        </p:txBody>
      </p:sp>
      <p:sp>
        <p:nvSpPr>
          <p:cNvPr id="13" name="Text 11"/>
          <p:cNvSpPr txBox="1"/>
          <p:nvPr/>
        </p:nvSpPr>
        <p:spPr>
          <a:xfrm>
            <a:off x="1371600" y="4187952"/>
            <a:ext cx="7040880" cy="5486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Adresse : commence par « T »</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419"/>
        </a:solidFill>
      </p:bgPr>
    </p:bg>
    <p:spTree>
      <p:nvGrpSpPr>
        <p:cNvPr id="1" name=""/>
        <p:cNvGrpSpPr/>
        <p:nvPr/>
      </p:nvGrpSpPr>
      <p:grpSpPr>
        <a:xfrm>
          <a:off x="0" y="0"/>
          <a:ext cx="0" cy="0"/>
          <a:chOff x="0" y="0"/>
          <a:chExt cx="0" cy="0"/>
        </a:xfrm>
      </p:grpSpPr>
      <p:sp>
        <p:nvSpPr>
          <p:cNvPr id="2" name="Shape 0"/>
          <p:cNvSpPr/>
          <p:nvPr/>
        </p:nvSpPr>
        <p:spPr>
          <a:xfrm>
            <a:off x="548640" y="731520"/>
            <a:ext cx="8046720" cy="3657600"/>
          </a:xfrm>
          <a:prstGeom prst="roundRect">
            <a:avLst>
              <a:gd name="adj" fmla="val 3750"/>
            </a:avLst>
          </a:prstGeom>
          <a:solidFill>
            <a:srgbClr val="2D1B1B"/>
          </a:solidFill>
          <a:ln/>
        </p:spPr>
      </p:sp>
      <p:sp>
        <p:nvSpPr>
          <p:cNvPr id="3" name="Text 1"/>
          <p:cNvSpPr txBox="1"/>
          <p:nvPr/>
        </p:nvSpPr>
        <p:spPr>
          <a:xfrm>
            <a:off x="822960" y="914400"/>
            <a:ext cx="2743200" cy="411480"/>
          </a:xfrm>
          <a:prstGeom prst="rect">
            <a:avLst/>
          </a:prstGeom>
          <a:noFill/>
          <a:ln/>
        </p:spPr>
        <p:txBody>
          <a:bodyPr wrap="square" lIns="0" tIns="0" rIns="0" bIns="0" rtlCol="0" anchor="ctr"/>
          <a:lstStyle/>
          <a:p>
            <a:pPr indent="0" marL="0">
              <a:buNone/>
            </a:pPr>
            <a:r>
              <a:rPr lang="en-US" sz="1400" b="1" spc="300" kern="0" dirty="0">
                <a:solidFill>
                  <a:srgbClr val="EF4444"/>
                </a:solidFill>
                <a:latin typeface="Calibri" pitchFamily="34" charset="0"/>
                <a:ea typeface="Calibri" pitchFamily="34" charset="-122"/>
                <a:cs typeface="Calibri" pitchFamily="34" charset="-120"/>
              </a:rPr>
              <a:t>ATTENTION</a:t>
            </a:r>
            <a:endParaRPr lang="en-US" sz="1400" dirty="0"/>
          </a:p>
        </p:txBody>
      </p:sp>
      <p:sp>
        <p:nvSpPr>
          <p:cNvPr id="4" name="Text 2"/>
          <p:cNvSpPr txBox="1"/>
          <p:nvPr/>
        </p:nvSpPr>
        <p:spPr>
          <a:xfrm>
            <a:off x="822960" y="1371600"/>
            <a:ext cx="7498080" cy="2194560"/>
          </a:xfrm>
          <a:prstGeom prst="rect">
            <a:avLst/>
          </a:prstGeom>
          <a:noFill/>
          <a:ln/>
        </p:spPr>
        <p:txBody>
          <a:bodyPr wrap="square" lIns="0" tIns="0" rIns="0" bIns="0" rtlCol="0" anchor="t"/>
          <a:lstStyle/>
          <a:p>
            <a:pPr indent="0" marL="0">
              <a:buNone/>
            </a:pPr>
            <a:r>
              <a:rPr lang="en-US" sz="1300" dirty="0">
                <a:solidFill>
                  <a:srgbClr val="FCA5A5"/>
                </a:solidFill>
                <a:latin typeface="Calibri" pitchFamily="34" charset="0"/>
                <a:ea typeface="Calibri" pitchFamily="34" charset="-122"/>
                <a:cs typeface="Calibri" pitchFamily="34" charset="-120"/>
              </a:rPr>
              <a:t>• Frais : 3 à 30 USDT selon la congestion (attention !)</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Vitesse : 15 secondes à quelques minutes</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Le réseau le plus « universel », toujours accepté</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Recommandé uniquement pour de gros montants (&gt;500$) où les frais deviennent relativement faibles</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Adresse : commence par « 0x »</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419"/>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Module 6 termine</a:t>
            </a:r>
            <a:endParaRPr lang="en-US" sz="3000" dirty="0"/>
          </a:p>
        </p:txBody>
      </p:sp>
      <p:sp>
        <p:nvSpPr>
          <p:cNvPr id="3" name="Text 1"/>
          <p:cNvSpPr txBox="1"/>
          <p:nvPr/>
        </p:nvSpPr>
        <p:spPr>
          <a:xfrm>
            <a:off x="1371600" y="2194560"/>
            <a:ext cx="6400800" cy="45720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Passez au module suivant pour continuer votre apprentissage.</a:t>
            </a:r>
            <a:endParaRPr lang="en-US" sz="1400" dirty="0"/>
          </a:p>
        </p:txBody>
      </p:sp>
      <p:sp>
        <p:nvSpPr>
          <p:cNvPr id="4" name="Shape 2"/>
          <p:cNvSpPr/>
          <p:nvPr/>
        </p:nvSpPr>
        <p:spPr>
          <a:xfrm>
            <a:off x="3200400" y="2926080"/>
            <a:ext cx="2743200" cy="54864"/>
          </a:xfrm>
          <a:prstGeom prst="rect">
            <a:avLst/>
          </a:prstGeom>
          <a:solidFill>
            <a:srgbClr val="00BFA6"/>
          </a:solidFill>
          <a:ln/>
        </p:spPr>
      </p:sp>
      <p:sp>
        <p:nvSpPr>
          <p:cNvPr id="5" name="Text 3"/>
          <p:cNvSpPr txBox="1"/>
          <p:nvPr/>
        </p:nvSpPr>
        <p:spPr>
          <a:xfrm>
            <a:off x="2286000" y="3291840"/>
            <a:ext cx="4572000" cy="365760"/>
          </a:xfrm>
          <a:prstGeom prst="rect">
            <a:avLst/>
          </a:prstGeom>
          <a:noFill/>
          <a:ln/>
        </p:spPr>
        <p:txBody>
          <a:bodyPr wrap="square" lIns="0" tIns="0" rIns="0" bIns="0" rtlCol="0" anchor="ctr"/>
          <a:lstStyle/>
          <a:p>
            <a:pPr algn="ctr" indent="0" marL="0">
              <a:buNone/>
            </a:pPr>
            <a:r>
              <a:rPr lang="en-US" sz="1200" spc="300" kern="0" dirty="0">
                <a:solidFill>
                  <a:srgbClr val="64748B"/>
                </a:solidFill>
                <a:latin typeface="Calibri" pitchFamily="34" charset="0"/>
                <a:ea typeface="Calibri" pitchFamily="34" charset="-122"/>
                <a:cs typeface="Calibri" pitchFamily="34" charset="-120"/>
              </a:rPr>
              <a:t>TEREX ACADEMY</a:t>
            </a:r>
            <a:endParaRPr lang="en-US" sz="1200" dirty="0"/>
          </a:p>
        </p:txBody>
      </p:sp>
      <p:sp>
        <p:nvSpPr>
          <p:cNvPr id="6" name="Text 4"/>
          <p:cNvSpPr txBox="1"/>
          <p:nvPr/>
        </p:nvSpPr>
        <p:spPr>
          <a:xfrm>
            <a:off x="2286000" y="3657600"/>
            <a:ext cx="4572000" cy="320040"/>
          </a:xfrm>
          <a:prstGeom prst="rect">
            <a:avLst/>
          </a:prstGeom>
          <a:noFill/>
          <a:ln/>
        </p:spPr>
        <p:txBody>
          <a:bodyPr wrap="square" lIns="0" tIns="0" rIns="0" bIns="0" rtlCol="0" anchor="ctr"/>
          <a:lstStyle/>
          <a:p>
            <a:pPr algn="ctr" indent="0" marL="0">
              <a:buNone/>
            </a:pPr>
            <a:r>
              <a:rPr lang="en-US" sz="1100" dirty="0">
                <a:solidFill>
                  <a:srgbClr val="009E8B"/>
                </a:solidFill>
                <a:latin typeface="Calibri" pitchFamily="34" charset="0"/>
                <a:ea typeface="Calibri" pitchFamily="34" charset="-122"/>
                <a:cs typeface="Calibri" pitchFamily="34" charset="-120"/>
              </a:rPr>
              <a:t>terangaexchange.com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Terex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6 - Les stablecoins : USDT &amp; pourquoi c'est utile</dc:title>
  <dc:subject>Les stablecoins : USDT &amp; pourquoi c'est utile</dc:subject>
  <dc:creator>Terex Academy</dc:creator>
  <cp:lastModifiedBy>Terex Academy</cp:lastModifiedBy>
  <cp:revision>1</cp:revision>
  <dcterms:created xsi:type="dcterms:W3CDTF">2026-09-07T00:45:14Z</dcterms:created>
  <dcterms:modified xsi:type="dcterms:W3CDTF">2026-09-07T00:45:14Z</dcterms:modified>
</cp:coreProperties>
</file>