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1.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slideLayout" Target="../slideLayouts/slideLayout1.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slideLayout" Target="../slideLayouts/slideLayout1.xml"/><Relationship Id="rId7"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slideLayout" Target="../slideLayouts/slideLayout1.xml"/><Relationship Id="rId5"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214"/>
        </a:solidFill>
      </p:bgPr>
    </p:bg>
    <p:spTree>
      <p:nvGrpSpPr>
        <p:cNvPr id="1" name=""/>
        <p:cNvGrpSpPr/>
        <p:nvPr/>
      </p:nvGrpSpPr>
      <p:grpSpPr>
        <a:xfrm>
          <a:off x="0" y="0"/>
          <a:ext cx="0" cy="0"/>
          <a:chOff x="0" y="0"/>
          <a:chExt cx="0" cy="0"/>
        </a:xfrm>
      </p:grpSpPr>
      <p:sp>
        <p:nvSpPr>
          <p:cNvPr id="2" name="Shape 0"/>
          <p:cNvSpPr/>
          <p:nvPr/>
        </p:nvSpPr>
        <p:spPr>
          <a:xfrm>
            <a:off x="6400800" y="-457200"/>
            <a:ext cx="3657600" cy="3657600"/>
          </a:xfrm>
          <a:prstGeom prst="ellipse">
            <a:avLst/>
          </a:prstGeom>
          <a:solidFill>
            <a:srgbClr val="3B968F">
              <a:alpha val="8000"/>
            </a:srgbClr>
          </a:solidFill>
          <a:ln/>
        </p:spPr>
      </p:sp>
      <p:sp>
        <p:nvSpPr>
          <p:cNvPr id="3" name="Shape 1"/>
          <p:cNvSpPr/>
          <p:nvPr/>
        </p:nvSpPr>
        <p:spPr>
          <a:xfrm>
            <a:off x="7315200" y="2286000"/>
            <a:ext cx="2743200" cy="2743200"/>
          </a:xfrm>
          <a:prstGeom prst="ellipse">
            <a:avLst/>
          </a:prstGeom>
          <a:solidFill>
            <a:srgbClr val="3B968F">
              <a:alpha val="5000"/>
            </a:srgbClr>
          </a:solidFill>
          <a:ln/>
        </p:spPr>
      </p:sp>
      <p:sp>
        <p:nvSpPr>
          <p:cNvPr id="4" name="Shape 2"/>
          <p:cNvSpPr/>
          <p:nvPr/>
        </p:nvSpPr>
        <p:spPr>
          <a:xfrm>
            <a:off x="0" y="0"/>
            <a:ext cx="9144000" cy="45720"/>
          </a:xfrm>
          <a:prstGeom prst="rect">
            <a:avLst/>
          </a:prstGeom>
          <a:solidFill>
            <a:srgbClr val="3B968F"/>
          </a:solidFill>
          <a:ln/>
        </p:spPr>
      </p:sp>
      <p:pic>
        <p:nvPicPr>
          <p:cNvPr id="5" name="Image 0" descr="preencoded.png">    </p:cNvPr>
          <p:cNvPicPr>
            <a:picLocks noChangeAspect="1"/>
          </p:cNvPicPr>
          <p:nvPr/>
        </p:nvPicPr>
        <p:blipFill>
          <a:blip r:embed="rId1"/>
          <a:stretch>
            <a:fillRect/>
          </a:stretch>
        </p:blipFill>
        <p:spPr>
          <a:xfrm>
            <a:off x="7132320" y="1097280"/>
            <a:ext cx="1463040" cy="1463040"/>
          </a:xfrm>
          <a:prstGeom prst="rect">
            <a:avLst/>
          </a:prstGeom>
        </p:spPr>
      </p:pic>
      <p:sp>
        <p:nvSpPr>
          <p:cNvPr id="6" name="Text 3"/>
          <p:cNvSpPr txBox="1"/>
          <p:nvPr/>
        </p:nvSpPr>
        <p:spPr>
          <a:xfrm>
            <a:off x="731520" y="914400"/>
            <a:ext cx="2286000" cy="365760"/>
          </a:xfrm>
          <a:prstGeom prst="rect">
            <a:avLst/>
          </a:prstGeom>
          <a:noFill/>
          <a:ln/>
        </p:spPr>
        <p:txBody>
          <a:bodyPr wrap="square" lIns="0" tIns="0" rIns="0" bIns="0" rtlCol="0" anchor="ctr"/>
          <a:lstStyle/>
          <a:p>
            <a:pPr indent="0" marL="0">
              <a:buNone/>
            </a:pPr>
            <a:r>
              <a:rPr lang="en-US" sz="1300" b="1" spc="400" kern="0" dirty="0">
                <a:solidFill>
                  <a:srgbClr val="3B968F"/>
                </a:solidFill>
                <a:latin typeface="Calibri" pitchFamily="34" charset="0"/>
                <a:ea typeface="Calibri" pitchFamily="34" charset="-122"/>
                <a:cs typeface="Calibri" pitchFamily="34" charset="-120"/>
              </a:rPr>
              <a:t>MODULE 6</a:t>
            </a:r>
            <a:endParaRPr lang="en-US" sz="1300" dirty="0"/>
          </a:p>
        </p:txBody>
      </p:sp>
      <p:sp>
        <p:nvSpPr>
          <p:cNvPr id="7" name="Text 4"/>
          <p:cNvSpPr txBox="1"/>
          <p:nvPr/>
        </p:nvSpPr>
        <p:spPr>
          <a:xfrm>
            <a:off x="731520" y="1371600"/>
            <a:ext cx="5943600" cy="1645920"/>
          </a:xfrm>
          <a:prstGeom prst="rect">
            <a:avLst/>
          </a:prstGeom>
          <a:noFill/>
          <a:ln/>
        </p:spPr>
        <p:txBody>
          <a:bodyPr wrap="square" lIns="0" tIns="0" rIns="0" bIns="0" rtlCol="0" anchor="t"/>
          <a:lstStyle/>
          <a:p>
            <a:pPr indent="0" marL="0">
              <a:buNone/>
            </a:pPr>
            <a:r>
              <a:rPr lang="en-US" sz="3600" b="1" dirty="0">
                <a:solidFill>
                  <a:srgbClr val="FFFFFF"/>
                </a:solidFill>
                <a:latin typeface="Calibri" pitchFamily="34" charset="0"/>
                <a:ea typeface="Calibri" pitchFamily="34" charset="-122"/>
                <a:cs typeface="Calibri" pitchFamily="34" charset="-120"/>
              </a:rPr>
              <a:t>Les stablecoins : USDT &amp; pourquoi c'est utile</a:t>
            </a:r>
            <a:endParaRPr lang="en-US" sz="3600" dirty="0"/>
          </a:p>
        </p:txBody>
      </p:sp>
      <p:sp>
        <p:nvSpPr>
          <p:cNvPr id="8" name="Shape 5"/>
          <p:cNvSpPr/>
          <p:nvPr/>
        </p:nvSpPr>
        <p:spPr>
          <a:xfrm>
            <a:off x="731520" y="3291840"/>
            <a:ext cx="1828800" cy="36576"/>
          </a:xfrm>
          <a:prstGeom prst="rect">
            <a:avLst/>
          </a:prstGeom>
          <a:solidFill>
            <a:srgbClr val="3B968F"/>
          </a:solidFill>
          <a:ln/>
        </p:spPr>
      </p:sp>
      <p:sp>
        <p:nvSpPr>
          <p:cNvPr id="9" name="Text 6"/>
          <p:cNvSpPr txBox="1"/>
          <p:nvPr/>
        </p:nvSpPr>
        <p:spPr>
          <a:xfrm>
            <a:off x="731520" y="3566160"/>
            <a:ext cx="2743200" cy="320040"/>
          </a:xfrm>
          <a:prstGeom prst="rect">
            <a:avLst/>
          </a:prstGeom>
          <a:noFill/>
          <a:ln/>
        </p:spPr>
        <p:txBody>
          <a:bodyPr wrap="square" lIns="0" tIns="0" rIns="0" bIns="0" rtlCol="0" anchor="ctr"/>
          <a:lstStyle/>
          <a:p>
            <a:pPr indent="0" marL="0">
              <a:buNone/>
            </a:pPr>
            <a:r>
              <a:rPr lang="en-US" sz="1100" spc="300" kern="0" dirty="0">
                <a:solidFill>
                  <a:srgbClr val="5B6672"/>
                </a:solidFill>
                <a:latin typeface="Calibri" pitchFamily="34" charset="0"/>
                <a:ea typeface="Calibri" pitchFamily="34" charset="-122"/>
                <a:cs typeface="Calibri" pitchFamily="34" charset="-120"/>
              </a:rPr>
              <a:t>TEREX ACADEMY</a:t>
            </a:r>
            <a:endParaRPr lang="en-US" sz="1100" dirty="0"/>
          </a:p>
        </p:txBody>
      </p:sp>
      <p:sp>
        <p:nvSpPr>
          <p:cNvPr id="10" name="Text 7"/>
          <p:cNvSpPr txBox="1"/>
          <p:nvPr/>
        </p:nvSpPr>
        <p:spPr>
          <a:xfrm>
            <a:off x="731520" y="3931920"/>
            <a:ext cx="3657600" cy="274320"/>
          </a:xfrm>
          <a:prstGeom prst="rect">
            <a:avLst/>
          </a:prstGeom>
          <a:noFill/>
          <a:ln/>
        </p:spPr>
        <p:txBody>
          <a:bodyPr wrap="square" lIns="0" tIns="0" rIns="0" bIns="0" rtlCol="0" anchor="ctr"/>
          <a:lstStyle/>
          <a:p>
            <a:pPr indent="0" marL="0">
              <a:buNone/>
            </a:pPr>
            <a:r>
              <a:rPr lang="en-US" sz="1100" dirty="0">
                <a:solidFill>
                  <a:srgbClr val="8994A0"/>
                </a:solidFill>
                <a:latin typeface="Calibri" pitchFamily="34" charset="0"/>
                <a:ea typeface="Calibri" pitchFamily="34" charset="-122"/>
                <a:cs typeface="Calibri" pitchFamily="34" charset="-120"/>
              </a:rPr>
              <a:t>Formation Crypto &amp; Blockchain</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F1214"/>
        </a:solidFill>
      </p:bgPr>
    </p:bg>
    <p:spTree>
      <p:nvGrpSpPr>
        <p:cNvPr id="1" name=""/>
        <p:cNvGrpSpPr/>
        <p:nvPr/>
      </p:nvGrpSpPr>
      <p:grpSpPr>
        <a:xfrm>
          <a:off x="0" y="0"/>
          <a:ext cx="0" cy="0"/>
          <a:chOff x="0" y="0"/>
          <a:chExt cx="0" cy="0"/>
        </a:xfrm>
      </p:grpSpPr>
      <p:sp>
        <p:nvSpPr>
          <p:cNvPr id="2" name="Text 0"/>
          <p:cNvSpPr txBox="1"/>
          <p:nvPr/>
        </p:nvSpPr>
        <p:spPr>
          <a:xfrm>
            <a:off x="731520" y="365760"/>
            <a:ext cx="2743200" cy="320040"/>
          </a:xfrm>
          <a:prstGeom prst="rect">
            <a:avLst/>
          </a:prstGeom>
          <a:noFill/>
          <a:ln/>
        </p:spPr>
        <p:txBody>
          <a:bodyPr wrap="square" lIns="0" tIns="0" rIns="0" bIns="0" rtlCol="0" anchor="ctr"/>
          <a:lstStyle/>
          <a:p>
            <a:pPr indent="0" marL="0">
              <a:buNone/>
            </a:pPr>
            <a:r>
              <a:rPr lang="en-US" sz="1200" b="1" spc="300" kern="0" dirty="0">
                <a:solidFill>
                  <a:srgbClr val="3B968F"/>
                </a:solidFill>
                <a:latin typeface="Calibri" pitchFamily="34" charset="0"/>
                <a:ea typeface="Calibri" pitchFamily="34" charset="-122"/>
                <a:cs typeface="Calibri" pitchFamily="34" charset="-120"/>
              </a:rPr>
              <a:t>SOMMAIRE</a:t>
            </a:r>
            <a:endParaRPr lang="en-US" sz="1200" dirty="0"/>
          </a:p>
        </p:txBody>
      </p:sp>
      <p:sp>
        <p:nvSpPr>
          <p:cNvPr id="3" name="Text 1"/>
          <p:cNvSpPr txBox="1"/>
          <p:nvPr/>
        </p:nvSpPr>
        <p:spPr>
          <a:xfrm>
            <a:off x="731520" y="731520"/>
            <a:ext cx="4572000" cy="45720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Module 6</a:t>
            </a:r>
            <a:endParaRPr lang="en-US" sz="2200" dirty="0"/>
          </a:p>
        </p:txBody>
      </p:sp>
      <p:sp>
        <p:nvSpPr>
          <p:cNvPr id="4" name="Shape 2"/>
          <p:cNvSpPr/>
          <p:nvPr/>
        </p:nvSpPr>
        <p:spPr>
          <a:xfrm>
            <a:off x="731520" y="1371600"/>
            <a:ext cx="7680960" cy="475488"/>
          </a:xfrm>
          <a:prstGeom prst="roundRect">
            <a:avLst>
              <a:gd name="adj" fmla="val 15385"/>
            </a:avLst>
          </a:prstGeom>
          <a:solidFill>
            <a:srgbClr val="1A2026"/>
          </a:solidFill>
          <a:ln/>
        </p:spPr>
      </p:sp>
      <p:sp>
        <p:nvSpPr>
          <p:cNvPr id="5" name="Text 3"/>
          <p:cNvSpPr txBox="1"/>
          <p:nvPr/>
        </p:nvSpPr>
        <p:spPr>
          <a:xfrm>
            <a:off x="868680" y="1371600"/>
            <a:ext cx="320040" cy="475488"/>
          </a:xfrm>
          <a:prstGeom prst="rect">
            <a:avLst/>
          </a:prstGeom>
          <a:noFill/>
          <a:ln/>
        </p:spPr>
        <p:txBody>
          <a:bodyPr wrap="square" lIns="0" tIns="0" rIns="0" bIns="0" rtlCol="0" anchor="ctr"/>
          <a:lstStyle/>
          <a:p>
            <a:pPr algn="ctr" indent="0" marL="0">
              <a:buNone/>
            </a:pPr>
            <a:r>
              <a:rPr lang="en-US" sz="1300" b="1" dirty="0">
                <a:solidFill>
                  <a:srgbClr val="3B968F"/>
                </a:solidFill>
                <a:latin typeface="Calibri" pitchFamily="34" charset="0"/>
                <a:ea typeface="Calibri" pitchFamily="34" charset="-122"/>
                <a:cs typeface="Calibri" pitchFamily="34" charset="-120"/>
              </a:rPr>
              <a:t>1</a:t>
            </a:r>
            <a:endParaRPr lang="en-US" sz="1300" dirty="0"/>
          </a:p>
        </p:txBody>
      </p:sp>
      <p:pic>
        <p:nvPicPr>
          <p:cNvPr id="6" name="Image 0" descr="preencoded.png">    </p:cNvPr>
          <p:cNvPicPr>
            <a:picLocks noChangeAspect="1"/>
          </p:cNvPicPr>
          <p:nvPr/>
        </p:nvPicPr>
        <p:blipFill>
          <a:blip r:embed="rId1"/>
          <a:stretch>
            <a:fillRect/>
          </a:stretch>
        </p:blipFill>
        <p:spPr>
          <a:xfrm>
            <a:off x="1280160" y="1444752"/>
            <a:ext cx="329184" cy="329184"/>
          </a:xfrm>
          <a:prstGeom prst="rect">
            <a:avLst/>
          </a:prstGeom>
        </p:spPr>
      </p:pic>
      <p:sp>
        <p:nvSpPr>
          <p:cNvPr id="7" name="Text 4"/>
          <p:cNvSpPr txBox="1"/>
          <p:nvPr/>
        </p:nvSpPr>
        <p:spPr>
          <a:xfrm>
            <a:off x="1737360" y="1371600"/>
            <a:ext cx="6492240" cy="475488"/>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Qu'est-ce qu'un stablecoin ?</a:t>
            </a:r>
            <a:endParaRPr lang="en-US" sz="1300" dirty="0"/>
          </a:p>
        </p:txBody>
      </p:sp>
      <p:sp>
        <p:nvSpPr>
          <p:cNvPr id="8" name="Shape 5"/>
          <p:cNvSpPr/>
          <p:nvPr/>
        </p:nvSpPr>
        <p:spPr>
          <a:xfrm>
            <a:off x="731520" y="1920240"/>
            <a:ext cx="7680960" cy="475488"/>
          </a:xfrm>
          <a:prstGeom prst="roundRect">
            <a:avLst>
              <a:gd name="adj" fmla="val 15385"/>
            </a:avLst>
          </a:prstGeom>
          <a:solidFill>
            <a:srgbClr val="1A2026"/>
          </a:solidFill>
          <a:ln/>
        </p:spPr>
      </p:sp>
      <p:sp>
        <p:nvSpPr>
          <p:cNvPr id="9" name="Text 6"/>
          <p:cNvSpPr txBox="1"/>
          <p:nvPr/>
        </p:nvSpPr>
        <p:spPr>
          <a:xfrm>
            <a:off x="868680" y="1920240"/>
            <a:ext cx="320040" cy="475488"/>
          </a:xfrm>
          <a:prstGeom prst="rect">
            <a:avLst/>
          </a:prstGeom>
          <a:noFill/>
          <a:ln/>
        </p:spPr>
        <p:txBody>
          <a:bodyPr wrap="square" lIns="0" tIns="0" rIns="0" bIns="0" rtlCol="0" anchor="ctr"/>
          <a:lstStyle/>
          <a:p>
            <a:pPr algn="ctr" indent="0" marL="0">
              <a:buNone/>
            </a:pPr>
            <a:r>
              <a:rPr lang="en-US" sz="1300" b="1" dirty="0">
                <a:solidFill>
                  <a:srgbClr val="3B968F"/>
                </a:solidFill>
                <a:latin typeface="Calibri" pitchFamily="34" charset="0"/>
                <a:ea typeface="Calibri" pitchFamily="34" charset="-122"/>
                <a:cs typeface="Calibri" pitchFamily="34" charset="-120"/>
              </a:rPr>
              <a:t>2</a:t>
            </a:r>
            <a:endParaRPr lang="en-US" sz="1300" dirty="0"/>
          </a:p>
        </p:txBody>
      </p:sp>
      <p:pic>
        <p:nvPicPr>
          <p:cNvPr id="10" name="Image 1" descr="preencoded.png">    </p:cNvPr>
          <p:cNvPicPr>
            <a:picLocks noChangeAspect="1"/>
          </p:cNvPicPr>
          <p:nvPr/>
        </p:nvPicPr>
        <p:blipFill>
          <a:blip r:embed="rId2"/>
          <a:stretch>
            <a:fillRect/>
          </a:stretch>
        </p:blipFill>
        <p:spPr>
          <a:xfrm>
            <a:off x="1280160" y="1993392"/>
            <a:ext cx="329184" cy="329184"/>
          </a:xfrm>
          <a:prstGeom prst="rect">
            <a:avLst/>
          </a:prstGeom>
        </p:spPr>
      </p:pic>
      <p:sp>
        <p:nvSpPr>
          <p:cNvPr id="11" name="Text 7"/>
          <p:cNvSpPr txBox="1"/>
          <p:nvPr/>
        </p:nvSpPr>
        <p:spPr>
          <a:xfrm>
            <a:off x="1737360" y="1920240"/>
            <a:ext cx="6492240" cy="475488"/>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USDT — le pilier de l'échange</a:t>
            </a:r>
            <a:endParaRPr lang="en-US" sz="1300" dirty="0"/>
          </a:p>
        </p:txBody>
      </p:sp>
      <p:sp>
        <p:nvSpPr>
          <p:cNvPr id="12" name="Shape 8"/>
          <p:cNvSpPr/>
          <p:nvPr/>
        </p:nvSpPr>
        <p:spPr>
          <a:xfrm>
            <a:off x="731520" y="2468880"/>
            <a:ext cx="7680960" cy="475488"/>
          </a:xfrm>
          <a:prstGeom prst="roundRect">
            <a:avLst>
              <a:gd name="adj" fmla="val 15385"/>
            </a:avLst>
          </a:prstGeom>
          <a:solidFill>
            <a:srgbClr val="1A2026"/>
          </a:solidFill>
          <a:ln/>
        </p:spPr>
      </p:sp>
      <p:sp>
        <p:nvSpPr>
          <p:cNvPr id="13" name="Text 9"/>
          <p:cNvSpPr txBox="1"/>
          <p:nvPr/>
        </p:nvSpPr>
        <p:spPr>
          <a:xfrm>
            <a:off x="868680" y="2468880"/>
            <a:ext cx="320040" cy="475488"/>
          </a:xfrm>
          <a:prstGeom prst="rect">
            <a:avLst/>
          </a:prstGeom>
          <a:noFill/>
          <a:ln/>
        </p:spPr>
        <p:txBody>
          <a:bodyPr wrap="square" lIns="0" tIns="0" rIns="0" bIns="0" rtlCol="0" anchor="ctr"/>
          <a:lstStyle/>
          <a:p>
            <a:pPr algn="ctr" indent="0" marL="0">
              <a:buNone/>
            </a:pPr>
            <a:r>
              <a:rPr lang="en-US" sz="1300" b="1" dirty="0">
                <a:solidFill>
                  <a:srgbClr val="3B968F"/>
                </a:solidFill>
                <a:latin typeface="Calibri" pitchFamily="34" charset="0"/>
                <a:ea typeface="Calibri" pitchFamily="34" charset="-122"/>
                <a:cs typeface="Calibri" pitchFamily="34" charset="-120"/>
              </a:rPr>
              <a:t>3</a:t>
            </a:r>
            <a:endParaRPr lang="en-US" sz="1300" dirty="0"/>
          </a:p>
        </p:txBody>
      </p:sp>
      <p:pic>
        <p:nvPicPr>
          <p:cNvPr id="14" name="Image 2" descr="preencoded.png">    </p:cNvPr>
          <p:cNvPicPr>
            <a:picLocks noChangeAspect="1"/>
          </p:cNvPicPr>
          <p:nvPr/>
        </p:nvPicPr>
        <p:blipFill>
          <a:blip r:embed="rId3"/>
          <a:stretch>
            <a:fillRect/>
          </a:stretch>
        </p:blipFill>
        <p:spPr>
          <a:xfrm>
            <a:off x="1280160" y="2542032"/>
            <a:ext cx="329184" cy="329184"/>
          </a:xfrm>
          <a:prstGeom prst="rect">
            <a:avLst/>
          </a:prstGeom>
        </p:spPr>
      </p:pic>
      <p:sp>
        <p:nvSpPr>
          <p:cNvPr id="15" name="Text 10"/>
          <p:cNvSpPr txBox="1"/>
          <p:nvPr/>
        </p:nvSpPr>
        <p:spPr>
          <a:xfrm>
            <a:off x="1737360" y="2468880"/>
            <a:ext cx="6492240" cy="475488"/>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TRC20, ERC20, BEP20 — comment choisir ?</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2181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0" y="548640"/>
            <a:ext cx="1280160" cy="1280160"/>
          </a:xfrm>
          <a:prstGeom prst="rect">
            <a:avLst/>
          </a:prstGeom>
        </p:spPr>
      </p:pic>
      <p:pic>
        <p:nvPicPr>
          <p:cNvPr id="3" name="Image 1" descr="preencoded.png">    </p:cNvPr>
          <p:cNvPicPr>
            <a:picLocks noChangeAspect="1"/>
          </p:cNvPicPr>
          <p:nvPr/>
        </p:nvPicPr>
        <p:blipFill>
          <a:blip r:embed="rId2"/>
          <a:stretch>
            <a:fillRect/>
          </a:stretch>
        </p:blipFill>
        <p:spPr>
          <a:xfrm>
            <a:off x="7772400" y="2011680"/>
            <a:ext cx="822960" cy="822960"/>
          </a:xfrm>
          <a:prstGeom prst="rect">
            <a:avLst/>
          </a:prstGeom>
        </p:spPr>
      </p:pic>
      <p:sp>
        <p:nvSpPr>
          <p:cNvPr id="4" name="Shape 0"/>
          <p:cNvSpPr/>
          <p:nvPr/>
        </p:nvSpPr>
        <p:spPr>
          <a:xfrm>
            <a:off x="6583680" y="-274320"/>
            <a:ext cx="3200400" cy="3200400"/>
          </a:xfrm>
          <a:prstGeom prst="ellipse">
            <a:avLst/>
          </a:prstGeom>
          <a:solidFill>
            <a:srgbClr val="3B968F">
              <a:alpha val="6000"/>
            </a:srgbClr>
          </a:solidFill>
          <a:ln/>
        </p:spPr>
      </p:sp>
      <p:sp>
        <p:nvSpPr>
          <p:cNvPr id="5" name="Shape 1"/>
          <p:cNvSpPr/>
          <p:nvPr/>
        </p:nvSpPr>
        <p:spPr>
          <a:xfrm>
            <a:off x="731520" y="914400"/>
            <a:ext cx="45720" cy="2194560"/>
          </a:xfrm>
          <a:prstGeom prst="rect">
            <a:avLst/>
          </a:prstGeom>
          <a:solidFill>
            <a:srgbClr val="3B968F"/>
          </a:solidFill>
          <a:ln/>
        </p:spPr>
      </p:sp>
      <p:sp>
        <p:nvSpPr>
          <p:cNvPr id="6" name="Text 2"/>
          <p:cNvSpPr txBox="1"/>
          <p:nvPr/>
        </p:nvSpPr>
        <p:spPr>
          <a:xfrm>
            <a:off x="960120" y="914400"/>
            <a:ext cx="2743200" cy="365760"/>
          </a:xfrm>
          <a:prstGeom prst="rect">
            <a:avLst/>
          </a:prstGeom>
          <a:noFill/>
          <a:ln/>
        </p:spPr>
        <p:txBody>
          <a:bodyPr wrap="square" lIns="0" tIns="0" rIns="0" bIns="0" rtlCol="0" anchor="ctr"/>
          <a:lstStyle/>
          <a:p>
            <a:pPr indent="0" marL="0">
              <a:buNone/>
            </a:pPr>
            <a:r>
              <a:rPr lang="en-US" sz="1200" b="1" spc="200" kern="0" dirty="0">
                <a:solidFill>
                  <a:srgbClr val="3B968F"/>
                </a:solidFill>
                <a:latin typeface="Calibri" pitchFamily="34" charset="0"/>
                <a:ea typeface="Calibri" pitchFamily="34" charset="-122"/>
                <a:cs typeface="Calibri" pitchFamily="34" charset="-120"/>
              </a:rPr>
              <a:t>Leçon 1 / 3</a:t>
            </a:r>
            <a:endParaRPr lang="en-US" sz="1200" dirty="0"/>
          </a:p>
        </p:txBody>
      </p:sp>
      <p:sp>
        <p:nvSpPr>
          <p:cNvPr id="7" name="Text 3"/>
          <p:cNvSpPr txBox="1"/>
          <p:nvPr/>
        </p:nvSpPr>
        <p:spPr>
          <a:xfrm>
            <a:off x="960120" y="1371600"/>
            <a:ext cx="6217920" cy="1463040"/>
          </a:xfrm>
          <a:prstGeom prst="rect">
            <a:avLst/>
          </a:prstGeom>
          <a:noFill/>
          <a:ln/>
        </p:spPr>
        <p:txBody>
          <a:bodyPr wrap="square" lIns="0" tIns="0" rIns="0" bIns="0" rtlCol="0" anchor="t"/>
          <a:lstStyle/>
          <a:p>
            <a:pPr indent="0" marL="0">
              <a:buNone/>
            </a:pPr>
            <a:r>
              <a:rPr lang="en-US" sz="2800" b="1" dirty="0">
                <a:solidFill>
                  <a:srgbClr val="FFFFFF"/>
                </a:solidFill>
                <a:latin typeface="Calibri" pitchFamily="34" charset="0"/>
                <a:ea typeface="Calibri" pitchFamily="34" charset="-122"/>
                <a:cs typeface="Calibri" pitchFamily="34" charset="-120"/>
              </a:rPr>
              <a:t>Qu'est-ce qu'un stablecoin ?</a:t>
            </a:r>
            <a:endParaRPr lang="en-US" sz="2800" dirty="0"/>
          </a:p>
        </p:txBody>
      </p:sp>
      <p:sp>
        <p:nvSpPr>
          <p:cNvPr id="8" name="Text 4"/>
          <p:cNvSpPr txBox="1"/>
          <p:nvPr/>
        </p:nvSpPr>
        <p:spPr>
          <a:xfrm>
            <a:off x="960120" y="4114800"/>
            <a:ext cx="5486400" cy="320040"/>
          </a:xfrm>
          <a:prstGeom prst="rect">
            <a:avLst/>
          </a:prstGeom>
          <a:noFill/>
          <a:ln/>
        </p:spPr>
        <p:txBody>
          <a:bodyPr wrap="square" lIns="0" tIns="0" rIns="0" bIns="0" rtlCol="0" anchor="ctr"/>
          <a:lstStyle/>
          <a:p>
            <a:pPr indent="0" marL="0">
              <a:buNone/>
            </a:pPr>
            <a:r>
              <a:rPr lang="en-US" sz="1100" dirty="0">
                <a:solidFill>
                  <a:srgbClr val="5B6672"/>
                </a:solidFill>
                <a:latin typeface="Calibri" pitchFamily="34" charset="0"/>
                <a:ea typeface="Calibri" pitchFamily="34" charset="-122"/>
                <a:cs typeface="Calibri" pitchFamily="34" charset="-120"/>
              </a:rPr>
              <a:t>Les stablecoins : USDT &amp; pourquoi c'est utile</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F1214"/>
        </a:solidFill>
      </p:bgPr>
    </p:bg>
    <p:spTree>
      <p:nvGrpSpPr>
        <p:cNvPr id="1" name=""/>
        <p:cNvGrpSpPr/>
        <p:nvPr/>
      </p:nvGrpSpPr>
      <p:grpSpPr>
        <a:xfrm>
          <a:off x="0" y="0"/>
          <a:ext cx="0" cy="0"/>
          <a:chOff x="0" y="0"/>
          <a:chExt cx="0" cy="0"/>
        </a:xfrm>
      </p:grpSpPr>
      <p:sp>
        <p:nvSpPr>
          <p:cNvPr id="2" name="Shape 0"/>
          <p:cNvSpPr/>
          <p:nvPr/>
        </p:nvSpPr>
        <p:spPr>
          <a:xfrm>
            <a:off x="7955280" y="182880"/>
            <a:ext cx="640080" cy="640080"/>
          </a:xfrm>
          <a:prstGeom prst="ellipse">
            <a:avLst/>
          </a:prstGeom>
          <a:solidFill>
            <a:srgbClr val="3B968F">
              <a:alpha val="12000"/>
            </a:srgbClr>
          </a:solidFill>
          <a:ln/>
        </p:spPr>
      </p:sp>
      <p:pic>
        <p:nvPicPr>
          <p:cNvPr id="3" name="Image 0" descr="preencoded.png">    </p:cNvPr>
          <p:cNvPicPr>
            <a:picLocks noChangeAspect="1"/>
          </p:cNvPicPr>
          <p:nvPr/>
        </p:nvPicPr>
        <p:blipFill>
          <a:blip r:embed="rId1"/>
          <a:stretch>
            <a:fillRect/>
          </a:stretch>
        </p:blipFill>
        <p:spPr>
          <a:xfrm>
            <a:off x="8028432" y="256032"/>
            <a:ext cx="493776" cy="493776"/>
          </a:xfrm>
          <a:prstGeom prst="rect">
            <a:avLst/>
          </a:prstGeom>
        </p:spPr>
      </p:pic>
      <p:sp>
        <p:nvSpPr>
          <p:cNvPr id="4" name="Text 1"/>
          <p:cNvSpPr txBox="1"/>
          <p:nvPr/>
        </p:nvSpPr>
        <p:spPr>
          <a:xfrm>
            <a:off x="731520" y="457200"/>
            <a:ext cx="7680960" cy="365760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Un stablecoin est une cryptomonnaie dont le prix est stable par construction — parce qu'il est adossé à un actif traditionnel, généralement le dollar américain.</a:t>
            </a:r>
            <a:endParaRPr lang="en-US" sz="1400" dirty="0"/>
          </a:p>
        </p:txBody>
      </p:sp>
      <p:sp>
        <p:nvSpPr>
          <p:cNvPr id="5" name="Text 2"/>
          <p:cNvSpPr txBox="1"/>
          <p:nvPr/>
        </p:nvSpPr>
        <p:spPr>
          <a:xfrm>
            <a:off x="731520" y="4709160"/>
            <a:ext cx="7680960" cy="274320"/>
          </a:xfrm>
          <a:prstGeom prst="rect">
            <a:avLst/>
          </a:prstGeom>
          <a:noFill/>
          <a:ln/>
        </p:spPr>
        <p:txBody>
          <a:bodyPr wrap="square" lIns="0" tIns="0" rIns="0" bIns="0" rtlCol="0" anchor="ctr"/>
          <a:lstStyle/>
          <a:p>
            <a:pPr algn="r" indent="0" marL="0">
              <a:buNone/>
            </a:pPr>
            <a:r>
              <a:rPr lang="en-US" sz="900" dirty="0">
                <a:solidFill>
                  <a:srgbClr val="5B6672"/>
                </a:solidFill>
                <a:latin typeface="Calibri" pitchFamily="34" charset="0"/>
                <a:ea typeface="Calibri" pitchFamily="34" charset="-122"/>
                <a:cs typeface="Calibri" pitchFamily="34" charset="-120"/>
              </a:rPr>
              <a:t>Module 6 — Leçon 1</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F1214"/>
        </a:solidFill>
      </p:bgPr>
    </p:bg>
    <p:spTree>
      <p:nvGrpSpPr>
        <p:cNvPr id="1" name=""/>
        <p:cNvGrpSpPr/>
        <p:nvPr/>
      </p:nvGrpSpPr>
      <p:grpSpPr>
        <a:xfrm>
          <a:off x="0" y="0"/>
          <a:ext cx="0" cy="0"/>
          <a:chOff x="0" y="0"/>
          <a:chExt cx="0" cy="0"/>
        </a:xfrm>
      </p:grpSpPr>
      <p:sp>
        <p:nvSpPr>
          <p:cNvPr id="2" name="Text 0"/>
          <p:cNvSpPr txBox="1"/>
          <p:nvPr/>
        </p:nvSpPr>
        <p:spPr>
          <a:xfrm>
            <a:off x="731520" y="274320"/>
            <a:ext cx="7680960" cy="502920"/>
          </a:xfrm>
          <a:prstGeom prst="rect">
            <a:avLst/>
          </a:prstGeom>
          <a:noFill/>
          <a:ln/>
        </p:spPr>
        <p:txBody>
          <a:bodyPr wrap="square" lIns="0" tIns="0" rIns="0" bIns="0" rtlCol="0" anchor="ctr"/>
          <a:lstStyle/>
          <a:p>
            <a:pPr indent="0" marL="0">
              <a:buNone/>
            </a:pPr>
            <a:r>
              <a:rPr lang="en-US" sz="2000" b="1" dirty="0">
                <a:solidFill>
                  <a:srgbClr val="3B968F"/>
                </a:solidFill>
                <a:latin typeface="Calibri" pitchFamily="34" charset="0"/>
                <a:ea typeface="Calibri" pitchFamily="34" charset="-122"/>
                <a:cs typeface="Calibri" pitchFamily="34" charset="-120"/>
              </a:rPr>
              <a:t>Le problème que ça résout</a:t>
            </a:r>
            <a:endParaRPr lang="en-US" sz="2000" dirty="0"/>
          </a:p>
        </p:txBody>
      </p:sp>
      <p:sp>
        <p:nvSpPr>
          <p:cNvPr id="3" name="Text 1"/>
          <p:cNvSpPr txBox="1"/>
          <p:nvPr/>
        </p:nvSpPr>
        <p:spPr>
          <a:xfrm>
            <a:off x="731520" y="1005840"/>
            <a:ext cx="4206240" cy="347472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FFFFFF"/>
                </a:solidFill>
                <a:latin typeface="Calibri" pitchFamily="34" charset="0"/>
                <a:ea typeface="Calibri" pitchFamily="34" charset="-122"/>
                <a:cs typeface="Calibri" pitchFamily="34" charset="-120"/>
              </a:rPr>
              <a:t>Bitcoin peut monter de 20% en une semaine. Ethereum peut chuter de 15% en un jour. Ces variations sont excellentes po...</a:t>
            </a:r>
            <a:endParaRPr lang="en-US" sz="1300" dirty="0"/>
          </a:p>
          <a:p>
            <a:pPr marL="342900" indent="-342900">
              <a:spcAft>
                <a:spcPts val="600"/>
              </a:spcAft>
              <a:buSzPct val="100000"/>
              <a:buChar char="•"/>
            </a:pPr>
            <a:r>
              <a:rPr lang="en-US" sz="1300" dirty="0">
                <a:solidFill>
                  <a:srgbClr val="FFFFFF"/>
                </a:solidFill>
                <a:latin typeface="Calibri" pitchFamily="34" charset="0"/>
                <a:ea typeface="Calibri" pitchFamily="34" charset="-122"/>
                <a:cs typeface="Calibri" pitchFamily="34" charset="-120"/>
              </a:rPr>
              <a:t>Payer votre loyer en crypto.</a:t>
            </a:r>
            <a:endParaRPr lang="en-US" sz="1300" dirty="0"/>
          </a:p>
          <a:p>
            <a:pPr marL="342900" indent="-342900">
              <a:spcAft>
                <a:spcPts val="600"/>
              </a:spcAft>
              <a:buSzPct val="100000"/>
              <a:buChar char="•"/>
            </a:pPr>
            <a:r>
              <a:rPr lang="en-US" sz="1300" dirty="0">
                <a:solidFill>
                  <a:srgbClr val="FFFFFF"/>
                </a:solidFill>
                <a:latin typeface="Calibri" pitchFamily="34" charset="0"/>
                <a:ea typeface="Calibri" pitchFamily="34" charset="-122"/>
                <a:cs typeface="Calibri" pitchFamily="34" charset="-120"/>
              </a:rPr>
              <a:t>Recevoir votre salaire en crypto.</a:t>
            </a:r>
            <a:endParaRPr lang="en-US" sz="1300" dirty="0"/>
          </a:p>
        </p:txBody>
      </p:sp>
      <p:sp>
        <p:nvSpPr>
          <p:cNvPr id="4" name="Shape 2"/>
          <p:cNvSpPr/>
          <p:nvPr/>
        </p:nvSpPr>
        <p:spPr>
          <a:xfrm>
            <a:off x="5120640" y="1005840"/>
            <a:ext cx="3474720" cy="640080"/>
          </a:xfrm>
          <a:prstGeom prst="roundRect">
            <a:avLst>
              <a:gd name="adj" fmla="val 14286"/>
            </a:avLst>
          </a:prstGeom>
          <a:solidFill>
            <a:srgbClr val="1A2026"/>
          </a:solidFill>
          <a:ln/>
        </p:spPr>
      </p:sp>
      <p:pic>
        <p:nvPicPr>
          <p:cNvPr id="5" name="Image 0" descr="preencoded.png">    </p:cNvPr>
          <p:cNvPicPr>
            <a:picLocks noChangeAspect="1"/>
          </p:cNvPicPr>
          <p:nvPr/>
        </p:nvPicPr>
        <p:blipFill>
          <a:blip r:embed="rId1"/>
          <a:stretch>
            <a:fillRect/>
          </a:stretch>
        </p:blipFill>
        <p:spPr>
          <a:xfrm>
            <a:off x="5257800" y="1106424"/>
            <a:ext cx="438912" cy="438912"/>
          </a:xfrm>
          <a:prstGeom prst="rect">
            <a:avLst/>
          </a:prstGeom>
        </p:spPr>
      </p:pic>
      <p:sp>
        <p:nvSpPr>
          <p:cNvPr id="6" name="Text 3"/>
          <p:cNvSpPr txBox="1"/>
          <p:nvPr/>
        </p:nvSpPr>
        <p:spPr>
          <a:xfrm>
            <a:off x="5806440" y="1005840"/>
            <a:ext cx="2651760" cy="640080"/>
          </a:xfrm>
          <a:prstGeom prst="rect">
            <a:avLst/>
          </a:prstGeom>
          <a:noFill/>
          <a:ln/>
        </p:spPr>
        <p:txBody>
          <a:bodyPr wrap="square" lIns="0" tIns="0" rIns="0" bIns="0" rtlCol="0" anchor="ctr"/>
          <a:lstStyle/>
          <a:p>
            <a:pPr indent="0" marL="0">
              <a:buNone/>
            </a:pPr>
            <a:r>
              <a:rPr lang="en-US" sz="1200" dirty="0">
                <a:solidFill>
                  <a:srgbClr val="FFFFFF"/>
                </a:solidFill>
                <a:latin typeface="Calibri" pitchFamily="34" charset="0"/>
                <a:ea typeface="Calibri" pitchFamily="34" charset="-122"/>
                <a:cs typeface="Calibri" pitchFamily="34" charset="-120"/>
              </a:rPr>
              <a:t>Épargner sans stress.</a:t>
            </a:r>
            <a:endParaRPr lang="en-US" sz="1200" dirty="0"/>
          </a:p>
        </p:txBody>
      </p:sp>
      <p:sp>
        <p:nvSpPr>
          <p:cNvPr id="7" name="Shape 4"/>
          <p:cNvSpPr/>
          <p:nvPr/>
        </p:nvSpPr>
        <p:spPr>
          <a:xfrm>
            <a:off x="5120640" y="1737360"/>
            <a:ext cx="3474720" cy="640080"/>
          </a:xfrm>
          <a:prstGeom prst="roundRect">
            <a:avLst>
              <a:gd name="adj" fmla="val 14286"/>
            </a:avLst>
          </a:prstGeom>
          <a:solidFill>
            <a:srgbClr val="1A2026"/>
          </a:solidFill>
          <a:ln/>
        </p:spPr>
      </p:sp>
      <p:pic>
        <p:nvPicPr>
          <p:cNvPr id="8" name="Image 1" descr="preencoded.png">    </p:cNvPr>
          <p:cNvPicPr>
            <a:picLocks noChangeAspect="1"/>
          </p:cNvPicPr>
          <p:nvPr/>
        </p:nvPicPr>
        <p:blipFill>
          <a:blip r:embed="rId2"/>
          <a:stretch>
            <a:fillRect/>
          </a:stretch>
        </p:blipFill>
        <p:spPr>
          <a:xfrm>
            <a:off x="5257800" y="1837944"/>
            <a:ext cx="438912" cy="438912"/>
          </a:xfrm>
          <a:prstGeom prst="rect">
            <a:avLst/>
          </a:prstGeom>
        </p:spPr>
      </p:pic>
      <p:sp>
        <p:nvSpPr>
          <p:cNvPr id="9" name="Text 5"/>
          <p:cNvSpPr txBox="1"/>
          <p:nvPr/>
        </p:nvSpPr>
        <p:spPr>
          <a:xfrm>
            <a:off x="5806440" y="1737360"/>
            <a:ext cx="2651760" cy="640080"/>
          </a:xfrm>
          <a:prstGeom prst="rect">
            <a:avLst/>
          </a:prstGeom>
          <a:noFill/>
          <a:ln/>
        </p:spPr>
        <p:txBody>
          <a:bodyPr wrap="square" lIns="0" tIns="0" rIns="0" bIns="0" rtlCol="0" anchor="ctr"/>
          <a:lstStyle/>
          <a:p>
            <a:pPr indent="0" marL="0">
              <a:buNone/>
            </a:pPr>
            <a:r>
              <a:rPr lang="en-US" sz="1200" dirty="0">
                <a:solidFill>
                  <a:srgbClr val="FFFFFF"/>
                </a:solidFill>
                <a:latin typeface="Calibri" pitchFamily="34" charset="0"/>
                <a:ea typeface="Calibri" pitchFamily="34" charset="-122"/>
                <a:cs typeface="Calibri" pitchFamily="34" charset="-120"/>
              </a:rPr>
              <a:t>Faire du commerce international.</a:t>
            </a:r>
            <a:endParaRPr lang="en-US" sz="1200" dirty="0"/>
          </a:p>
        </p:txBody>
      </p:sp>
      <p:sp>
        <p:nvSpPr>
          <p:cNvPr id="10" name="Shape 6"/>
          <p:cNvSpPr/>
          <p:nvPr/>
        </p:nvSpPr>
        <p:spPr>
          <a:xfrm>
            <a:off x="5120640" y="2468880"/>
            <a:ext cx="3474720" cy="640080"/>
          </a:xfrm>
          <a:prstGeom prst="roundRect">
            <a:avLst>
              <a:gd name="adj" fmla="val 14286"/>
            </a:avLst>
          </a:prstGeom>
          <a:solidFill>
            <a:srgbClr val="1A2026"/>
          </a:solidFill>
          <a:ln/>
        </p:spPr>
      </p:sp>
      <p:pic>
        <p:nvPicPr>
          <p:cNvPr id="11" name="Image 2" descr="preencoded.png">    </p:cNvPr>
          <p:cNvPicPr>
            <a:picLocks noChangeAspect="1"/>
          </p:cNvPicPr>
          <p:nvPr/>
        </p:nvPicPr>
        <p:blipFill>
          <a:blip r:embed="rId3"/>
          <a:stretch>
            <a:fillRect/>
          </a:stretch>
        </p:blipFill>
        <p:spPr>
          <a:xfrm>
            <a:off x="5257800" y="2569464"/>
            <a:ext cx="438912" cy="438912"/>
          </a:xfrm>
          <a:prstGeom prst="rect">
            <a:avLst/>
          </a:prstGeom>
        </p:spPr>
      </p:pic>
      <p:sp>
        <p:nvSpPr>
          <p:cNvPr id="12" name="Text 7"/>
          <p:cNvSpPr txBox="1"/>
          <p:nvPr/>
        </p:nvSpPr>
        <p:spPr>
          <a:xfrm>
            <a:off x="5806440" y="2468880"/>
            <a:ext cx="2651760" cy="640080"/>
          </a:xfrm>
          <a:prstGeom prst="rect">
            <a:avLst/>
          </a:prstGeom>
          <a:noFill/>
          <a:ln/>
        </p:spPr>
        <p:txBody>
          <a:bodyPr wrap="square" lIns="0" tIns="0" rIns="0" bIns="0" rtlCol="0" anchor="ctr"/>
          <a:lstStyle/>
          <a:p>
            <a:pPr indent="0" marL="0">
              <a:buNone/>
            </a:pPr>
            <a:r>
              <a:rPr lang="en-US" sz="1200" dirty="0">
                <a:solidFill>
                  <a:srgbClr val="FFFFFF"/>
                </a:solidFill>
                <a:latin typeface="Calibri" pitchFamily="34" charset="0"/>
                <a:ea typeface="Calibri" pitchFamily="34" charset="-122"/>
                <a:cs typeface="Calibri" pitchFamily="34" charset="-120"/>
              </a:rPr>
              <a:t>On a besoin d'une crypto prévisible. C'est là qu'interviennent les stablecoins.</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F1214"/>
        </a:solidFill>
      </p:bgPr>
    </p:bg>
    <p:spTree>
      <p:nvGrpSpPr>
        <p:cNvPr id="1" name=""/>
        <p:cNvGrpSpPr/>
        <p:nvPr/>
      </p:nvGrpSpPr>
      <p:grpSpPr>
        <a:xfrm>
          <a:off x="0" y="0"/>
          <a:ext cx="0" cy="0"/>
          <a:chOff x="0" y="0"/>
          <a:chExt cx="0" cy="0"/>
        </a:xfrm>
      </p:grpSpPr>
      <p:sp>
        <p:nvSpPr>
          <p:cNvPr id="2" name="Text 0"/>
          <p:cNvSpPr txBox="1"/>
          <p:nvPr/>
        </p:nvSpPr>
        <p:spPr>
          <a:xfrm>
            <a:off x="731520" y="274320"/>
            <a:ext cx="7680960" cy="502920"/>
          </a:xfrm>
          <a:prstGeom prst="rect">
            <a:avLst/>
          </a:prstGeom>
          <a:noFill/>
          <a:ln/>
        </p:spPr>
        <p:txBody>
          <a:bodyPr wrap="square" lIns="0" tIns="0" rIns="0" bIns="0" rtlCol="0" anchor="ctr"/>
          <a:lstStyle/>
          <a:p>
            <a:pPr indent="0" marL="0">
              <a:buNone/>
            </a:pPr>
            <a:r>
              <a:rPr lang="en-US" sz="2000" b="1" dirty="0">
                <a:solidFill>
                  <a:srgbClr val="3B968F"/>
                </a:solidFill>
                <a:latin typeface="Calibri" pitchFamily="34" charset="0"/>
                <a:ea typeface="Calibri" pitchFamily="34" charset="-122"/>
                <a:cs typeface="Calibri" pitchFamily="34" charset="-120"/>
              </a:rPr>
              <a:t>Le principe</a:t>
            </a:r>
            <a:endParaRPr lang="en-US" sz="2000" dirty="0"/>
          </a:p>
        </p:txBody>
      </p:sp>
      <p:sp>
        <p:nvSpPr>
          <p:cNvPr id="3" name="Shape 1"/>
          <p:cNvSpPr/>
          <p:nvPr/>
        </p:nvSpPr>
        <p:spPr>
          <a:xfrm>
            <a:off x="594360" y="1005840"/>
            <a:ext cx="2468880" cy="1371600"/>
          </a:xfrm>
          <a:prstGeom prst="roundRect">
            <a:avLst>
              <a:gd name="adj" fmla="val 6667"/>
            </a:avLst>
          </a:prstGeom>
          <a:solidFill>
            <a:srgbClr val="1A2026"/>
          </a:solidFill>
          <a:ln/>
        </p:spPr>
      </p:sp>
      <p:pic>
        <p:nvPicPr>
          <p:cNvPr id="4" name="Image 0" descr="preencoded.png">    </p:cNvPr>
          <p:cNvPicPr>
            <a:picLocks noChangeAspect="1"/>
          </p:cNvPicPr>
          <p:nvPr/>
        </p:nvPicPr>
        <p:blipFill>
          <a:blip r:embed="rId1"/>
          <a:stretch>
            <a:fillRect/>
          </a:stretch>
        </p:blipFill>
        <p:spPr>
          <a:xfrm>
            <a:off x="731520" y="1143000"/>
            <a:ext cx="502920" cy="502920"/>
          </a:xfrm>
          <a:prstGeom prst="rect">
            <a:avLst/>
          </a:prstGeom>
        </p:spPr>
      </p:pic>
      <p:sp>
        <p:nvSpPr>
          <p:cNvPr id="5" name="Text 2"/>
          <p:cNvSpPr txBox="1"/>
          <p:nvPr/>
        </p:nvSpPr>
        <p:spPr>
          <a:xfrm>
            <a:off x="731520" y="1719072"/>
            <a:ext cx="2194560" cy="320040"/>
          </a:xfrm>
          <a:prstGeom prst="rect">
            <a:avLst/>
          </a:prstGeom>
          <a:noFill/>
          <a:ln/>
        </p:spPr>
        <p:txBody>
          <a:bodyPr wrap="square" lIns="0" tIns="0" rIns="0" bIns="0" rtlCol="0" anchor="t"/>
          <a:lstStyle/>
          <a:p>
            <a:pPr indent="0" marL="0">
              <a:buNone/>
            </a:pPr>
            <a:r>
              <a:rPr lang="en-US" sz="1100" b="1" dirty="0">
                <a:solidFill>
                  <a:srgbClr val="FFFFFF"/>
                </a:solidFill>
                <a:latin typeface="Calibri" pitchFamily="34" charset="0"/>
                <a:ea typeface="Calibri" pitchFamily="34" charset="-122"/>
                <a:cs typeface="Calibri" pitchFamily="34" charset="-120"/>
              </a:rPr>
              <a:t>Une société (Tether pour l'USDT, Circle pour l'USDC) gard...</a:t>
            </a:r>
            <a:endParaRPr lang="en-US" sz="1100" dirty="0"/>
          </a:p>
        </p:txBody>
      </p:sp>
      <p:sp>
        <p:nvSpPr>
          <p:cNvPr id="6" name="Text 3"/>
          <p:cNvSpPr txBox="1"/>
          <p:nvPr/>
        </p:nvSpPr>
        <p:spPr>
          <a:xfrm>
            <a:off x="731520" y="2011680"/>
            <a:ext cx="2194560" cy="274320"/>
          </a:xfrm>
          <a:prstGeom prst="rect">
            <a:avLst/>
          </a:prstGeom>
          <a:noFill/>
          <a:ln/>
        </p:spPr>
        <p:txBody>
          <a:bodyPr wrap="square" lIns="0" tIns="0" rIns="0" bIns="0" rtlCol="0" anchor="t"/>
          <a:lstStyle/>
          <a:p>
            <a:pPr indent="0" marL="0">
              <a:buNone/>
            </a:pPr>
            <a:r>
              <a:rPr lang="en-US" sz="900" dirty="0">
                <a:solidFill>
                  <a:srgbClr val="8994A0"/>
                </a:solidFill>
                <a:latin typeface="Calibri" pitchFamily="34" charset="0"/>
                <a:ea typeface="Calibri" pitchFamily="34" charset="-122"/>
                <a:cs typeface="Calibri" pitchFamily="34" charset="-120"/>
              </a:rPr>
              <a:t>1 dollar réel pour chaque token émis.</a:t>
            </a:r>
            <a:endParaRPr lang="en-US" sz="900" dirty="0"/>
          </a:p>
        </p:txBody>
      </p:sp>
      <p:sp>
        <p:nvSpPr>
          <p:cNvPr id="7" name="Shape 4"/>
          <p:cNvSpPr/>
          <p:nvPr/>
        </p:nvSpPr>
        <p:spPr>
          <a:xfrm>
            <a:off x="3246120" y="1005840"/>
            <a:ext cx="2468880" cy="1371600"/>
          </a:xfrm>
          <a:prstGeom prst="roundRect">
            <a:avLst>
              <a:gd name="adj" fmla="val 6667"/>
            </a:avLst>
          </a:prstGeom>
          <a:solidFill>
            <a:srgbClr val="1A2026"/>
          </a:solidFill>
          <a:ln/>
        </p:spPr>
      </p:sp>
      <p:pic>
        <p:nvPicPr>
          <p:cNvPr id="8" name="Image 1" descr="preencoded.png">    </p:cNvPr>
          <p:cNvPicPr>
            <a:picLocks noChangeAspect="1"/>
          </p:cNvPicPr>
          <p:nvPr/>
        </p:nvPicPr>
        <p:blipFill>
          <a:blip r:embed="rId2"/>
          <a:stretch>
            <a:fillRect/>
          </a:stretch>
        </p:blipFill>
        <p:spPr>
          <a:xfrm>
            <a:off x="3383280" y="1143000"/>
            <a:ext cx="502920" cy="502920"/>
          </a:xfrm>
          <a:prstGeom prst="rect">
            <a:avLst/>
          </a:prstGeom>
        </p:spPr>
      </p:pic>
      <p:sp>
        <p:nvSpPr>
          <p:cNvPr id="9" name="Text 5"/>
          <p:cNvSpPr txBox="1"/>
          <p:nvPr/>
        </p:nvSpPr>
        <p:spPr>
          <a:xfrm>
            <a:off x="3383280" y="1719072"/>
            <a:ext cx="2194560" cy="320040"/>
          </a:xfrm>
          <a:prstGeom prst="rect">
            <a:avLst/>
          </a:prstGeom>
          <a:noFill/>
          <a:ln/>
        </p:spPr>
        <p:txBody>
          <a:bodyPr wrap="square" lIns="0" tIns="0" rIns="0" bIns="0" rtlCol="0" anchor="t"/>
          <a:lstStyle/>
          <a:p>
            <a:pPr indent="0" marL="0">
              <a:buNone/>
            </a:pPr>
            <a:r>
              <a:rPr lang="en-US" sz="1100" b="1" dirty="0">
                <a:solidFill>
                  <a:srgbClr val="FFFFFF"/>
                </a:solidFill>
                <a:latin typeface="Calibri" pitchFamily="34" charset="0"/>
                <a:ea typeface="Calibri" pitchFamily="34" charset="-122"/>
                <a:cs typeface="Calibri" pitchFamily="34" charset="-120"/>
              </a:rPr>
              <a:t>Vous pouvez à tout moment échanger vos tokens contre des ...</a:t>
            </a:r>
            <a:endParaRPr lang="en-US" sz="1100" dirty="0"/>
          </a:p>
        </p:txBody>
      </p:sp>
      <p:sp>
        <p:nvSpPr>
          <p:cNvPr id="10" name="Text 6"/>
          <p:cNvSpPr txBox="1"/>
          <p:nvPr/>
        </p:nvSpPr>
        <p:spPr>
          <a:xfrm>
            <a:off x="3383280" y="2011680"/>
            <a:ext cx="2194560" cy="274320"/>
          </a:xfrm>
          <a:prstGeom prst="rect">
            <a:avLst/>
          </a:prstGeom>
          <a:noFill/>
          <a:ln/>
        </p:spPr>
        <p:txBody>
          <a:bodyPr wrap="square" lIns="0" tIns="0" rIns="0" bIns="0" rtlCol="0" anchor="t"/>
          <a:lstStyle/>
          <a:p>
            <a:pPr indent="0" marL="0">
              <a:buNone/>
            </a:pPr>
            <a:r>
              <a:rPr lang="en-US" sz="900" dirty="0">
                <a:solidFill>
                  <a:srgbClr val="8994A0"/>
                </a:solidFill>
                <a:latin typeface="Calibri" pitchFamily="34" charset="0"/>
                <a:ea typeface="Calibri" pitchFamily="34" charset="-122"/>
                <a:cs typeface="Calibri" pitchFamily="34" charset="-120"/>
              </a:rPr>
              <a:t>s de l'émetteur (avec de gros minimums).</a:t>
            </a:r>
            <a:endParaRPr lang="en-US" sz="900" dirty="0"/>
          </a:p>
        </p:txBody>
      </p:sp>
      <p:sp>
        <p:nvSpPr>
          <p:cNvPr id="11" name="Shape 7"/>
          <p:cNvSpPr/>
          <p:nvPr/>
        </p:nvSpPr>
        <p:spPr>
          <a:xfrm>
            <a:off x="5897880" y="1005840"/>
            <a:ext cx="2468880" cy="1371600"/>
          </a:xfrm>
          <a:prstGeom prst="roundRect">
            <a:avLst>
              <a:gd name="adj" fmla="val 6667"/>
            </a:avLst>
          </a:prstGeom>
          <a:solidFill>
            <a:srgbClr val="1A2026"/>
          </a:solidFill>
          <a:ln/>
        </p:spPr>
      </p:sp>
      <p:pic>
        <p:nvPicPr>
          <p:cNvPr id="12" name="Image 2" descr="preencoded.png">    </p:cNvPr>
          <p:cNvPicPr>
            <a:picLocks noChangeAspect="1"/>
          </p:cNvPicPr>
          <p:nvPr/>
        </p:nvPicPr>
        <p:blipFill>
          <a:blip r:embed="rId3"/>
          <a:stretch>
            <a:fillRect/>
          </a:stretch>
        </p:blipFill>
        <p:spPr>
          <a:xfrm>
            <a:off x="6035040" y="1143000"/>
            <a:ext cx="502920" cy="502920"/>
          </a:xfrm>
          <a:prstGeom prst="rect">
            <a:avLst/>
          </a:prstGeom>
        </p:spPr>
      </p:pic>
      <p:sp>
        <p:nvSpPr>
          <p:cNvPr id="13" name="Text 8"/>
          <p:cNvSpPr txBox="1"/>
          <p:nvPr/>
        </p:nvSpPr>
        <p:spPr>
          <a:xfrm>
            <a:off x="6035040" y="1719072"/>
            <a:ext cx="2194560" cy="320040"/>
          </a:xfrm>
          <a:prstGeom prst="rect">
            <a:avLst/>
          </a:prstGeom>
          <a:noFill/>
          <a:ln/>
        </p:spPr>
        <p:txBody>
          <a:bodyPr wrap="square" lIns="0" tIns="0" rIns="0" bIns="0" rtlCol="0" anchor="t"/>
          <a:lstStyle/>
          <a:p>
            <a:pPr indent="0" marL="0">
              <a:buNone/>
            </a:pPr>
            <a:r>
              <a:rPr lang="en-US" sz="1100" b="1" dirty="0">
                <a:solidFill>
                  <a:srgbClr val="FFFFFF"/>
                </a:solidFill>
                <a:latin typeface="Calibri" pitchFamily="34" charset="0"/>
                <a:ea typeface="Calibri" pitchFamily="34" charset="-122"/>
                <a:cs typeface="Calibri" pitchFamily="34" charset="-120"/>
              </a:rPr>
              <a:t>Cette promesse d'échange garantit que le prix reste très ...</a:t>
            </a:r>
            <a:endParaRPr lang="en-US" sz="1100" dirty="0"/>
          </a:p>
        </p:txBody>
      </p:sp>
      <p:sp>
        <p:nvSpPr>
          <p:cNvPr id="14" name="Shape 9"/>
          <p:cNvSpPr/>
          <p:nvPr/>
        </p:nvSpPr>
        <p:spPr>
          <a:xfrm>
            <a:off x="594360" y="2514600"/>
            <a:ext cx="2468880" cy="1371600"/>
          </a:xfrm>
          <a:prstGeom prst="roundRect">
            <a:avLst>
              <a:gd name="adj" fmla="val 6667"/>
            </a:avLst>
          </a:prstGeom>
          <a:solidFill>
            <a:srgbClr val="1A2026"/>
          </a:solidFill>
          <a:ln/>
        </p:spPr>
      </p:sp>
      <p:pic>
        <p:nvPicPr>
          <p:cNvPr id="15" name="Image 3" descr="preencoded.png">    </p:cNvPr>
          <p:cNvPicPr>
            <a:picLocks noChangeAspect="1"/>
          </p:cNvPicPr>
          <p:nvPr/>
        </p:nvPicPr>
        <p:blipFill>
          <a:blip r:embed="rId4"/>
          <a:stretch>
            <a:fillRect/>
          </a:stretch>
        </p:blipFill>
        <p:spPr>
          <a:xfrm>
            <a:off x="731520" y="2651760"/>
            <a:ext cx="502920" cy="502920"/>
          </a:xfrm>
          <a:prstGeom prst="rect">
            <a:avLst/>
          </a:prstGeom>
        </p:spPr>
      </p:pic>
      <p:sp>
        <p:nvSpPr>
          <p:cNvPr id="16" name="Text 10"/>
          <p:cNvSpPr txBox="1"/>
          <p:nvPr/>
        </p:nvSpPr>
        <p:spPr>
          <a:xfrm>
            <a:off x="731520" y="3227832"/>
            <a:ext cx="2194560" cy="320040"/>
          </a:xfrm>
          <a:prstGeom prst="rect">
            <a:avLst/>
          </a:prstGeom>
          <a:noFill/>
          <a:ln/>
        </p:spPr>
        <p:txBody>
          <a:bodyPr wrap="square" lIns="0" tIns="0" rIns="0" bIns="0" rtlCol="0" anchor="t"/>
          <a:lstStyle/>
          <a:p>
            <a:pPr indent="0" marL="0">
              <a:buNone/>
            </a:pPr>
            <a:r>
              <a:rPr lang="en-US" sz="1100" b="1" dirty="0">
                <a:solidFill>
                  <a:srgbClr val="FFFFFF"/>
                </a:solidFill>
                <a:latin typeface="Calibri" pitchFamily="34" charset="0"/>
                <a:ea typeface="Calibri" pitchFamily="34" charset="-122"/>
                <a:cs typeface="Calibri" pitchFamily="34" charset="-120"/>
              </a:rPr>
              <a:t>Évidemment, il faut faire confiance à l'émetteur : est-ce...</a:t>
            </a:r>
            <a:endParaRPr lang="en-US" sz="1100" dirty="0"/>
          </a:p>
        </p:txBody>
      </p:sp>
      <p:sp>
        <p:nvSpPr>
          <p:cNvPr id="17" name="Text 11"/>
          <p:cNvSpPr txBox="1"/>
          <p:nvPr/>
        </p:nvSpPr>
        <p:spPr>
          <a:xfrm>
            <a:off x="731520" y="3520440"/>
            <a:ext cx="2194560" cy="274320"/>
          </a:xfrm>
          <a:prstGeom prst="rect">
            <a:avLst/>
          </a:prstGeom>
          <a:noFill/>
          <a:ln/>
        </p:spPr>
        <p:txBody>
          <a:bodyPr wrap="square" lIns="0" tIns="0" rIns="0" bIns="0" rtlCol="0" anchor="t"/>
          <a:lstStyle/>
          <a:p>
            <a:pPr indent="0" marL="0">
              <a:buNone/>
            </a:pPr>
            <a:r>
              <a:rPr lang="en-US" sz="900" dirty="0">
                <a:solidFill>
                  <a:srgbClr val="8994A0"/>
                </a:solidFill>
                <a:latin typeface="Calibri" pitchFamily="34" charset="0"/>
                <a:ea typeface="Calibri" pitchFamily="34" charset="-122"/>
                <a:cs typeface="Calibri" pitchFamily="34" charset="-120"/>
              </a:rPr>
              <a:t>ment les réserves qu'il prétend avoir ?</a:t>
            </a:r>
            <a:endParaRPr lang="en-US" sz="900" dirty="0"/>
          </a:p>
        </p:txBody>
      </p:sp>
      <p:sp>
        <p:nvSpPr>
          <p:cNvPr id="18" name="Shape 12"/>
          <p:cNvSpPr/>
          <p:nvPr/>
        </p:nvSpPr>
        <p:spPr>
          <a:xfrm>
            <a:off x="3246120" y="2514600"/>
            <a:ext cx="2468880" cy="1371600"/>
          </a:xfrm>
          <a:prstGeom prst="roundRect">
            <a:avLst>
              <a:gd name="adj" fmla="val 6667"/>
            </a:avLst>
          </a:prstGeom>
          <a:solidFill>
            <a:srgbClr val="1A2026"/>
          </a:solidFill>
          <a:ln/>
        </p:spPr>
      </p:sp>
      <p:pic>
        <p:nvPicPr>
          <p:cNvPr id="19" name="Image 4" descr="preencoded.png">    </p:cNvPr>
          <p:cNvPicPr>
            <a:picLocks noChangeAspect="1"/>
          </p:cNvPicPr>
          <p:nvPr/>
        </p:nvPicPr>
        <p:blipFill>
          <a:blip r:embed="rId5"/>
          <a:stretch>
            <a:fillRect/>
          </a:stretch>
        </p:blipFill>
        <p:spPr>
          <a:xfrm>
            <a:off x="3383280" y="2651760"/>
            <a:ext cx="502920" cy="502920"/>
          </a:xfrm>
          <a:prstGeom prst="rect">
            <a:avLst/>
          </a:prstGeom>
        </p:spPr>
      </p:pic>
      <p:sp>
        <p:nvSpPr>
          <p:cNvPr id="20" name="Text 13"/>
          <p:cNvSpPr txBox="1"/>
          <p:nvPr/>
        </p:nvSpPr>
        <p:spPr>
          <a:xfrm>
            <a:off x="3383280" y="3227832"/>
            <a:ext cx="2194560" cy="320040"/>
          </a:xfrm>
          <a:prstGeom prst="rect">
            <a:avLst/>
          </a:prstGeom>
          <a:noFill/>
          <a:ln/>
        </p:spPr>
        <p:txBody>
          <a:bodyPr wrap="square" lIns="0" tIns="0" rIns="0" bIns="0" rtlCol="0" anchor="t"/>
          <a:lstStyle/>
          <a:p>
            <a:pPr indent="0" marL="0">
              <a:buNone/>
            </a:pPr>
            <a:r>
              <a:rPr lang="en-US" sz="1100" b="1" dirty="0">
                <a:solidFill>
                  <a:srgbClr val="FFFFFF"/>
                </a:solidFill>
                <a:latin typeface="Calibri" pitchFamily="34" charset="0"/>
                <a:ea typeface="Calibri" pitchFamily="34" charset="-122"/>
                <a:cs typeface="Calibri" pitchFamily="34" charset="-120"/>
              </a:rPr>
              <a:t>Tether publie des rapports d'audit trimestriels.</a:t>
            </a:r>
            <a:endParaRPr lang="en-US" sz="1100" dirty="0"/>
          </a:p>
        </p:txBody>
      </p:sp>
      <p:sp>
        <p:nvSpPr>
          <p:cNvPr id="21" name="Shape 14"/>
          <p:cNvSpPr/>
          <p:nvPr/>
        </p:nvSpPr>
        <p:spPr>
          <a:xfrm>
            <a:off x="5897880" y="2514600"/>
            <a:ext cx="2468880" cy="1371600"/>
          </a:xfrm>
          <a:prstGeom prst="roundRect">
            <a:avLst>
              <a:gd name="adj" fmla="val 6667"/>
            </a:avLst>
          </a:prstGeom>
          <a:solidFill>
            <a:srgbClr val="1A2026"/>
          </a:solidFill>
          <a:ln/>
        </p:spPr>
      </p:sp>
      <p:pic>
        <p:nvPicPr>
          <p:cNvPr id="22" name="Image 5" descr="preencoded.png">    </p:cNvPr>
          <p:cNvPicPr>
            <a:picLocks noChangeAspect="1"/>
          </p:cNvPicPr>
          <p:nvPr/>
        </p:nvPicPr>
        <p:blipFill>
          <a:blip r:embed="rId6"/>
          <a:stretch>
            <a:fillRect/>
          </a:stretch>
        </p:blipFill>
        <p:spPr>
          <a:xfrm>
            <a:off x="6035040" y="2651760"/>
            <a:ext cx="502920" cy="502920"/>
          </a:xfrm>
          <a:prstGeom prst="rect">
            <a:avLst/>
          </a:prstGeom>
        </p:spPr>
      </p:pic>
      <p:sp>
        <p:nvSpPr>
          <p:cNvPr id="23" name="Text 15"/>
          <p:cNvSpPr txBox="1"/>
          <p:nvPr/>
        </p:nvSpPr>
        <p:spPr>
          <a:xfrm>
            <a:off x="6035040" y="3227832"/>
            <a:ext cx="2194560" cy="320040"/>
          </a:xfrm>
          <a:prstGeom prst="rect">
            <a:avLst/>
          </a:prstGeom>
          <a:noFill/>
          <a:ln/>
        </p:spPr>
        <p:txBody>
          <a:bodyPr wrap="square" lIns="0" tIns="0" rIns="0" bIns="0" rtlCol="0" anchor="t"/>
          <a:lstStyle/>
          <a:p>
            <a:pPr indent="0" marL="0">
              <a:buNone/>
            </a:pPr>
            <a:r>
              <a:rPr lang="en-US" sz="1100" b="1" dirty="0">
                <a:solidFill>
                  <a:srgbClr val="FFFFFF"/>
                </a:solidFill>
                <a:latin typeface="Calibri" pitchFamily="34" charset="0"/>
                <a:ea typeface="Calibri" pitchFamily="34" charset="-122"/>
                <a:cs typeface="Calibri" pitchFamily="34" charset="-120"/>
              </a:rPr>
              <a:t>USDC (émis par Circle, entreprise américaine régulée) est...</a:t>
            </a:r>
            <a:endParaRPr lang="en-US" sz="1100" dirty="0"/>
          </a:p>
        </p:txBody>
      </p:sp>
      <p:sp>
        <p:nvSpPr>
          <p:cNvPr id="24" name="Text 16"/>
          <p:cNvSpPr txBox="1"/>
          <p:nvPr/>
        </p:nvSpPr>
        <p:spPr>
          <a:xfrm>
            <a:off x="6035040" y="3520440"/>
            <a:ext cx="2194560" cy="274320"/>
          </a:xfrm>
          <a:prstGeom prst="rect">
            <a:avLst/>
          </a:prstGeom>
          <a:noFill/>
          <a:ln/>
        </p:spPr>
        <p:txBody>
          <a:bodyPr wrap="square" lIns="0" tIns="0" rIns="0" bIns="0" rtlCol="0" anchor="t"/>
          <a:lstStyle/>
          <a:p>
            <a:pPr indent="0" marL="0">
              <a:buNone/>
            </a:pPr>
            <a:r>
              <a:rPr lang="en-US" sz="900" dirty="0">
                <a:solidFill>
                  <a:srgbClr val="8994A0"/>
                </a:solidFill>
                <a:latin typeface="Calibri" pitchFamily="34" charset="0"/>
                <a:ea typeface="Calibri" pitchFamily="34" charset="-122"/>
                <a:cs typeface="Calibri" pitchFamily="34" charset="-120"/>
              </a:rPr>
              <a:t>mme encore plus transparent.</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F1214"/>
        </a:solidFill>
      </p:bgPr>
    </p:bg>
    <p:spTree>
      <p:nvGrpSpPr>
        <p:cNvPr id="1" name=""/>
        <p:cNvGrpSpPr/>
        <p:nvPr/>
      </p:nvGrpSpPr>
      <p:grpSpPr>
        <a:xfrm>
          <a:off x="0" y="0"/>
          <a:ext cx="0" cy="0"/>
          <a:chOff x="0" y="0"/>
          <a:chExt cx="0" cy="0"/>
        </a:xfrm>
      </p:grpSpPr>
      <p:sp>
        <p:nvSpPr>
          <p:cNvPr id="2" name="Shape 0"/>
          <p:cNvSpPr/>
          <p:nvPr/>
        </p:nvSpPr>
        <p:spPr>
          <a:xfrm>
            <a:off x="7955280" y="182880"/>
            <a:ext cx="640080" cy="640080"/>
          </a:xfrm>
          <a:prstGeom prst="ellipse">
            <a:avLst/>
          </a:prstGeom>
          <a:solidFill>
            <a:srgbClr val="3B968F">
              <a:alpha val="12000"/>
            </a:srgbClr>
          </a:solidFill>
          <a:ln/>
        </p:spPr>
      </p:sp>
      <p:pic>
        <p:nvPicPr>
          <p:cNvPr id="3" name="Image 0" descr="preencoded.png">    </p:cNvPr>
          <p:cNvPicPr>
            <a:picLocks noChangeAspect="1"/>
          </p:cNvPicPr>
          <p:nvPr/>
        </p:nvPicPr>
        <p:blipFill>
          <a:blip r:embed="rId1"/>
          <a:stretch>
            <a:fillRect/>
          </a:stretch>
        </p:blipFill>
        <p:spPr>
          <a:xfrm>
            <a:off x="8028432" y="256032"/>
            <a:ext cx="493776" cy="493776"/>
          </a:xfrm>
          <a:prstGeom prst="rect">
            <a:avLst/>
          </a:prstGeom>
        </p:spPr>
      </p:pic>
      <p:sp>
        <p:nvSpPr>
          <p:cNvPr id="4" name="Text 1"/>
          <p:cNvSpPr txBox="1"/>
          <p:nvPr/>
        </p:nvSpPr>
        <p:spPr>
          <a:xfrm>
            <a:off x="731520" y="274320"/>
            <a:ext cx="7132320" cy="502920"/>
          </a:xfrm>
          <a:prstGeom prst="rect">
            <a:avLst/>
          </a:prstGeom>
          <a:noFill/>
          <a:ln/>
        </p:spPr>
        <p:txBody>
          <a:bodyPr wrap="square" lIns="0" tIns="0" rIns="0" bIns="0" rtlCol="0" anchor="ctr"/>
          <a:lstStyle/>
          <a:p>
            <a:pPr indent="0" marL="0">
              <a:buNone/>
            </a:pPr>
            <a:r>
              <a:rPr lang="en-US" sz="2000" b="1" dirty="0">
                <a:solidFill>
                  <a:srgbClr val="3B968F"/>
                </a:solidFill>
                <a:latin typeface="Calibri" pitchFamily="34" charset="0"/>
                <a:ea typeface="Calibri" pitchFamily="34" charset="-122"/>
                <a:cs typeface="Calibri" pitchFamily="34" charset="-120"/>
              </a:rPr>
              <a:t>Les grandes catégories</a:t>
            </a:r>
            <a:endParaRPr lang="en-US" sz="2000" dirty="0"/>
          </a:p>
        </p:txBody>
      </p:sp>
      <p:sp>
        <p:nvSpPr>
          <p:cNvPr id="5" name="Text 2"/>
          <p:cNvSpPr txBox="1"/>
          <p:nvPr/>
        </p:nvSpPr>
        <p:spPr>
          <a:xfrm>
            <a:off x="731520" y="960120"/>
            <a:ext cx="7680960" cy="365760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Stablecoins collatéralisés en fiat : USDT, USDC. 1 token = 1 dollar en réserve. Les plus utilisés (&gt;200 milliards en circulation).</a:t>
            </a:r>
            <a:endParaRPr lang="en-US" sz="1400" dirty="0"/>
          </a:p>
          <a:p>
            <a:pPr marL="342900" indent="-3429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Stablecoins collatéralisés en crypto : DAI. Adossés à d'autres cryptos comme collatéral. Plus décentralisés, plus complexes.</a:t>
            </a:r>
            <a:endParaRPr lang="en-US" sz="1400" dirty="0"/>
          </a:p>
          <a:p>
            <a:pPr marL="342900" indent="-3429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Stablecoins algorithmiques : ils tentent de maintenir leur prix par des mécanismes de marché. L'expérience Terra/UST en 2022 a montré leur fragilité — évitez-les.</a:t>
            </a:r>
            <a:endParaRPr lang="en-US" sz="1400" dirty="0"/>
          </a:p>
          <a:p>
            <a:pPr marL="342900" indent="-3429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Pour vous, en Afrique de l'Ouest, retenez : USDT et USDC. Ce sont les deux références.</a:t>
            </a:r>
            <a:endParaRPr lang="en-US" sz="1400" dirty="0"/>
          </a:p>
        </p:txBody>
      </p:sp>
      <p:sp>
        <p:nvSpPr>
          <p:cNvPr id="6" name="Text 3"/>
          <p:cNvSpPr txBox="1"/>
          <p:nvPr/>
        </p:nvSpPr>
        <p:spPr>
          <a:xfrm>
            <a:off x="731520" y="4709160"/>
            <a:ext cx="7680960" cy="274320"/>
          </a:xfrm>
          <a:prstGeom prst="rect">
            <a:avLst/>
          </a:prstGeom>
          <a:noFill/>
          <a:ln/>
        </p:spPr>
        <p:txBody>
          <a:bodyPr wrap="square" lIns="0" tIns="0" rIns="0" bIns="0" rtlCol="0" anchor="ctr"/>
          <a:lstStyle/>
          <a:p>
            <a:pPr algn="r" indent="0" marL="0">
              <a:buNone/>
            </a:pPr>
            <a:r>
              <a:rPr lang="en-US" sz="900" dirty="0">
                <a:solidFill>
                  <a:srgbClr val="5B6672"/>
                </a:solidFill>
                <a:latin typeface="Calibri" pitchFamily="34" charset="0"/>
                <a:ea typeface="Calibri" pitchFamily="34" charset="-122"/>
                <a:cs typeface="Calibri" pitchFamily="34" charset="-120"/>
              </a:rPr>
              <a:t>Module 6 — Leçon 1</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A2026"/>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20040"/>
            <a:ext cx="457200" cy="457200"/>
          </a:xfrm>
          <a:prstGeom prst="rect">
            <a:avLst/>
          </a:prstGeom>
        </p:spPr>
      </p:pic>
      <p:sp>
        <p:nvSpPr>
          <p:cNvPr id="3" name="Text 0"/>
          <p:cNvSpPr txBox="1"/>
          <p:nvPr/>
        </p:nvSpPr>
        <p:spPr>
          <a:xfrm>
            <a:off x="1280160" y="365760"/>
            <a:ext cx="2743200" cy="320040"/>
          </a:xfrm>
          <a:prstGeom prst="rect">
            <a:avLst/>
          </a:prstGeom>
          <a:noFill/>
          <a:ln/>
        </p:spPr>
        <p:txBody>
          <a:bodyPr wrap="square" lIns="0" tIns="0" rIns="0" bIns="0" rtlCol="0" anchor="ctr"/>
          <a:lstStyle/>
          <a:p>
            <a:pPr indent="0" marL="0">
              <a:buNone/>
            </a:pPr>
            <a:r>
              <a:rPr lang="en-US" sz="1200" b="1" spc="300" kern="0" dirty="0">
                <a:solidFill>
                  <a:srgbClr val="5BC1B8"/>
                </a:solidFill>
                <a:latin typeface="Calibri" pitchFamily="34" charset="0"/>
                <a:ea typeface="Calibri" pitchFamily="34" charset="-122"/>
                <a:cs typeface="Calibri" pitchFamily="34" charset="-120"/>
              </a:rPr>
              <a:t>A RETENIR</a:t>
            </a:r>
            <a:endParaRPr lang="en-US" sz="1200" dirty="0"/>
          </a:p>
        </p:txBody>
      </p:sp>
      <p:sp>
        <p:nvSpPr>
          <p:cNvPr id="4" name="Text 1"/>
          <p:cNvSpPr txBox="1"/>
          <p:nvPr/>
        </p:nvSpPr>
        <p:spPr>
          <a:xfrm>
            <a:off x="731520" y="822960"/>
            <a:ext cx="7680960" cy="457200"/>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Qu'est-ce qu'un stablecoin ?</a:t>
            </a:r>
            <a:endParaRPr lang="en-US" sz="2000" dirty="0"/>
          </a:p>
        </p:txBody>
      </p:sp>
      <p:sp>
        <p:nvSpPr>
          <p:cNvPr id="5" name="Shape 2"/>
          <p:cNvSpPr/>
          <p:nvPr/>
        </p:nvSpPr>
        <p:spPr>
          <a:xfrm>
            <a:off x="731520" y="1463040"/>
            <a:ext cx="7680960" cy="548640"/>
          </a:xfrm>
          <a:prstGeom prst="roundRect">
            <a:avLst>
              <a:gd name="adj" fmla="val 13333"/>
            </a:avLst>
          </a:prstGeom>
          <a:solidFill>
            <a:srgbClr val="0F1214"/>
          </a:solidFill>
          <a:ln/>
        </p:spPr>
      </p:sp>
      <p:sp>
        <p:nvSpPr>
          <p:cNvPr id="6" name="Text 3"/>
          <p:cNvSpPr txBox="1"/>
          <p:nvPr/>
        </p:nvSpPr>
        <p:spPr>
          <a:xfrm>
            <a:off x="914400" y="1463040"/>
            <a:ext cx="411480" cy="548640"/>
          </a:xfrm>
          <a:prstGeom prst="roundRect">
            <a:avLst>
              <a:gd name="adj" fmla="val 48889"/>
            </a:avLst>
          </a:prstGeom>
          <a:solidFill>
            <a:srgbClr val="3B968F"/>
          </a:solidFill>
          <a:ln/>
        </p:spPr>
        <p:txBody>
          <a:bodyPr wrap="square" lIns="0" tIns="0" rIns="0" bIns="0" rtlCol="0" anchor="ctr"/>
          <a:lstStyle/>
          <a:p>
            <a:pPr algn="ctr" indent="0" marL="0">
              <a:buNone/>
            </a:pPr>
            <a:r>
              <a:rPr lang="en-US" sz="1500" b="1" dirty="0">
                <a:solidFill>
                  <a:srgbClr val="0F1214"/>
                </a:solidFill>
                <a:latin typeface="Calibri" pitchFamily="34" charset="0"/>
                <a:ea typeface="Calibri" pitchFamily="34" charset="-122"/>
                <a:cs typeface="Calibri" pitchFamily="34" charset="-120"/>
              </a:rPr>
              <a:t>1</a:t>
            </a:r>
            <a:endParaRPr lang="en-US" sz="1500" dirty="0"/>
          </a:p>
        </p:txBody>
      </p:sp>
      <p:sp>
        <p:nvSpPr>
          <p:cNvPr id="7" name="Text 4"/>
          <p:cNvSpPr txBox="1"/>
          <p:nvPr/>
        </p:nvSpPr>
        <p:spPr>
          <a:xfrm>
            <a:off x="1508760" y="1463040"/>
            <a:ext cx="6766560" cy="54864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Payer votre loyer en crypto.</a:t>
            </a:r>
            <a:endParaRPr lang="en-US" sz="1300" dirty="0"/>
          </a:p>
        </p:txBody>
      </p:sp>
      <p:sp>
        <p:nvSpPr>
          <p:cNvPr id="8" name="Shape 5"/>
          <p:cNvSpPr/>
          <p:nvPr/>
        </p:nvSpPr>
        <p:spPr>
          <a:xfrm>
            <a:off x="731520" y="2103120"/>
            <a:ext cx="7680960" cy="548640"/>
          </a:xfrm>
          <a:prstGeom prst="roundRect">
            <a:avLst>
              <a:gd name="adj" fmla="val 13333"/>
            </a:avLst>
          </a:prstGeom>
          <a:solidFill>
            <a:srgbClr val="0F1214"/>
          </a:solidFill>
          <a:ln/>
        </p:spPr>
      </p:sp>
      <p:sp>
        <p:nvSpPr>
          <p:cNvPr id="9" name="Text 6"/>
          <p:cNvSpPr txBox="1"/>
          <p:nvPr/>
        </p:nvSpPr>
        <p:spPr>
          <a:xfrm>
            <a:off x="914400" y="2103120"/>
            <a:ext cx="411480" cy="548640"/>
          </a:xfrm>
          <a:prstGeom prst="roundRect">
            <a:avLst>
              <a:gd name="adj" fmla="val 48889"/>
            </a:avLst>
          </a:prstGeom>
          <a:solidFill>
            <a:srgbClr val="3B968F"/>
          </a:solidFill>
          <a:ln/>
        </p:spPr>
        <p:txBody>
          <a:bodyPr wrap="square" lIns="0" tIns="0" rIns="0" bIns="0" rtlCol="0" anchor="ctr"/>
          <a:lstStyle/>
          <a:p>
            <a:pPr algn="ctr" indent="0" marL="0">
              <a:buNone/>
            </a:pPr>
            <a:r>
              <a:rPr lang="en-US" sz="1500" b="1" dirty="0">
                <a:solidFill>
                  <a:srgbClr val="0F1214"/>
                </a:solidFill>
                <a:latin typeface="Calibri" pitchFamily="34" charset="0"/>
                <a:ea typeface="Calibri" pitchFamily="34" charset="-122"/>
                <a:cs typeface="Calibri" pitchFamily="34" charset="-120"/>
              </a:rPr>
              <a:t>2</a:t>
            </a:r>
            <a:endParaRPr lang="en-US" sz="1500" dirty="0"/>
          </a:p>
        </p:txBody>
      </p:sp>
      <p:sp>
        <p:nvSpPr>
          <p:cNvPr id="10" name="Text 7"/>
          <p:cNvSpPr txBox="1"/>
          <p:nvPr/>
        </p:nvSpPr>
        <p:spPr>
          <a:xfrm>
            <a:off x="1508760" y="2103120"/>
            <a:ext cx="6766560" cy="54864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Recevoir votre salaire en crypto.</a:t>
            </a:r>
            <a:endParaRPr lang="en-US" sz="1300" dirty="0"/>
          </a:p>
        </p:txBody>
      </p:sp>
      <p:sp>
        <p:nvSpPr>
          <p:cNvPr id="11" name="Shape 8"/>
          <p:cNvSpPr/>
          <p:nvPr/>
        </p:nvSpPr>
        <p:spPr>
          <a:xfrm>
            <a:off x="731520" y="2743200"/>
            <a:ext cx="7680960" cy="548640"/>
          </a:xfrm>
          <a:prstGeom prst="roundRect">
            <a:avLst>
              <a:gd name="adj" fmla="val 13333"/>
            </a:avLst>
          </a:prstGeom>
          <a:solidFill>
            <a:srgbClr val="0F1214"/>
          </a:solidFill>
          <a:ln/>
        </p:spPr>
      </p:sp>
      <p:sp>
        <p:nvSpPr>
          <p:cNvPr id="12" name="Text 9"/>
          <p:cNvSpPr txBox="1"/>
          <p:nvPr/>
        </p:nvSpPr>
        <p:spPr>
          <a:xfrm>
            <a:off x="914400" y="2743200"/>
            <a:ext cx="411480" cy="548640"/>
          </a:xfrm>
          <a:prstGeom prst="roundRect">
            <a:avLst>
              <a:gd name="adj" fmla="val 48889"/>
            </a:avLst>
          </a:prstGeom>
          <a:solidFill>
            <a:srgbClr val="3B968F"/>
          </a:solidFill>
          <a:ln/>
        </p:spPr>
        <p:txBody>
          <a:bodyPr wrap="square" lIns="0" tIns="0" rIns="0" bIns="0" rtlCol="0" anchor="ctr"/>
          <a:lstStyle/>
          <a:p>
            <a:pPr algn="ctr" indent="0" marL="0">
              <a:buNone/>
            </a:pPr>
            <a:r>
              <a:rPr lang="en-US" sz="1500" b="1" dirty="0">
                <a:solidFill>
                  <a:srgbClr val="0F1214"/>
                </a:solidFill>
                <a:latin typeface="Calibri" pitchFamily="34" charset="0"/>
                <a:ea typeface="Calibri" pitchFamily="34" charset="-122"/>
                <a:cs typeface="Calibri" pitchFamily="34" charset="-120"/>
              </a:rPr>
              <a:t>3</a:t>
            </a:r>
            <a:endParaRPr lang="en-US" sz="1500" dirty="0"/>
          </a:p>
        </p:txBody>
      </p:sp>
      <p:sp>
        <p:nvSpPr>
          <p:cNvPr id="13" name="Text 10"/>
          <p:cNvSpPr txBox="1"/>
          <p:nvPr/>
        </p:nvSpPr>
        <p:spPr>
          <a:xfrm>
            <a:off x="1508760" y="2743200"/>
            <a:ext cx="6766560" cy="54864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Épargner sans stress.</a:t>
            </a:r>
            <a:endParaRPr lang="en-US" sz="1300" dirty="0"/>
          </a:p>
        </p:txBody>
      </p:sp>
      <p:sp>
        <p:nvSpPr>
          <p:cNvPr id="14" name="Shape 11"/>
          <p:cNvSpPr/>
          <p:nvPr/>
        </p:nvSpPr>
        <p:spPr>
          <a:xfrm>
            <a:off x="731520" y="3383280"/>
            <a:ext cx="7680960" cy="548640"/>
          </a:xfrm>
          <a:prstGeom prst="roundRect">
            <a:avLst>
              <a:gd name="adj" fmla="val 13333"/>
            </a:avLst>
          </a:prstGeom>
          <a:solidFill>
            <a:srgbClr val="0F1214"/>
          </a:solidFill>
          <a:ln/>
        </p:spPr>
      </p:sp>
      <p:sp>
        <p:nvSpPr>
          <p:cNvPr id="15" name="Text 12"/>
          <p:cNvSpPr txBox="1"/>
          <p:nvPr/>
        </p:nvSpPr>
        <p:spPr>
          <a:xfrm>
            <a:off x="914400" y="3383280"/>
            <a:ext cx="411480" cy="548640"/>
          </a:xfrm>
          <a:prstGeom prst="roundRect">
            <a:avLst>
              <a:gd name="adj" fmla="val 48889"/>
            </a:avLst>
          </a:prstGeom>
          <a:solidFill>
            <a:srgbClr val="3B968F"/>
          </a:solidFill>
          <a:ln/>
        </p:spPr>
        <p:txBody>
          <a:bodyPr wrap="square" lIns="0" tIns="0" rIns="0" bIns="0" rtlCol="0" anchor="ctr"/>
          <a:lstStyle/>
          <a:p>
            <a:pPr algn="ctr" indent="0" marL="0">
              <a:buNone/>
            </a:pPr>
            <a:r>
              <a:rPr lang="en-US" sz="1500" b="1" dirty="0">
                <a:solidFill>
                  <a:srgbClr val="0F1214"/>
                </a:solidFill>
                <a:latin typeface="Calibri" pitchFamily="34" charset="0"/>
                <a:ea typeface="Calibri" pitchFamily="34" charset="-122"/>
                <a:cs typeface="Calibri" pitchFamily="34" charset="-120"/>
              </a:rPr>
              <a:t>4</a:t>
            </a:r>
            <a:endParaRPr lang="en-US" sz="1500" dirty="0"/>
          </a:p>
        </p:txBody>
      </p:sp>
      <p:sp>
        <p:nvSpPr>
          <p:cNvPr id="16" name="Text 13"/>
          <p:cNvSpPr txBox="1"/>
          <p:nvPr/>
        </p:nvSpPr>
        <p:spPr>
          <a:xfrm>
            <a:off x="1508760" y="3383280"/>
            <a:ext cx="6766560" cy="54864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Faire du commerce international.</a:t>
            </a:r>
            <a:endParaRPr lang="en-US" sz="1300" dirty="0"/>
          </a:p>
        </p:txBody>
      </p:sp>
      <p:sp>
        <p:nvSpPr>
          <p:cNvPr id="17" name="Shape 14"/>
          <p:cNvSpPr/>
          <p:nvPr/>
        </p:nvSpPr>
        <p:spPr>
          <a:xfrm>
            <a:off x="731520" y="4023360"/>
            <a:ext cx="7680960" cy="548640"/>
          </a:xfrm>
          <a:prstGeom prst="roundRect">
            <a:avLst>
              <a:gd name="adj" fmla="val 13333"/>
            </a:avLst>
          </a:prstGeom>
          <a:solidFill>
            <a:srgbClr val="0F1214"/>
          </a:solidFill>
          <a:ln/>
        </p:spPr>
      </p:sp>
      <p:sp>
        <p:nvSpPr>
          <p:cNvPr id="18" name="Text 15"/>
          <p:cNvSpPr txBox="1"/>
          <p:nvPr/>
        </p:nvSpPr>
        <p:spPr>
          <a:xfrm>
            <a:off x="914400" y="4023360"/>
            <a:ext cx="411480" cy="548640"/>
          </a:xfrm>
          <a:prstGeom prst="roundRect">
            <a:avLst>
              <a:gd name="adj" fmla="val 48889"/>
            </a:avLst>
          </a:prstGeom>
          <a:solidFill>
            <a:srgbClr val="3B968F"/>
          </a:solidFill>
          <a:ln/>
        </p:spPr>
        <p:txBody>
          <a:bodyPr wrap="square" lIns="0" tIns="0" rIns="0" bIns="0" rtlCol="0" anchor="ctr"/>
          <a:lstStyle/>
          <a:p>
            <a:pPr algn="ctr" indent="0" marL="0">
              <a:buNone/>
            </a:pPr>
            <a:r>
              <a:rPr lang="en-US" sz="1500" b="1" dirty="0">
                <a:solidFill>
                  <a:srgbClr val="0F1214"/>
                </a:solidFill>
                <a:latin typeface="Calibri" pitchFamily="34" charset="0"/>
                <a:ea typeface="Calibri" pitchFamily="34" charset="-122"/>
                <a:cs typeface="Calibri" pitchFamily="34" charset="-120"/>
              </a:rPr>
              <a:t>5</a:t>
            </a:r>
            <a:endParaRPr lang="en-US" sz="1500" dirty="0"/>
          </a:p>
        </p:txBody>
      </p:sp>
      <p:sp>
        <p:nvSpPr>
          <p:cNvPr id="19" name="Text 16"/>
          <p:cNvSpPr txBox="1"/>
          <p:nvPr/>
        </p:nvSpPr>
        <p:spPr>
          <a:xfrm>
            <a:off x="1508760" y="4023360"/>
            <a:ext cx="6766560" cy="54864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Stablecoins collatéralisés en fiat : USDT, USDC. 1 token = 1 dollar en réserve. Les plus utilisés (&gt;200 milliards en circulation).</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2181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0" y="548640"/>
            <a:ext cx="1280160" cy="1280160"/>
          </a:xfrm>
          <a:prstGeom prst="rect">
            <a:avLst/>
          </a:prstGeom>
        </p:spPr>
      </p:pic>
      <p:pic>
        <p:nvPicPr>
          <p:cNvPr id="3" name="Image 1" descr="preencoded.png">    </p:cNvPr>
          <p:cNvPicPr>
            <a:picLocks noChangeAspect="1"/>
          </p:cNvPicPr>
          <p:nvPr/>
        </p:nvPicPr>
        <p:blipFill>
          <a:blip r:embed="rId2"/>
          <a:stretch>
            <a:fillRect/>
          </a:stretch>
        </p:blipFill>
        <p:spPr>
          <a:xfrm>
            <a:off x="7772400" y="2011680"/>
            <a:ext cx="822960" cy="822960"/>
          </a:xfrm>
          <a:prstGeom prst="rect">
            <a:avLst/>
          </a:prstGeom>
        </p:spPr>
      </p:pic>
      <p:sp>
        <p:nvSpPr>
          <p:cNvPr id="4" name="Shape 0"/>
          <p:cNvSpPr/>
          <p:nvPr/>
        </p:nvSpPr>
        <p:spPr>
          <a:xfrm>
            <a:off x="6583680" y="-274320"/>
            <a:ext cx="3200400" cy="3200400"/>
          </a:xfrm>
          <a:prstGeom prst="ellipse">
            <a:avLst/>
          </a:prstGeom>
          <a:solidFill>
            <a:srgbClr val="3B968F">
              <a:alpha val="6000"/>
            </a:srgbClr>
          </a:solidFill>
          <a:ln/>
        </p:spPr>
      </p:sp>
      <p:sp>
        <p:nvSpPr>
          <p:cNvPr id="5" name="Shape 1"/>
          <p:cNvSpPr/>
          <p:nvPr/>
        </p:nvSpPr>
        <p:spPr>
          <a:xfrm>
            <a:off x="731520" y="914400"/>
            <a:ext cx="45720" cy="2194560"/>
          </a:xfrm>
          <a:prstGeom prst="rect">
            <a:avLst/>
          </a:prstGeom>
          <a:solidFill>
            <a:srgbClr val="3B968F"/>
          </a:solidFill>
          <a:ln/>
        </p:spPr>
      </p:sp>
      <p:sp>
        <p:nvSpPr>
          <p:cNvPr id="6" name="Text 2"/>
          <p:cNvSpPr txBox="1"/>
          <p:nvPr/>
        </p:nvSpPr>
        <p:spPr>
          <a:xfrm>
            <a:off x="960120" y="914400"/>
            <a:ext cx="2743200" cy="365760"/>
          </a:xfrm>
          <a:prstGeom prst="rect">
            <a:avLst/>
          </a:prstGeom>
          <a:noFill/>
          <a:ln/>
        </p:spPr>
        <p:txBody>
          <a:bodyPr wrap="square" lIns="0" tIns="0" rIns="0" bIns="0" rtlCol="0" anchor="ctr"/>
          <a:lstStyle/>
          <a:p>
            <a:pPr indent="0" marL="0">
              <a:buNone/>
            </a:pPr>
            <a:r>
              <a:rPr lang="en-US" sz="1200" b="1" spc="200" kern="0" dirty="0">
                <a:solidFill>
                  <a:srgbClr val="3B968F"/>
                </a:solidFill>
                <a:latin typeface="Calibri" pitchFamily="34" charset="0"/>
                <a:ea typeface="Calibri" pitchFamily="34" charset="-122"/>
                <a:cs typeface="Calibri" pitchFamily="34" charset="-120"/>
              </a:rPr>
              <a:t>Leçon 2 / 3</a:t>
            </a:r>
            <a:endParaRPr lang="en-US" sz="1200" dirty="0"/>
          </a:p>
        </p:txBody>
      </p:sp>
      <p:sp>
        <p:nvSpPr>
          <p:cNvPr id="7" name="Text 3"/>
          <p:cNvSpPr txBox="1"/>
          <p:nvPr/>
        </p:nvSpPr>
        <p:spPr>
          <a:xfrm>
            <a:off x="960120" y="1371600"/>
            <a:ext cx="6217920" cy="1463040"/>
          </a:xfrm>
          <a:prstGeom prst="rect">
            <a:avLst/>
          </a:prstGeom>
          <a:noFill/>
          <a:ln/>
        </p:spPr>
        <p:txBody>
          <a:bodyPr wrap="square" lIns="0" tIns="0" rIns="0" bIns="0" rtlCol="0" anchor="t"/>
          <a:lstStyle/>
          <a:p>
            <a:pPr indent="0" marL="0">
              <a:buNone/>
            </a:pPr>
            <a:r>
              <a:rPr lang="en-US" sz="2800" b="1" dirty="0">
                <a:solidFill>
                  <a:srgbClr val="FFFFFF"/>
                </a:solidFill>
                <a:latin typeface="Calibri" pitchFamily="34" charset="0"/>
                <a:ea typeface="Calibri" pitchFamily="34" charset="-122"/>
                <a:cs typeface="Calibri" pitchFamily="34" charset="-120"/>
              </a:rPr>
              <a:t>USDT — le pilier de l'échange</a:t>
            </a:r>
            <a:endParaRPr lang="en-US" sz="2800" dirty="0"/>
          </a:p>
        </p:txBody>
      </p:sp>
      <p:sp>
        <p:nvSpPr>
          <p:cNvPr id="8" name="Text 4"/>
          <p:cNvSpPr txBox="1"/>
          <p:nvPr/>
        </p:nvSpPr>
        <p:spPr>
          <a:xfrm>
            <a:off x="960120" y="4114800"/>
            <a:ext cx="5486400" cy="320040"/>
          </a:xfrm>
          <a:prstGeom prst="rect">
            <a:avLst/>
          </a:prstGeom>
          <a:noFill/>
          <a:ln/>
        </p:spPr>
        <p:txBody>
          <a:bodyPr wrap="square" lIns="0" tIns="0" rIns="0" bIns="0" rtlCol="0" anchor="ctr"/>
          <a:lstStyle/>
          <a:p>
            <a:pPr indent="0" marL="0">
              <a:buNone/>
            </a:pPr>
            <a:r>
              <a:rPr lang="en-US" sz="1100" dirty="0">
                <a:solidFill>
                  <a:srgbClr val="5B6672"/>
                </a:solidFill>
                <a:latin typeface="Calibri" pitchFamily="34" charset="0"/>
                <a:ea typeface="Calibri" pitchFamily="34" charset="-122"/>
                <a:cs typeface="Calibri" pitchFamily="34" charset="-120"/>
              </a:rPr>
              <a:t>Les stablecoins : USDT &amp; pourquoi c'est utile</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F1214"/>
        </a:solidFill>
      </p:bgPr>
    </p:bg>
    <p:spTree>
      <p:nvGrpSpPr>
        <p:cNvPr id="1" name=""/>
        <p:cNvGrpSpPr/>
        <p:nvPr/>
      </p:nvGrpSpPr>
      <p:grpSpPr>
        <a:xfrm>
          <a:off x="0" y="0"/>
          <a:ext cx="0" cy="0"/>
          <a:chOff x="0" y="0"/>
          <a:chExt cx="0" cy="0"/>
        </a:xfrm>
      </p:grpSpPr>
      <p:sp>
        <p:nvSpPr>
          <p:cNvPr id="2" name="Shape 0"/>
          <p:cNvSpPr/>
          <p:nvPr/>
        </p:nvSpPr>
        <p:spPr>
          <a:xfrm>
            <a:off x="7955280" y="182880"/>
            <a:ext cx="640080" cy="640080"/>
          </a:xfrm>
          <a:prstGeom prst="ellipse">
            <a:avLst/>
          </a:prstGeom>
          <a:solidFill>
            <a:srgbClr val="3B968F">
              <a:alpha val="12000"/>
            </a:srgbClr>
          </a:solidFill>
          <a:ln/>
        </p:spPr>
      </p:sp>
      <p:pic>
        <p:nvPicPr>
          <p:cNvPr id="3" name="Image 0" descr="preencoded.png">    </p:cNvPr>
          <p:cNvPicPr>
            <a:picLocks noChangeAspect="1"/>
          </p:cNvPicPr>
          <p:nvPr/>
        </p:nvPicPr>
        <p:blipFill>
          <a:blip r:embed="rId1"/>
          <a:stretch>
            <a:fillRect/>
          </a:stretch>
        </p:blipFill>
        <p:spPr>
          <a:xfrm>
            <a:off x="8028432" y="256032"/>
            <a:ext cx="493776" cy="493776"/>
          </a:xfrm>
          <a:prstGeom prst="rect">
            <a:avLst/>
          </a:prstGeom>
        </p:spPr>
      </p:pic>
      <p:sp>
        <p:nvSpPr>
          <p:cNvPr id="4" name="Text 1"/>
          <p:cNvSpPr txBox="1"/>
          <p:nvPr/>
        </p:nvSpPr>
        <p:spPr>
          <a:xfrm>
            <a:off x="731520" y="457200"/>
            <a:ext cx="7680960" cy="365760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USDT (Tether) est le stablecoin le plus utilisé au monde.</a:t>
            </a:r>
            <a:endParaRPr lang="en-US" sz="1400" dirty="0"/>
          </a:p>
          <a:p>
            <a:pPr marL="342900" indent="-3429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Lancé en 2014, il représente aujourd'hui plus de 60% du marché des stablecoins, avec une capitalisation de plus de 200 milliards de dollars.</a:t>
            </a:r>
            <a:endParaRPr lang="en-US" sz="1400" dirty="0"/>
          </a:p>
        </p:txBody>
      </p:sp>
      <p:sp>
        <p:nvSpPr>
          <p:cNvPr id="5" name="Text 2"/>
          <p:cNvSpPr txBox="1"/>
          <p:nvPr/>
        </p:nvSpPr>
        <p:spPr>
          <a:xfrm>
            <a:off x="731520" y="4709160"/>
            <a:ext cx="7680960" cy="274320"/>
          </a:xfrm>
          <a:prstGeom prst="rect">
            <a:avLst/>
          </a:prstGeom>
          <a:noFill/>
          <a:ln/>
        </p:spPr>
        <p:txBody>
          <a:bodyPr wrap="square" lIns="0" tIns="0" rIns="0" bIns="0" rtlCol="0" anchor="ctr"/>
          <a:lstStyle/>
          <a:p>
            <a:pPr algn="r" indent="0" marL="0">
              <a:buNone/>
            </a:pPr>
            <a:r>
              <a:rPr lang="en-US" sz="900" dirty="0">
                <a:solidFill>
                  <a:srgbClr val="5B6672"/>
                </a:solidFill>
                <a:latin typeface="Calibri" pitchFamily="34" charset="0"/>
                <a:ea typeface="Calibri" pitchFamily="34" charset="-122"/>
                <a:cs typeface="Calibri" pitchFamily="34" charset="-120"/>
              </a:rPr>
              <a:t>Module 6 — Leçon 2</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F1214"/>
        </a:solidFill>
      </p:bgPr>
    </p:bg>
    <p:spTree>
      <p:nvGrpSpPr>
        <p:cNvPr id="1" name=""/>
        <p:cNvGrpSpPr/>
        <p:nvPr/>
      </p:nvGrpSpPr>
      <p:grpSpPr>
        <a:xfrm>
          <a:off x="0" y="0"/>
          <a:ext cx="0" cy="0"/>
          <a:chOff x="0" y="0"/>
          <a:chExt cx="0" cy="0"/>
        </a:xfrm>
      </p:grpSpPr>
      <p:sp>
        <p:nvSpPr>
          <p:cNvPr id="2" name="Text 0"/>
          <p:cNvSpPr txBox="1"/>
          <p:nvPr/>
        </p:nvSpPr>
        <p:spPr>
          <a:xfrm>
            <a:off x="731520" y="274320"/>
            <a:ext cx="7680960" cy="502920"/>
          </a:xfrm>
          <a:prstGeom prst="rect">
            <a:avLst/>
          </a:prstGeom>
          <a:noFill/>
          <a:ln/>
        </p:spPr>
        <p:txBody>
          <a:bodyPr wrap="square" lIns="0" tIns="0" rIns="0" bIns="0" rtlCol="0" anchor="ctr"/>
          <a:lstStyle/>
          <a:p>
            <a:pPr indent="0" marL="0">
              <a:buNone/>
            </a:pPr>
            <a:r>
              <a:rPr lang="en-US" sz="2000" b="1" dirty="0">
                <a:solidFill>
                  <a:srgbClr val="3B968F"/>
                </a:solidFill>
                <a:latin typeface="Calibri" pitchFamily="34" charset="0"/>
                <a:ea typeface="Calibri" pitchFamily="34" charset="-122"/>
                <a:cs typeface="Calibri" pitchFamily="34" charset="-120"/>
              </a:rPr>
              <a:t>Pourquoi USDT est-il devenu la référence en Afrique ?</a:t>
            </a:r>
            <a:endParaRPr lang="en-US" sz="2000" dirty="0"/>
          </a:p>
        </p:txBody>
      </p:sp>
      <p:sp>
        <p:nvSpPr>
          <p:cNvPr id="3" name="Text 1"/>
          <p:cNvSpPr txBox="1"/>
          <p:nvPr/>
        </p:nvSpPr>
        <p:spPr>
          <a:xfrm>
            <a:off x="731520" y="1005840"/>
            <a:ext cx="4206240" cy="347472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FFFFFF"/>
                </a:solidFill>
                <a:latin typeface="Calibri" pitchFamily="34" charset="0"/>
                <a:ea typeface="Calibri" pitchFamily="34" charset="-122"/>
                <a:cs typeface="Calibri" pitchFamily="34" charset="-120"/>
              </a:rPr>
              <a:t>Il est partout : accepté sur toutes les plateformes d'échange, tous les portefeuilles, tous les marchands crypto afri...</a:t>
            </a:r>
            <a:endParaRPr lang="en-US" sz="1300" dirty="0"/>
          </a:p>
          <a:p>
            <a:pPr marL="342900" indent="-342900">
              <a:spcAft>
                <a:spcPts val="600"/>
              </a:spcAft>
              <a:buSzPct val="100000"/>
              <a:buChar char="•"/>
            </a:pPr>
            <a:r>
              <a:rPr lang="en-US" sz="1300" dirty="0">
                <a:solidFill>
                  <a:srgbClr val="FFFFFF"/>
                </a:solidFill>
                <a:latin typeface="Calibri" pitchFamily="34" charset="0"/>
                <a:ea typeface="Calibri" pitchFamily="34" charset="-122"/>
                <a:cs typeface="Calibri" pitchFamily="34" charset="-120"/>
              </a:rPr>
              <a:t>Il est stable : 1 USDT ≈ 1 USD, à quelques dixièmes de cent près.</a:t>
            </a:r>
            <a:endParaRPr lang="en-US" sz="1300" dirty="0"/>
          </a:p>
          <a:p>
            <a:pPr marL="342900" indent="-342900">
              <a:spcAft>
                <a:spcPts val="600"/>
              </a:spcAft>
              <a:buSzPct val="100000"/>
              <a:buChar char="•"/>
            </a:pPr>
            <a:r>
              <a:rPr lang="en-US" sz="1300" dirty="0">
                <a:solidFill>
                  <a:srgbClr val="FFFFFF"/>
                </a:solidFill>
                <a:latin typeface="Calibri" pitchFamily="34" charset="0"/>
                <a:ea typeface="Calibri" pitchFamily="34" charset="-122"/>
                <a:cs typeface="Calibri" pitchFamily="34" charset="-120"/>
              </a:rPr>
              <a:t>Il protège contre l'inflation locale : le franc CFA est stable, mais dans d'autres pays africains (Nigeria, Ghana, Zi...</a:t>
            </a:r>
            <a:endParaRPr lang="en-US" sz="1300" dirty="0"/>
          </a:p>
        </p:txBody>
      </p:sp>
      <p:sp>
        <p:nvSpPr>
          <p:cNvPr id="4" name="Shape 2"/>
          <p:cNvSpPr/>
          <p:nvPr/>
        </p:nvSpPr>
        <p:spPr>
          <a:xfrm>
            <a:off x="5120640" y="1005840"/>
            <a:ext cx="3474720" cy="640080"/>
          </a:xfrm>
          <a:prstGeom prst="roundRect">
            <a:avLst>
              <a:gd name="adj" fmla="val 14286"/>
            </a:avLst>
          </a:prstGeom>
          <a:solidFill>
            <a:srgbClr val="1A2026"/>
          </a:solidFill>
          <a:ln/>
        </p:spPr>
      </p:sp>
      <p:pic>
        <p:nvPicPr>
          <p:cNvPr id="5" name="Image 0" descr="preencoded.png">    </p:cNvPr>
          <p:cNvPicPr>
            <a:picLocks noChangeAspect="1"/>
          </p:cNvPicPr>
          <p:nvPr/>
        </p:nvPicPr>
        <p:blipFill>
          <a:blip r:embed="rId1"/>
          <a:stretch>
            <a:fillRect/>
          </a:stretch>
        </p:blipFill>
        <p:spPr>
          <a:xfrm>
            <a:off x="5257800" y="1106424"/>
            <a:ext cx="438912" cy="438912"/>
          </a:xfrm>
          <a:prstGeom prst="rect">
            <a:avLst/>
          </a:prstGeom>
        </p:spPr>
      </p:pic>
      <p:sp>
        <p:nvSpPr>
          <p:cNvPr id="6" name="Text 3"/>
          <p:cNvSpPr txBox="1"/>
          <p:nvPr/>
        </p:nvSpPr>
        <p:spPr>
          <a:xfrm>
            <a:off x="5806440" y="1005840"/>
            <a:ext cx="2651760" cy="640080"/>
          </a:xfrm>
          <a:prstGeom prst="rect">
            <a:avLst/>
          </a:prstGeom>
          <a:noFill/>
          <a:ln/>
        </p:spPr>
        <p:txBody>
          <a:bodyPr wrap="square" lIns="0" tIns="0" rIns="0" bIns="0" rtlCol="0" anchor="ctr"/>
          <a:lstStyle/>
          <a:p>
            <a:pPr indent="0" marL="0">
              <a:buNone/>
            </a:pPr>
            <a:r>
              <a:rPr lang="en-US" sz="1200" dirty="0">
                <a:solidFill>
                  <a:srgbClr val="FFFFFF"/>
                </a:solidFill>
                <a:latin typeface="Calibri" pitchFamily="34" charset="0"/>
                <a:ea typeface="Calibri" pitchFamily="34" charset="-122"/>
                <a:cs typeface="Calibri" pitchFamily="34" charset="-120"/>
              </a:rPr>
              <a:t>Il traverse les frontières : envoyer 500 USDT du Sénégal au Cameroun prend 10...</a:t>
            </a:r>
            <a:endParaRPr lang="en-US" sz="1200" dirty="0"/>
          </a:p>
        </p:txBody>
      </p:sp>
      <p:sp>
        <p:nvSpPr>
          <p:cNvPr id="7" name="Shape 4"/>
          <p:cNvSpPr/>
          <p:nvPr/>
        </p:nvSpPr>
        <p:spPr>
          <a:xfrm>
            <a:off x="5120640" y="1737360"/>
            <a:ext cx="3474720" cy="640080"/>
          </a:xfrm>
          <a:prstGeom prst="roundRect">
            <a:avLst>
              <a:gd name="adj" fmla="val 14286"/>
            </a:avLst>
          </a:prstGeom>
          <a:solidFill>
            <a:srgbClr val="1A2026"/>
          </a:solidFill>
          <a:ln/>
        </p:spPr>
      </p:sp>
      <p:pic>
        <p:nvPicPr>
          <p:cNvPr id="8" name="Image 1" descr="preencoded.png">    </p:cNvPr>
          <p:cNvPicPr>
            <a:picLocks noChangeAspect="1"/>
          </p:cNvPicPr>
          <p:nvPr/>
        </p:nvPicPr>
        <p:blipFill>
          <a:blip r:embed="rId2"/>
          <a:stretch>
            <a:fillRect/>
          </a:stretch>
        </p:blipFill>
        <p:spPr>
          <a:xfrm>
            <a:off x="5257800" y="1837944"/>
            <a:ext cx="438912" cy="438912"/>
          </a:xfrm>
          <a:prstGeom prst="rect">
            <a:avLst/>
          </a:prstGeom>
        </p:spPr>
      </p:pic>
      <p:sp>
        <p:nvSpPr>
          <p:cNvPr id="9" name="Text 5"/>
          <p:cNvSpPr txBox="1"/>
          <p:nvPr/>
        </p:nvSpPr>
        <p:spPr>
          <a:xfrm>
            <a:off x="5806440" y="1737360"/>
            <a:ext cx="2651760" cy="640080"/>
          </a:xfrm>
          <a:prstGeom prst="rect">
            <a:avLst/>
          </a:prstGeom>
          <a:noFill/>
          <a:ln/>
        </p:spPr>
        <p:txBody>
          <a:bodyPr wrap="square" lIns="0" tIns="0" rIns="0" bIns="0" rtlCol="0" anchor="ctr"/>
          <a:lstStyle/>
          <a:p>
            <a:pPr indent="0" marL="0">
              <a:buNone/>
            </a:pPr>
            <a:r>
              <a:rPr lang="en-US" sz="1200" dirty="0">
                <a:solidFill>
                  <a:srgbClr val="FFFFFF"/>
                </a:solidFill>
                <a:latin typeface="Calibri" pitchFamily="34" charset="0"/>
                <a:ea typeface="Calibri" pitchFamily="34" charset="-122"/>
                <a:cs typeface="Calibri" pitchFamily="34" charset="-120"/>
              </a:rPr>
              <a:t>Il est disponible sur plusieurs réseaux : Tron, Ethereum, BNB Chain, Solana, ...</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F1214"/>
        </a:solidFill>
      </p:bgPr>
    </p:bg>
    <p:spTree>
      <p:nvGrpSpPr>
        <p:cNvPr id="1" name=""/>
        <p:cNvGrpSpPr/>
        <p:nvPr/>
      </p:nvGrpSpPr>
      <p:grpSpPr>
        <a:xfrm>
          <a:off x="0" y="0"/>
          <a:ext cx="0" cy="0"/>
          <a:chOff x="0" y="0"/>
          <a:chExt cx="0" cy="0"/>
        </a:xfrm>
      </p:grpSpPr>
      <p:sp>
        <p:nvSpPr>
          <p:cNvPr id="2" name="Text 0"/>
          <p:cNvSpPr txBox="1"/>
          <p:nvPr/>
        </p:nvSpPr>
        <p:spPr>
          <a:xfrm>
            <a:off x="731520" y="274320"/>
            <a:ext cx="7680960" cy="502920"/>
          </a:xfrm>
          <a:prstGeom prst="rect">
            <a:avLst/>
          </a:prstGeom>
          <a:noFill/>
          <a:ln/>
        </p:spPr>
        <p:txBody>
          <a:bodyPr wrap="square" lIns="0" tIns="0" rIns="0" bIns="0" rtlCol="0" anchor="ctr"/>
          <a:lstStyle/>
          <a:p>
            <a:pPr indent="0" marL="0">
              <a:buNone/>
            </a:pPr>
            <a:r>
              <a:rPr lang="en-US" sz="2000" b="1" dirty="0">
                <a:solidFill>
                  <a:srgbClr val="3B968F"/>
                </a:solidFill>
                <a:latin typeface="Calibri" pitchFamily="34" charset="0"/>
                <a:ea typeface="Calibri" pitchFamily="34" charset="-122"/>
                <a:cs typeface="Calibri" pitchFamily="34" charset="-120"/>
              </a:rPr>
              <a:t>Les cas d'usage concrets en Afrique</a:t>
            </a:r>
            <a:endParaRPr lang="en-US" sz="2000" dirty="0"/>
          </a:p>
        </p:txBody>
      </p:sp>
      <p:sp>
        <p:nvSpPr>
          <p:cNvPr id="3" name="Shape 1"/>
          <p:cNvSpPr/>
          <p:nvPr/>
        </p:nvSpPr>
        <p:spPr>
          <a:xfrm>
            <a:off x="594360" y="1005840"/>
            <a:ext cx="2468880" cy="1371600"/>
          </a:xfrm>
          <a:prstGeom prst="roundRect">
            <a:avLst>
              <a:gd name="adj" fmla="val 6667"/>
            </a:avLst>
          </a:prstGeom>
          <a:solidFill>
            <a:srgbClr val="1A2026"/>
          </a:solidFill>
          <a:ln/>
        </p:spPr>
      </p:sp>
      <p:pic>
        <p:nvPicPr>
          <p:cNvPr id="4" name="Image 0" descr="preencoded.png">    </p:cNvPr>
          <p:cNvPicPr>
            <a:picLocks noChangeAspect="1"/>
          </p:cNvPicPr>
          <p:nvPr/>
        </p:nvPicPr>
        <p:blipFill>
          <a:blip r:embed="rId1"/>
          <a:stretch>
            <a:fillRect/>
          </a:stretch>
        </p:blipFill>
        <p:spPr>
          <a:xfrm>
            <a:off x="731520" y="1143000"/>
            <a:ext cx="502920" cy="502920"/>
          </a:xfrm>
          <a:prstGeom prst="rect">
            <a:avLst/>
          </a:prstGeom>
        </p:spPr>
      </p:pic>
      <p:sp>
        <p:nvSpPr>
          <p:cNvPr id="5" name="Text 2"/>
          <p:cNvSpPr txBox="1"/>
          <p:nvPr/>
        </p:nvSpPr>
        <p:spPr>
          <a:xfrm>
            <a:off x="731520" y="1719072"/>
            <a:ext cx="2194560" cy="320040"/>
          </a:xfrm>
          <a:prstGeom prst="rect">
            <a:avLst/>
          </a:prstGeom>
          <a:noFill/>
          <a:ln/>
        </p:spPr>
        <p:txBody>
          <a:bodyPr wrap="square" lIns="0" tIns="0" rIns="0" bIns="0" rtlCol="0" anchor="t"/>
          <a:lstStyle/>
          <a:p>
            <a:pPr indent="0" marL="0">
              <a:buNone/>
            </a:pPr>
            <a:r>
              <a:rPr lang="en-US" sz="1100" b="1" dirty="0">
                <a:solidFill>
                  <a:srgbClr val="FFFFFF"/>
                </a:solidFill>
                <a:latin typeface="Calibri" pitchFamily="34" charset="0"/>
                <a:ea typeface="Calibri" pitchFamily="34" charset="-122"/>
                <a:cs typeface="Calibri" pitchFamily="34" charset="-120"/>
              </a:rPr>
              <a:t>Épargner en dollars sans banque : impossible d'ouvrir un ...</a:t>
            </a:r>
            <a:endParaRPr lang="en-US" sz="1100" dirty="0"/>
          </a:p>
        </p:txBody>
      </p:sp>
      <p:sp>
        <p:nvSpPr>
          <p:cNvPr id="6" name="Text 3"/>
          <p:cNvSpPr txBox="1"/>
          <p:nvPr/>
        </p:nvSpPr>
        <p:spPr>
          <a:xfrm>
            <a:off x="731520" y="2011680"/>
            <a:ext cx="2194560" cy="274320"/>
          </a:xfrm>
          <a:prstGeom prst="rect">
            <a:avLst/>
          </a:prstGeom>
          <a:noFill/>
          <a:ln/>
        </p:spPr>
        <p:txBody>
          <a:bodyPr wrap="square" lIns="0" tIns="0" rIns="0" bIns="0" rtlCol="0" anchor="t"/>
          <a:lstStyle/>
          <a:p>
            <a:pPr indent="0" marL="0">
              <a:buNone/>
            </a:pPr>
            <a:r>
              <a:rPr lang="en-US" sz="900" dirty="0">
                <a:solidFill>
                  <a:srgbClr val="8994A0"/>
                </a:solidFill>
                <a:latin typeface="Calibri" pitchFamily="34" charset="0"/>
                <a:ea typeface="Calibri" pitchFamily="34" charset="-122"/>
                <a:cs typeface="Calibri" pitchFamily="34" charset="-120"/>
              </a:rPr>
              <a:t> Sénégal ? Achetez des USDT sur Terex.</a:t>
            </a:r>
            <a:endParaRPr lang="en-US" sz="900" dirty="0"/>
          </a:p>
        </p:txBody>
      </p:sp>
      <p:sp>
        <p:nvSpPr>
          <p:cNvPr id="7" name="Shape 4"/>
          <p:cNvSpPr/>
          <p:nvPr/>
        </p:nvSpPr>
        <p:spPr>
          <a:xfrm>
            <a:off x="3246120" y="1005840"/>
            <a:ext cx="2468880" cy="1371600"/>
          </a:xfrm>
          <a:prstGeom prst="roundRect">
            <a:avLst>
              <a:gd name="adj" fmla="val 6667"/>
            </a:avLst>
          </a:prstGeom>
          <a:solidFill>
            <a:srgbClr val="1A2026"/>
          </a:solidFill>
          <a:ln/>
        </p:spPr>
      </p:sp>
      <p:pic>
        <p:nvPicPr>
          <p:cNvPr id="8" name="Image 1" descr="preencoded.png">    </p:cNvPr>
          <p:cNvPicPr>
            <a:picLocks noChangeAspect="1"/>
          </p:cNvPicPr>
          <p:nvPr/>
        </p:nvPicPr>
        <p:blipFill>
          <a:blip r:embed="rId2"/>
          <a:stretch>
            <a:fillRect/>
          </a:stretch>
        </p:blipFill>
        <p:spPr>
          <a:xfrm>
            <a:off x="3383280" y="1143000"/>
            <a:ext cx="502920" cy="502920"/>
          </a:xfrm>
          <a:prstGeom prst="rect">
            <a:avLst/>
          </a:prstGeom>
        </p:spPr>
      </p:pic>
      <p:sp>
        <p:nvSpPr>
          <p:cNvPr id="9" name="Text 5"/>
          <p:cNvSpPr txBox="1"/>
          <p:nvPr/>
        </p:nvSpPr>
        <p:spPr>
          <a:xfrm>
            <a:off x="3383280" y="1719072"/>
            <a:ext cx="2194560" cy="320040"/>
          </a:xfrm>
          <a:prstGeom prst="rect">
            <a:avLst/>
          </a:prstGeom>
          <a:noFill/>
          <a:ln/>
        </p:spPr>
        <p:txBody>
          <a:bodyPr wrap="square" lIns="0" tIns="0" rIns="0" bIns="0" rtlCol="0" anchor="t"/>
          <a:lstStyle/>
          <a:p>
            <a:pPr indent="0" marL="0">
              <a:buNone/>
            </a:pPr>
            <a:r>
              <a:rPr lang="en-US" sz="1100" b="1" dirty="0">
                <a:solidFill>
                  <a:srgbClr val="FFFFFF"/>
                </a:solidFill>
                <a:latin typeface="Calibri" pitchFamily="34" charset="0"/>
                <a:ea typeface="Calibri" pitchFamily="34" charset="-122"/>
                <a:cs typeface="Calibri" pitchFamily="34" charset="-120"/>
              </a:rPr>
              <a:t>Payer un fournisseur en Chine : plus rapide et moins cher...</a:t>
            </a:r>
            <a:endParaRPr lang="en-US" sz="1100" dirty="0"/>
          </a:p>
        </p:txBody>
      </p:sp>
      <p:sp>
        <p:nvSpPr>
          <p:cNvPr id="10" name="Text 6"/>
          <p:cNvSpPr txBox="1"/>
          <p:nvPr/>
        </p:nvSpPr>
        <p:spPr>
          <a:xfrm>
            <a:off x="3383280" y="2011680"/>
            <a:ext cx="2194560" cy="274320"/>
          </a:xfrm>
          <a:prstGeom prst="rect">
            <a:avLst/>
          </a:prstGeom>
          <a:noFill/>
          <a:ln/>
        </p:spPr>
        <p:txBody>
          <a:bodyPr wrap="square" lIns="0" tIns="0" rIns="0" bIns="0" rtlCol="0" anchor="t"/>
          <a:lstStyle/>
          <a:p>
            <a:pPr indent="0" marL="0">
              <a:buNone/>
            </a:pPr>
            <a:r>
              <a:rPr lang="en-US" sz="900" dirty="0">
                <a:solidFill>
                  <a:srgbClr val="8994A0"/>
                </a:solidFill>
                <a:latin typeface="Calibri" pitchFamily="34" charset="0"/>
                <a:ea typeface="Calibri" pitchFamily="34" charset="-122"/>
                <a:cs typeface="Calibri" pitchFamily="34" charset="-120"/>
              </a:rPr>
              <a:t>nt bancaire.</a:t>
            </a:r>
            <a:endParaRPr lang="en-US" sz="900" dirty="0"/>
          </a:p>
        </p:txBody>
      </p:sp>
      <p:sp>
        <p:nvSpPr>
          <p:cNvPr id="11" name="Shape 7"/>
          <p:cNvSpPr/>
          <p:nvPr/>
        </p:nvSpPr>
        <p:spPr>
          <a:xfrm>
            <a:off x="5897880" y="1005840"/>
            <a:ext cx="2468880" cy="1371600"/>
          </a:xfrm>
          <a:prstGeom prst="roundRect">
            <a:avLst>
              <a:gd name="adj" fmla="val 6667"/>
            </a:avLst>
          </a:prstGeom>
          <a:solidFill>
            <a:srgbClr val="1A2026"/>
          </a:solidFill>
          <a:ln/>
        </p:spPr>
      </p:sp>
      <p:pic>
        <p:nvPicPr>
          <p:cNvPr id="12" name="Image 2" descr="preencoded.png">    </p:cNvPr>
          <p:cNvPicPr>
            <a:picLocks noChangeAspect="1"/>
          </p:cNvPicPr>
          <p:nvPr/>
        </p:nvPicPr>
        <p:blipFill>
          <a:blip r:embed="rId3"/>
          <a:stretch>
            <a:fillRect/>
          </a:stretch>
        </p:blipFill>
        <p:spPr>
          <a:xfrm>
            <a:off x="6035040" y="1143000"/>
            <a:ext cx="502920" cy="502920"/>
          </a:xfrm>
          <a:prstGeom prst="rect">
            <a:avLst/>
          </a:prstGeom>
        </p:spPr>
      </p:pic>
      <p:sp>
        <p:nvSpPr>
          <p:cNvPr id="13" name="Text 8"/>
          <p:cNvSpPr txBox="1"/>
          <p:nvPr/>
        </p:nvSpPr>
        <p:spPr>
          <a:xfrm>
            <a:off x="6035040" y="1719072"/>
            <a:ext cx="2194560" cy="320040"/>
          </a:xfrm>
          <a:prstGeom prst="rect">
            <a:avLst/>
          </a:prstGeom>
          <a:noFill/>
          <a:ln/>
        </p:spPr>
        <p:txBody>
          <a:bodyPr wrap="square" lIns="0" tIns="0" rIns="0" bIns="0" rtlCol="0" anchor="t"/>
          <a:lstStyle/>
          <a:p>
            <a:pPr indent="0" marL="0">
              <a:buNone/>
            </a:pPr>
            <a:r>
              <a:rPr lang="en-US" sz="1100" b="1" dirty="0">
                <a:solidFill>
                  <a:srgbClr val="FFFFFF"/>
                </a:solidFill>
                <a:latin typeface="Calibri" pitchFamily="34" charset="0"/>
                <a:ea typeface="Calibri" pitchFamily="34" charset="-122"/>
                <a:cs typeface="Calibri" pitchFamily="34" charset="-120"/>
              </a:rPr>
              <a:t>Envoyer de l'argent à la famille à l'étranger : votre nev...</a:t>
            </a:r>
            <a:endParaRPr lang="en-US" sz="1100" dirty="0"/>
          </a:p>
        </p:txBody>
      </p:sp>
      <p:sp>
        <p:nvSpPr>
          <p:cNvPr id="14" name="Text 9"/>
          <p:cNvSpPr txBox="1"/>
          <p:nvPr/>
        </p:nvSpPr>
        <p:spPr>
          <a:xfrm>
            <a:off x="6035040" y="2011680"/>
            <a:ext cx="2194560" cy="274320"/>
          </a:xfrm>
          <a:prstGeom prst="rect">
            <a:avLst/>
          </a:prstGeom>
          <a:noFill/>
          <a:ln/>
        </p:spPr>
        <p:txBody>
          <a:bodyPr wrap="square" lIns="0" tIns="0" rIns="0" bIns="0" rtlCol="0" anchor="t"/>
          <a:lstStyle/>
          <a:p>
            <a:pPr indent="0" marL="0">
              <a:buNone/>
            </a:pPr>
            <a:r>
              <a:rPr lang="en-US" sz="900" dirty="0">
                <a:solidFill>
                  <a:srgbClr val="8994A0"/>
                </a:solidFill>
                <a:latin typeface="Calibri" pitchFamily="34" charset="0"/>
                <a:ea typeface="Calibri" pitchFamily="34" charset="-122"/>
                <a:cs typeface="Calibri" pitchFamily="34" charset="-120"/>
              </a:rPr>
              <a:t>reçoit ses USDT en 10 minutes.</a:t>
            </a:r>
            <a:endParaRPr lang="en-US" sz="900" dirty="0"/>
          </a:p>
        </p:txBody>
      </p:sp>
      <p:sp>
        <p:nvSpPr>
          <p:cNvPr id="15" name="Shape 10"/>
          <p:cNvSpPr/>
          <p:nvPr/>
        </p:nvSpPr>
        <p:spPr>
          <a:xfrm>
            <a:off x="594360" y="2514600"/>
            <a:ext cx="2468880" cy="1371600"/>
          </a:xfrm>
          <a:prstGeom prst="roundRect">
            <a:avLst>
              <a:gd name="adj" fmla="val 6667"/>
            </a:avLst>
          </a:prstGeom>
          <a:solidFill>
            <a:srgbClr val="1A2026"/>
          </a:solidFill>
          <a:ln/>
        </p:spPr>
      </p:sp>
      <p:pic>
        <p:nvPicPr>
          <p:cNvPr id="16" name="Image 3" descr="preencoded.png">    </p:cNvPr>
          <p:cNvPicPr>
            <a:picLocks noChangeAspect="1"/>
          </p:cNvPicPr>
          <p:nvPr/>
        </p:nvPicPr>
        <p:blipFill>
          <a:blip r:embed="rId4"/>
          <a:stretch>
            <a:fillRect/>
          </a:stretch>
        </p:blipFill>
        <p:spPr>
          <a:xfrm>
            <a:off x="731520" y="2651760"/>
            <a:ext cx="502920" cy="502920"/>
          </a:xfrm>
          <a:prstGeom prst="rect">
            <a:avLst/>
          </a:prstGeom>
        </p:spPr>
      </p:pic>
      <p:sp>
        <p:nvSpPr>
          <p:cNvPr id="17" name="Text 11"/>
          <p:cNvSpPr txBox="1"/>
          <p:nvPr/>
        </p:nvSpPr>
        <p:spPr>
          <a:xfrm>
            <a:off x="731520" y="3227832"/>
            <a:ext cx="2194560" cy="320040"/>
          </a:xfrm>
          <a:prstGeom prst="rect">
            <a:avLst/>
          </a:prstGeom>
          <a:noFill/>
          <a:ln/>
        </p:spPr>
        <p:txBody>
          <a:bodyPr wrap="square" lIns="0" tIns="0" rIns="0" bIns="0" rtlCol="0" anchor="t"/>
          <a:lstStyle/>
          <a:p>
            <a:pPr indent="0" marL="0">
              <a:buNone/>
            </a:pPr>
            <a:r>
              <a:rPr lang="en-US" sz="1100" b="1" dirty="0">
                <a:solidFill>
                  <a:srgbClr val="FFFFFF"/>
                </a:solidFill>
                <a:latin typeface="Calibri" pitchFamily="34" charset="0"/>
                <a:ea typeface="Calibri" pitchFamily="34" charset="-122"/>
                <a:cs typeface="Calibri" pitchFamily="34" charset="-120"/>
              </a:rPr>
              <a:t>Recevoir un paiement d'un client international : freelanc...</a:t>
            </a:r>
            <a:endParaRPr lang="en-US" sz="1100" dirty="0"/>
          </a:p>
        </p:txBody>
      </p:sp>
      <p:sp>
        <p:nvSpPr>
          <p:cNvPr id="18" name="Text 12"/>
          <p:cNvSpPr txBox="1"/>
          <p:nvPr/>
        </p:nvSpPr>
        <p:spPr>
          <a:xfrm>
            <a:off x="731520" y="3520440"/>
            <a:ext cx="2194560" cy="274320"/>
          </a:xfrm>
          <a:prstGeom prst="rect">
            <a:avLst/>
          </a:prstGeom>
          <a:noFill/>
          <a:ln/>
        </p:spPr>
        <p:txBody>
          <a:bodyPr wrap="square" lIns="0" tIns="0" rIns="0" bIns="0" rtlCol="0" anchor="t"/>
          <a:lstStyle/>
          <a:p>
            <a:pPr indent="0" marL="0">
              <a:buNone/>
            </a:pPr>
            <a:r>
              <a:rPr lang="en-US" sz="900" dirty="0">
                <a:solidFill>
                  <a:srgbClr val="8994A0"/>
                </a:solidFill>
                <a:latin typeface="Calibri" pitchFamily="34" charset="0"/>
                <a:ea typeface="Calibri" pitchFamily="34" charset="-122"/>
                <a:cs typeface="Calibri" pitchFamily="34" charset="-120"/>
              </a:rPr>
              <a:t>, consultant — vous êtes payé sans commission bancaire de 3-5%.</a:t>
            </a:r>
            <a:endParaRPr lang="en-US" sz="900" dirty="0"/>
          </a:p>
        </p:txBody>
      </p:sp>
      <p:sp>
        <p:nvSpPr>
          <p:cNvPr id="19" name="Shape 13"/>
          <p:cNvSpPr/>
          <p:nvPr/>
        </p:nvSpPr>
        <p:spPr>
          <a:xfrm>
            <a:off x="3246120" y="2514600"/>
            <a:ext cx="2468880" cy="1371600"/>
          </a:xfrm>
          <a:prstGeom prst="roundRect">
            <a:avLst>
              <a:gd name="adj" fmla="val 6667"/>
            </a:avLst>
          </a:prstGeom>
          <a:solidFill>
            <a:srgbClr val="1A2026"/>
          </a:solidFill>
          <a:ln/>
        </p:spPr>
      </p:sp>
      <p:pic>
        <p:nvPicPr>
          <p:cNvPr id="20" name="Image 4" descr="preencoded.png">    </p:cNvPr>
          <p:cNvPicPr>
            <a:picLocks noChangeAspect="1"/>
          </p:cNvPicPr>
          <p:nvPr/>
        </p:nvPicPr>
        <p:blipFill>
          <a:blip r:embed="rId5"/>
          <a:stretch>
            <a:fillRect/>
          </a:stretch>
        </p:blipFill>
        <p:spPr>
          <a:xfrm>
            <a:off x="3383280" y="2651760"/>
            <a:ext cx="502920" cy="502920"/>
          </a:xfrm>
          <a:prstGeom prst="rect">
            <a:avLst/>
          </a:prstGeom>
        </p:spPr>
      </p:pic>
      <p:sp>
        <p:nvSpPr>
          <p:cNvPr id="21" name="Text 14"/>
          <p:cNvSpPr txBox="1"/>
          <p:nvPr/>
        </p:nvSpPr>
        <p:spPr>
          <a:xfrm>
            <a:off x="3383280" y="3227832"/>
            <a:ext cx="2194560" cy="320040"/>
          </a:xfrm>
          <a:prstGeom prst="rect">
            <a:avLst/>
          </a:prstGeom>
          <a:noFill/>
          <a:ln/>
        </p:spPr>
        <p:txBody>
          <a:bodyPr wrap="square" lIns="0" tIns="0" rIns="0" bIns="0" rtlCol="0" anchor="t"/>
          <a:lstStyle/>
          <a:p>
            <a:pPr indent="0" marL="0">
              <a:buNone/>
            </a:pPr>
            <a:r>
              <a:rPr lang="en-US" sz="1100" b="1" dirty="0">
                <a:solidFill>
                  <a:srgbClr val="FFFFFF"/>
                </a:solidFill>
                <a:latin typeface="Calibri" pitchFamily="34" charset="0"/>
                <a:ea typeface="Calibri" pitchFamily="34" charset="-122"/>
                <a:cs typeface="Calibri" pitchFamily="34" charset="-120"/>
              </a:rPr>
              <a:t>Faire du trading : USDT est la paire de référence face à ...</a:t>
            </a:r>
            <a:endParaRPr lang="en-US" sz="1100" dirty="0"/>
          </a:p>
        </p:txBody>
      </p:sp>
      <p:sp>
        <p:nvSpPr>
          <p:cNvPr id="22" name="Text 15"/>
          <p:cNvSpPr txBox="1"/>
          <p:nvPr/>
        </p:nvSpPr>
        <p:spPr>
          <a:xfrm>
            <a:off x="3383280" y="3520440"/>
            <a:ext cx="2194560" cy="274320"/>
          </a:xfrm>
          <a:prstGeom prst="rect">
            <a:avLst/>
          </a:prstGeom>
          <a:noFill/>
          <a:ln/>
        </p:spPr>
        <p:txBody>
          <a:bodyPr wrap="square" lIns="0" tIns="0" rIns="0" bIns="0" rtlCol="0" anchor="t"/>
          <a:lstStyle/>
          <a:p>
            <a:pPr indent="0" marL="0">
              <a:buNone/>
            </a:pPr>
            <a:r>
              <a:rPr lang="en-US" sz="900" dirty="0">
                <a:solidFill>
                  <a:srgbClr val="8994A0"/>
                </a:solidFill>
                <a:latin typeface="Calibri" pitchFamily="34" charset="0"/>
                <a:ea typeface="Calibri" pitchFamily="34" charset="-122"/>
                <a:cs typeface="Calibri" pitchFamily="34" charset="-120"/>
              </a:rPr>
              <a:t>tres cryptos sur les plateformes.</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F1214"/>
        </a:solidFill>
      </p:bgPr>
    </p:bg>
    <p:spTree>
      <p:nvGrpSpPr>
        <p:cNvPr id="1" name=""/>
        <p:cNvGrpSpPr/>
        <p:nvPr/>
      </p:nvGrpSpPr>
      <p:grpSpPr>
        <a:xfrm>
          <a:off x="0" y="0"/>
          <a:ext cx="0" cy="0"/>
          <a:chOff x="0" y="0"/>
          <a:chExt cx="0" cy="0"/>
        </a:xfrm>
      </p:grpSpPr>
      <p:sp>
        <p:nvSpPr>
          <p:cNvPr id="2" name="Shape 0"/>
          <p:cNvSpPr/>
          <p:nvPr/>
        </p:nvSpPr>
        <p:spPr>
          <a:xfrm>
            <a:off x="7955280" y="182880"/>
            <a:ext cx="640080" cy="640080"/>
          </a:xfrm>
          <a:prstGeom prst="ellipse">
            <a:avLst/>
          </a:prstGeom>
          <a:solidFill>
            <a:srgbClr val="3B968F">
              <a:alpha val="12000"/>
            </a:srgbClr>
          </a:solidFill>
          <a:ln/>
        </p:spPr>
      </p:sp>
      <p:pic>
        <p:nvPicPr>
          <p:cNvPr id="3" name="Image 0" descr="preencoded.png">    </p:cNvPr>
          <p:cNvPicPr>
            <a:picLocks noChangeAspect="1"/>
          </p:cNvPicPr>
          <p:nvPr/>
        </p:nvPicPr>
        <p:blipFill>
          <a:blip r:embed="rId1"/>
          <a:stretch>
            <a:fillRect/>
          </a:stretch>
        </p:blipFill>
        <p:spPr>
          <a:xfrm>
            <a:off x="8028432" y="256032"/>
            <a:ext cx="493776" cy="493776"/>
          </a:xfrm>
          <a:prstGeom prst="rect">
            <a:avLst/>
          </a:prstGeom>
        </p:spPr>
      </p:pic>
      <p:sp>
        <p:nvSpPr>
          <p:cNvPr id="4" name="Text 1"/>
          <p:cNvSpPr txBox="1"/>
          <p:nvPr/>
        </p:nvSpPr>
        <p:spPr>
          <a:xfrm>
            <a:off x="731520" y="274320"/>
            <a:ext cx="7132320" cy="502920"/>
          </a:xfrm>
          <a:prstGeom prst="rect">
            <a:avLst/>
          </a:prstGeom>
          <a:noFill/>
          <a:ln/>
        </p:spPr>
        <p:txBody>
          <a:bodyPr wrap="square" lIns="0" tIns="0" rIns="0" bIns="0" rtlCol="0" anchor="ctr"/>
          <a:lstStyle/>
          <a:p>
            <a:pPr indent="0" marL="0">
              <a:buNone/>
            </a:pPr>
            <a:r>
              <a:rPr lang="en-US" sz="2000" b="1" dirty="0">
                <a:solidFill>
                  <a:srgbClr val="3B968F"/>
                </a:solidFill>
                <a:latin typeface="Calibri" pitchFamily="34" charset="0"/>
                <a:ea typeface="Calibri" pitchFamily="34" charset="-122"/>
                <a:cs typeface="Calibri" pitchFamily="34" charset="-120"/>
              </a:rPr>
              <a:t>Est-ce que USDT est risqué ?</a:t>
            </a:r>
            <a:endParaRPr lang="en-US" sz="2000" dirty="0"/>
          </a:p>
        </p:txBody>
      </p:sp>
      <p:sp>
        <p:nvSpPr>
          <p:cNvPr id="5" name="Text 2"/>
          <p:cNvSpPr txBox="1"/>
          <p:nvPr/>
        </p:nvSpPr>
        <p:spPr>
          <a:xfrm>
            <a:off x="731520" y="960120"/>
            <a:ext cx="7680960" cy="365760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Le risque principal est un défaut de Tether (la société qui l'émet).</a:t>
            </a:r>
            <a:endParaRPr lang="en-US" sz="1400" dirty="0"/>
          </a:p>
          <a:p>
            <a:pPr marL="342900" indent="-3429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C'est théoriquement possible, mais c'est aujourd'hui le stablecoin le plus liquide et l'un des plus scrutés du secteur.</a:t>
            </a:r>
            <a:endParaRPr lang="en-US" sz="1400" dirty="0"/>
          </a:p>
          <a:p>
            <a:pPr marL="342900" indent="-3429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Pour limiter le risque, ne stockez pas des centaines de milliers de dollars sur un seul stablecoin — diversifiez avec USDC si les montants sont importants.</a:t>
            </a:r>
            <a:endParaRPr lang="en-US" sz="1400" dirty="0"/>
          </a:p>
        </p:txBody>
      </p:sp>
      <p:sp>
        <p:nvSpPr>
          <p:cNvPr id="6" name="Text 3"/>
          <p:cNvSpPr txBox="1"/>
          <p:nvPr/>
        </p:nvSpPr>
        <p:spPr>
          <a:xfrm>
            <a:off x="731520" y="4709160"/>
            <a:ext cx="7680960" cy="274320"/>
          </a:xfrm>
          <a:prstGeom prst="rect">
            <a:avLst/>
          </a:prstGeom>
          <a:noFill/>
          <a:ln/>
        </p:spPr>
        <p:txBody>
          <a:bodyPr wrap="square" lIns="0" tIns="0" rIns="0" bIns="0" rtlCol="0" anchor="ctr"/>
          <a:lstStyle/>
          <a:p>
            <a:pPr algn="r" indent="0" marL="0">
              <a:buNone/>
            </a:pPr>
            <a:r>
              <a:rPr lang="en-US" sz="900" dirty="0">
                <a:solidFill>
                  <a:srgbClr val="5B6672"/>
                </a:solidFill>
                <a:latin typeface="Calibri" pitchFamily="34" charset="0"/>
                <a:ea typeface="Calibri" pitchFamily="34" charset="-122"/>
                <a:cs typeface="Calibri" pitchFamily="34" charset="-120"/>
              </a:rPr>
              <a:t>Module 6 — Leçon 2</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A2026"/>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20040"/>
            <a:ext cx="457200" cy="457200"/>
          </a:xfrm>
          <a:prstGeom prst="rect">
            <a:avLst/>
          </a:prstGeom>
        </p:spPr>
      </p:pic>
      <p:sp>
        <p:nvSpPr>
          <p:cNvPr id="3" name="Text 0"/>
          <p:cNvSpPr txBox="1"/>
          <p:nvPr/>
        </p:nvSpPr>
        <p:spPr>
          <a:xfrm>
            <a:off x="1280160" y="365760"/>
            <a:ext cx="2743200" cy="320040"/>
          </a:xfrm>
          <a:prstGeom prst="rect">
            <a:avLst/>
          </a:prstGeom>
          <a:noFill/>
          <a:ln/>
        </p:spPr>
        <p:txBody>
          <a:bodyPr wrap="square" lIns="0" tIns="0" rIns="0" bIns="0" rtlCol="0" anchor="ctr"/>
          <a:lstStyle/>
          <a:p>
            <a:pPr indent="0" marL="0">
              <a:buNone/>
            </a:pPr>
            <a:r>
              <a:rPr lang="en-US" sz="1200" b="1" spc="300" kern="0" dirty="0">
                <a:solidFill>
                  <a:srgbClr val="5BC1B8"/>
                </a:solidFill>
                <a:latin typeface="Calibri" pitchFamily="34" charset="0"/>
                <a:ea typeface="Calibri" pitchFamily="34" charset="-122"/>
                <a:cs typeface="Calibri" pitchFamily="34" charset="-120"/>
              </a:rPr>
              <a:t>A RETENIR</a:t>
            </a:r>
            <a:endParaRPr lang="en-US" sz="1200" dirty="0"/>
          </a:p>
        </p:txBody>
      </p:sp>
      <p:sp>
        <p:nvSpPr>
          <p:cNvPr id="4" name="Text 1"/>
          <p:cNvSpPr txBox="1"/>
          <p:nvPr/>
        </p:nvSpPr>
        <p:spPr>
          <a:xfrm>
            <a:off x="731520" y="822960"/>
            <a:ext cx="7680960" cy="457200"/>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USDT — le pilier de l'échange</a:t>
            </a:r>
            <a:endParaRPr lang="en-US" sz="2000" dirty="0"/>
          </a:p>
        </p:txBody>
      </p:sp>
      <p:sp>
        <p:nvSpPr>
          <p:cNvPr id="5" name="Shape 2"/>
          <p:cNvSpPr/>
          <p:nvPr/>
        </p:nvSpPr>
        <p:spPr>
          <a:xfrm>
            <a:off x="731520" y="1463040"/>
            <a:ext cx="7680960" cy="548640"/>
          </a:xfrm>
          <a:prstGeom prst="roundRect">
            <a:avLst>
              <a:gd name="adj" fmla="val 13333"/>
            </a:avLst>
          </a:prstGeom>
          <a:solidFill>
            <a:srgbClr val="0F1214"/>
          </a:solidFill>
          <a:ln/>
        </p:spPr>
      </p:sp>
      <p:sp>
        <p:nvSpPr>
          <p:cNvPr id="6" name="Text 3"/>
          <p:cNvSpPr txBox="1"/>
          <p:nvPr/>
        </p:nvSpPr>
        <p:spPr>
          <a:xfrm>
            <a:off x="914400" y="1463040"/>
            <a:ext cx="411480" cy="548640"/>
          </a:xfrm>
          <a:prstGeom prst="roundRect">
            <a:avLst>
              <a:gd name="adj" fmla="val 48889"/>
            </a:avLst>
          </a:prstGeom>
          <a:solidFill>
            <a:srgbClr val="3B968F"/>
          </a:solidFill>
          <a:ln/>
        </p:spPr>
        <p:txBody>
          <a:bodyPr wrap="square" lIns="0" tIns="0" rIns="0" bIns="0" rtlCol="0" anchor="ctr"/>
          <a:lstStyle/>
          <a:p>
            <a:pPr algn="ctr" indent="0" marL="0">
              <a:buNone/>
            </a:pPr>
            <a:r>
              <a:rPr lang="en-US" sz="1500" b="1" dirty="0">
                <a:solidFill>
                  <a:srgbClr val="0F1214"/>
                </a:solidFill>
                <a:latin typeface="Calibri" pitchFamily="34" charset="0"/>
                <a:ea typeface="Calibri" pitchFamily="34" charset="-122"/>
                <a:cs typeface="Calibri" pitchFamily="34" charset="-120"/>
              </a:rPr>
              <a:t>1</a:t>
            </a:r>
            <a:endParaRPr lang="en-US" sz="1500" dirty="0"/>
          </a:p>
        </p:txBody>
      </p:sp>
      <p:sp>
        <p:nvSpPr>
          <p:cNvPr id="7" name="Text 4"/>
          <p:cNvSpPr txBox="1"/>
          <p:nvPr/>
        </p:nvSpPr>
        <p:spPr>
          <a:xfrm>
            <a:off x="1508760" y="1463040"/>
            <a:ext cx="6766560" cy="54864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Il est partout : accepté sur toutes les plateformes d'échange, tous les portefeuilles, tous les marchands crypto africains.</a:t>
            </a:r>
            <a:endParaRPr lang="en-US" sz="1300" dirty="0"/>
          </a:p>
        </p:txBody>
      </p:sp>
      <p:sp>
        <p:nvSpPr>
          <p:cNvPr id="8" name="Shape 5"/>
          <p:cNvSpPr/>
          <p:nvPr/>
        </p:nvSpPr>
        <p:spPr>
          <a:xfrm>
            <a:off x="731520" y="2103120"/>
            <a:ext cx="7680960" cy="548640"/>
          </a:xfrm>
          <a:prstGeom prst="roundRect">
            <a:avLst>
              <a:gd name="adj" fmla="val 13333"/>
            </a:avLst>
          </a:prstGeom>
          <a:solidFill>
            <a:srgbClr val="0F1214"/>
          </a:solidFill>
          <a:ln/>
        </p:spPr>
      </p:sp>
      <p:sp>
        <p:nvSpPr>
          <p:cNvPr id="9" name="Text 6"/>
          <p:cNvSpPr txBox="1"/>
          <p:nvPr/>
        </p:nvSpPr>
        <p:spPr>
          <a:xfrm>
            <a:off x="914400" y="2103120"/>
            <a:ext cx="411480" cy="548640"/>
          </a:xfrm>
          <a:prstGeom prst="roundRect">
            <a:avLst>
              <a:gd name="adj" fmla="val 48889"/>
            </a:avLst>
          </a:prstGeom>
          <a:solidFill>
            <a:srgbClr val="3B968F"/>
          </a:solidFill>
          <a:ln/>
        </p:spPr>
        <p:txBody>
          <a:bodyPr wrap="square" lIns="0" tIns="0" rIns="0" bIns="0" rtlCol="0" anchor="ctr"/>
          <a:lstStyle/>
          <a:p>
            <a:pPr algn="ctr" indent="0" marL="0">
              <a:buNone/>
            </a:pPr>
            <a:r>
              <a:rPr lang="en-US" sz="1500" b="1" dirty="0">
                <a:solidFill>
                  <a:srgbClr val="0F1214"/>
                </a:solidFill>
                <a:latin typeface="Calibri" pitchFamily="34" charset="0"/>
                <a:ea typeface="Calibri" pitchFamily="34" charset="-122"/>
                <a:cs typeface="Calibri" pitchFamily="34" charset="-120"/>
              </a:rPr>
              <a:t>2</a:t>
            </a:r>
            <a:endParaRPr lang="en-US" sz="1500" dirty="0"/>
          </a:p>
        </p:txBody>
      </p:sp>
      <p:sp>
        <p:nvSpPr>
          <p:cNvPr id="10" name="Text 7"/>
          <p:cNvSpPr txBox="1"/>
          <p:nvPr/>
        </p:nvSpPr>
        <p:spPr>
          <a:xfrm>
            <a:off x="1508760" y="2103120"/>
            <a:ext cx="6766560" cy="54864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Il est stable : 1 USDT ≈ 1 USD, à quelques dixièmes de cent près.</a:t>
            </a:r>
            <a:endParaRPr lang="en-US" sz="1300" dirty="0"/>
          </a:p>
        </p:txBody>
      </p:sp>
      <p:sp>
        <p:nvSpPr>
          <p:cNvPr id="11" name="Shape 8"/>
          <p:cNvSpPr/>
          <p:nvPr/>
        </p:nvSpPr>
        <p:spPr>
          <a:xfrm>
            <a:off x="731520" y="2743200"/>
            <a:ext cx="7680960" cy="548640"/>
          </a:xfrm>
          <a:prstGeom prst="roundRect">
            <a:avLst>
              <a:gd name="adj" fmla="val 13333"/>
            </a:avLst>
          </a:prstGeom>
          <a:solidFill>
            <a:srgbClr val="0F1214"/>
          </a:solidFill>
          <a:ln/>
        </p:spPr>
      </p:sp>
      <p:sp>
        <p:nvSpPr>
          <p:cNvPr id="12" name="Text 9"/>
          <p:cNvSpPr txBox="1"/>
          <p:nvPr/>
        </p:nvSpPr>
        <p:spPr>
          <a:xfrm>
            <a:off x="914400" y="2743200"/>
            <a:ext cx="411480" cy="548640"/>
          </a:xfrm>
          <a:prstGeom prst="roundRect">
            <a:avLst>
              <a:gd name="adj" fmla="val 48889"/>
            </a:avLst>
          </a:prstGeom>
          <a:solidFill>
            <a:srgbClr val="3B968F"/>
          </a:solidFill>
          <a:ln/>
        </p:spPr>
        <p:txBody>
          <a:bodyPr wrap="square" lIns="0" tIns="0" rIns="0" bIns="0" rtlCol="0" anchor="ctr"/>
          <a:lstStyle/>
          <a:p>
            <a:pPr algn="ctr" indent="0" marL="0">
              <a:buNone/>
            </a:pPr>
            <a:r>
              <a:rPr lang="en-US" sz="1500" b="1" dirty="0">
                <a:solidFill>
                  <a:srgbClr val="0F1214"/>
                </a:solidFill>
                <a:latin typeface="Calibri" pitchFamily="34" charset="0"/>
                <a:ea typeface="Calibri" pitchFamily="34" charset="-122"/>
                <a:cs typeface="Calibri" pitchFamily="34" charset="-120"/>
              </a:rPr>
              <a:t>3</a:t>
            </a:r>
            <a:endParaRPr lang="en-US" sz="1500" dirty="0"/>
          </a:p>
        </p:txBody>
      </p:sp>
      <p:sp>
        <p:nvSpPr>
          <p:cNvPr id="13" name="Text 10"/>
          <p:cNvSpPr txBox="1"/>
          <p:nvPr/>
        </p:nvSpPr>
        <p:spPr>
          <a:xfrm>
            <a:off x="1508760" y="2743200"/>
            <a:ext cx="6766560" cy="54864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Il traverse les frontières : envoyer 500 USDT du Sénégal au Cameroun prend 10 minutes et coûte moins de 1$. Impossible avec un virement bancaire cl...</a:t>
            </a:r>
            <a:endParaRPr lang="en-US" sz="1300" dirty="0"/>
          </a:p>
        </p:txBody>
      </p:sp>
      <p:sp>
        <p:nvSpPr>
          <p:cNvPr id="14" name="Shape 11"/>
          <p:cNvSpPr/>
          <p:nvPr/>
        </p:nvSpPr>
        <p:spPr>
          <a:xfrm>
            <a:off x="731520" y="3383280"/>
            <a:ext cx="7680960" cy="548640"/>
          </a:xfrm>
          <a:prstGeom prst="roundRect">
            <a:avLst>
              <a:gd name="adj" fmla="val 13333"/>
            </a:avLst>
          </a:prstGeom>
          <a:solidFill>
            <a:srgbClr val="0F1214"/>
          </a:solidFill>
          <a:ln/>
        </p:spPr>
      </p:sp>
      <p:sp>
        <p:nvSpPr>
          <p:cNvPr id="15" name="Text 12"/>
          <p:cNvSpPr txBox="1"/>
          <p:nvPr/>
        </p:nvSpPr>
        <p:spPr>
          <a:xfrm>
            <a:off x="914400" y="3383280"/>
            <a:ext cx="411480" cy="548640"/>
          </a:xfrm>
          <a:prstGeom prst="roundRect">
            <a:avLst>
              <a:gd name="adj" fmla="val 48889"/>
            </a:avLst>
          </a:prstGeom>
          <a:solidFill>
            <a:srgbClr val="3B968F"/>
          </a:solidFill>
          <a:ln/>
        </p:spPr>
        <p:txBody>
          <a:bodyPr wrap="square" lIns="0" tIns="0" rIns="0" bIns="0" rtlCol="0" anchor="ctr"/>
          <a:lstStyle/>
          <a:p>
            <a:pPr algn="ctr" indent="0" marL="0">
              <a:buNone/>
            </a:pPr>
            <a:r>
              <a:rPr lang="en-US" sz="1500" b="1" dirty="0">
                <a:solidFill>
                  <a:srgbClr val="0F1214"/>
                </a:solidFill>
                <a:latin typeface="Calibri" pitchFamily="34" charset="0"/>
                <a:ea typeface="Calibri" pitchFamily="34" charset="-122"/>
                <a:cs typeface="Calibri" pitchFamily="34" charset="-120"/>
              </a:rPr>
              <a:t>4</a:t>
            </a:r>
            <a:endParaRPr lang="en-US" sz="1500" dirty="0"/>
          </a:p>
        </p:txBody>
      </p:sp>
      <p:sp>
        <p:nvSpPr>
          <p:cNvPr id="16" name="Text 13"/>
          <p:cNvSpPr txBox="1"/>
          <p:nvPr/>
        </p:nvSpPr>
        <p:spPr>
          <a:xfrm>
            <a:off x="1508760" y="3383280"/>
            <a:ext cx="6766560" cy="54864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Il est disponible sur plusieurs réseaux : Tron, Ethereum, BNB Chain, Solana, Polygon. Vous choisissez selon votre besoin.</a:t>
            </a:r>
            <a:endParaRPr lang="en-US" sz="1300" dirty="0"/>
          </a:p>
        </p:txBody>
      </p:sp>
      <p:sp>
        <p:nvSpPr>
          <p:cNvPr id="17" name="Shape 14"/>
          <p:cNvSpPr/>
          <p:nvPr/>
        </p:nvSpPr>
        <p:spPr>
          <a:xfrm>
            <a:off x="731520" y="4023360"/>
            <a:ext cx="7680960" cy="548640"/>
          </a:xfrm>
          <a:prstGeom prst="roundRect">
            <a:avLst>
              <a:gd name="adj" fmla="val 13333"/>
            </a:avLst>
          </a:prstGeom>
          <a:solidFill>
            <a:srgbClr val="0F1214"/>
          </a:solidFill>
          <a:ln/>
        </p:spPr>
      </p:sp>
      <p:sp>
        <p:nvSpPr>
          <p:cNvPr id="18" name="Text 15"/>
          <p:cNvSpPr txBox="1"/>
          <p:nvPr/>
        </p:nvSpPr>
        <p:spPr>
          <a:xfrm>
            <a:off x="914400" y="4023360"/>
            <a:ext cx="411480" cy="548640"/>
          </a:xfrm>
          <a:prstGeom prst="roundRect">
            <a:avLst>
              <a:gd name="adj" fmla="val 48889"/>
            </a:avLst>
          </a:prstGeom>
          <a:solidFill>
            <a:srgbClr val="3B968F"/>
          </a:solidFill>
          <a:ln/>
        </p:spPr>
        <p:txBody>
          <a:bodyPr wrap="square" lIns="0" tIns="0" rIns="0" bIns="0" rtlCol="0" anchor="ctr"/>
          <a:lstStyle/>
          <a:p>
            <a:pPr algn="ctr" indent="0" marL="0">
              <a:buNone/>
            </a:pPr>
            <a:r>
              <a:rPr lang="en-US" sz="1500" b="1" dirty="0">
                <a:solidFill>
                  <a:srgbClr val="0F1214"/>
                </a:solidFill>
                <a:latin typeface="Calibri" pitchFamily="34" charset="0"/>
                <a:ea typeface="Calibri" pitchFamily="34" charset="-122"/>
                <a:cs typeface="Calibri" pitchFamily="34" charset="-120"/>
              </a:rPr>
              <a:t>5</a:t>
            </a:r>
            <a:endParaRPr lang="en-US" sz="1500" dirty="0"/>
          </a:p>
        </p:txBody>
      </p:sp>
      <p:sp>
        <p:nvSpPr>
          <p:cNvPr id="19" name="Text 16"/>
          <p:cNvSpPr txBox="1"/>
          <p:nvPr/>
        </p:nvSpPr>
        <p:spPr>
          <a:xfrm>
            <a:off x="1508760" y="4023360"/>
            <a:ext cx="6766560" cy="54864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Épargner en dollars sans banque : impossible d'ouvrir un compte USD au Sénégal ? Achetez des USDT sur Terex.</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F1214"/>
        </a:solidFill>
      </p:bgPr>
    </p:bg>
    <p:spTree>
      <p:nvGrpSpPr>
        <p:cNvPr id="1" name=""/>
        <p:cNvGrpSpPr/>
        <p:nvPr/>
      </p:nvGrpSpPr>
      <p:grpSpPr>
        <a:xfrm>
          <a:off x="0" y="0"/>
          <a:ext cx="0" cy="0"/>
          <a:chOff x="0" y="0"/>
          <a:chExt cx="0" cy="0"/>
        </a:xfrm>
      </p:grpSpPr>
      <p:sp>
        <p:nvSpPr>
          <p:cNvPr id="2" name="Shape 0"/>
          <p:cNvSpPr/>
          <p:nvPr/>
        </p:nvSpPr>
        <p:spPr>
          <a:xfrm>
            <a:off x="548640" y="548640"/>
            <a:ext cx="8046720" cy="3840480"/>
          </a:xfrm>
          <a:prstGeom prst="roundRect">
            <a:avLst>
              <a:gd name="adj" fmla="val 3571"/>
            </a:avLst>
          </a:prstGeom>
          <a:solidFill>
            <a:srgbClr val="2A1414"/>
          </a:solidFill>
          <a:ln/>
        </p:spPr>
      </p:sp>
      <p:sp>
        <p:nvSpPr>
          <p:cNvPr id="3" name="Shape 1"/>
          <p:cNvSpPr/>
          <p:nvPr/>
        </p:nvSpPr>
        <p:spPr>
          <a:xfrm>
            <a:off x="548640" y="548640"/>
            <a:ext cx="54864" cy="3840480"/>
          </a:xfrm>
          <a:prstGeom prst="rect">
            <a:avLst/>
          </a:prstGeom>
          <a:solidFill>
            <a:srgbClr val="DC2626"/>
          </a:solidFill>
          <a:ln/>
        </p:spPr>
      </p:sp>
      <p:pic>
        <p:nvPicPr>
          <p:cNvPr id="4" name="Image 0" descr="preencoded.png">    </p:cNvPr>
          <p:cNvPicPr>
            <a:picLocks noChangeAspect="1"/>
          </p:cNvPicPr>
          <p:nvPr/>
        </p:nvPicPr>
        <p:blipFill>
          <a:blip r:embed="rId1"/>
          <a:stretch>
            <a:fillRect/>
          </a:stretch>
        </p:blipFill>
        <p:spPr>
          <a:xfrm>
            <a:off x="914400" y="777240"/>
            <a:ext cx="548640" cy="548640"/>
          </a:xfrm>
          <a:prstGeom prst="rect">
            <a:avLst/>
          </a:prstGeom>
        </p:spPr>
      </p:pic>
      <p:sp>
        <p:nvSpPr>
          <p:cNvPr id="5" name="Text 2"/>
          <p:cNvSpPr txBox="1"/>
          <p:nvPr/>
        </p:nvSpPr>
        <p:spPr>
          <a:xfrm>
            <a:off x="1600200" y="777240"/>
            <a:ext cx="2743200" cy="320040"/>
          </a:xfrm>
          <a:prstGeom prst="rect">
            <a:avLst/>
          </a:prstGeom>
          <a:noFill/>
          <a:ln/>
        </p:spPr>
        <p:txBody>
          <a:bodyPr wrap="square" lIns="0" tIns="0" rIns="0" bIns="0" rtlCol="0" anchor="ctr"/>
          <a:lstStyle/>
          <a:p>
            <a:pPr indent="0" marL="0">
              <a:buNone/>
            </a:pPr>
            <a:r>
              <a:rPr lang="en-US" sz="1200" b="1" spc="300" kern="0" dirty="0">
                <a:solidFill>
                  <a:srgbClr val="DC2626"/>
                </a:solidFill>
                <a:latin typeface="Calibri" pitchFamily="34" charset="0"/>
                <a:ea typeface="Calibri" pitchFamily="34" charset="-122"/>
                <a:cs typeface="Calibri" pitchFamily="34" charset="-120"/>
              </a:rPr>
              <a:t>ATTENTION</a:t>
            </a:r>
            <a:endParaRPr lang="en-US" sz="1200" dirty="0"/>
          </a:p>
        </p:txBody>
      </p:sp>
      <p:sp>
        <p:nvSpPr>
          <p:cNvPr id="6" name="Text 3"/>
          <p:cNvSpPr txBox="1"/>
          <p:nvPr/>
        </p:nvSpPr>
        <p:spPr>
          <a:xfrm>
            <a:off x="914400" y="1371600"/>
            <a:ext cx="7406640" cy="2286000"/>
          </a:xfrm>
          <a:prstGeom prst="rect">
            <a:avLst/>
          </a:prstGeom>
          <a:noFill/>
          <a:ln/>
        </p:spPr>
        <p:txBody>
          <a:bodyPr wrap="square" lIns="0" tIns="0" rIns="0" bIns="0" rtlCol="0" anchor="t"/>
          <a:lstStyle/>
          <a:p>
            <a:pPr indent="0" marL="0">
              <a:buNone/>
            </a:pPr>
            <a:r>
              <a:rPr lang="en-US" sz="1300" dirty="0">
                <a:solidFill>
                  <a:srgbClr val="FCA5A5"/>
                </a:solidFill>
                <a:latin typeface="Calibri" pitchFamily="34" charset="0"/>
                <a:ea typeface="Calibri" pitchFamily="34" charset="-122"/>
                <a:cs typeface="Calibri" pitchFamily="34" charset="-120"/>
              </a:rPr>
              <a:t>Le risque principal est un défaut de Tether (la société qui l'émet). C'est théoriquement possible, mais c'est aujourd'hui le stablecoin le plus liquide et l'un des plus scrutés du secteur. Pour limiter le risque, ne stockez pas des centaines de milliers de dollars sur un seul stablecoin — diversifiez avec USDC si les montants sont importants.</a:t>
            </a:r>
            <a:endParaRPr lang="en-US" sz="13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2181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0" y="548640"/>
            <a:ext cx="1280160" cy="1280160"/>
          </a:xfrm>
          <a:prstGeom prst="rect">
            <a:avLst/>
          </a:prstGeom>
        </p:spPr>
      </p:pic>
      <p:pic>
        <p:nvPicPr>
          <p:cNvPr id="3" name="Image 1" descr="preencoded.png">    </p:cNvPr>
          <p:cNvPicPr>
            <a:picLocks noChangeAspect="1"/>
          </p:cNvPicPr>
          <p:nvPr/>
        </p:nvPicPr>
        <p:blipFill>
          <a:blip r:embed="rId2"/>
          <a:stretch>
            <a:fillRect/>
          </a:stretch>
        </p:blipFill>
        <p:spPr>
          <a:xfrm>
            <a:off x="7772400" y="2011680"/>
            <a:ext cx="822960" cy="822960"/>
          </a:xfrm>
          <a:prstGeom prst="rect">
            <a:avLst/>
          </a:prstGeom>
        </p:spPr>
      </p:pic>
      <p:sp>
        <p:nvSpPr>
          <p:cNvPr id="4" name="Shape 0"/>
          <p:cNvSpPr/>
          <p:nvPr/>
        </p:nvSpPr>
        <p:spPr>
          <a:xfrm>
            <a:off x="6583680" y="-274320"/>
            <a:ext cx="3200400" cy="3200400"/>
          </a:xfrm>
          <a:prstGeom prst="ellipse">
            <a:avLst/>
          </a:prstGeom>
          <a:solidFill>
            <a:srgbClr val="3B968F">
              <a:alpha val="6000"/>
            </a:srgbClr>
          </a:solidFill>
          <a:ln/>
        </p:spPr>
      </p:sp>
      <p:sp>
        <p:nvSpPr>
          <p:cNvPr id="5" name="Shape 1"/>
          <p:cNvSpPr/>
          <p:nvPr/>
        </p:nvSpPr>
        <p:spPr>
          <a:xfrm>
            <a:off x="731520" y="914400"/>
            <a:ext cx="45720" cy="2194560"/>
          </a:xfrm>
          <a:prstGeom prst="rect">
            <a:avLst/>
          </a:prstGeom>
          <a:solidFill>
            <a:srgbClr val="3B968F"/>
          </a:solidFill>
          <a:ln/>
        </p:spPr>
      </p:sp>
      <p:sp>
        <p:nvSpPr>
          <p:cNvPr id="6" name="Text 2"/>
          <p:cNvSpPr txBox="1"/>
          <p:nvPr/>
        </p:nvSpPr>
        <p:spPr>
          <a:xfrm>
            <a:off x="960120" y="914400"/>
            <a:ext cx="2743200" cy="365760"/>
          </a:xfrm>
          <a:prstGeom prst="rect">
            <a:avLst/>
          </a:prstGeom>
          <a:noFill/>
          <a:ln/>
        </p:spPr>
        <p:txBody>
          <a:bodyPr wrap="square" lIns="0" tIns="0" rIns="0" bIns="0" rtlCol="0" anchor="ctr"/>
          <a:lstStyle/>
          <a:p>
            <a:pPr indent="0" marL="0">
              <a:buNone/>
            </a:pPr>
            <a:r>
              <a:rPr lang="en-US" sz="1200" b="1" spc="200" kern="0" dirty="0">
                <a:solidFill>
                  <a:srgbClr val="3B968F"/>
                </a:solidFill>
                <a:latin typeface="Calibri" pitchFamily="34" charset="0"/>
                <a:ea typeface="Calibri" pitchFamily="34" charset="-122"/>
                <a:cs typeface="Calibri" pitchFamily="34" charset="-120"/>
              </a:rPr>
              <a:t>Leçon 3 / 3</a:t>
            </a:r>
            <a:endParaRPr lang="en-US" sz="1200" dirty="0"/>
          </a:p>
        </p:txBody>
      </p:sp>
      <p:sp>
        <p:nvSpPr>
          <p:cNvPr id="7" name="Text 3"/>
          <p:cNvSpPr txBox="1"/>
          <p:nvPr/>
        </p:nvSpPr>
        <p:spPr>
          <a:xfrm>
            <a:off x="960120" y="1371600"/>
            <a:ext cx="6217920" cy="1463040"/>
          </a:xfrm>
          <a:prstGeom prst="rect">
            <a:avLst/>
          </a:prstGeom>
          <a:noFill/>
          <a:ln/>
        </p:spPr>
        <p:txBody>
          <a:bodyPr wrap="square" lIns="0" tIns="0" rIns="0" bIns="0" rtlCol="0" anchor="t"/>
          <a:lstStyle/>
          <a:p>
            <a:pPr indent="0" marL="0">
              <a:buNone/>
            </a:pPr>
            <a:r>
              <a:rPr lang="en-US" sz="2800" b="1" dirty="0">
                <a:solidFill>
                  <a:srgbClr val="FFFFFF"/>
                </a:solidFill>
                <a:latin typeface="Calibri" pitchFamily="34" charset="0"/>
                <a:ea typeface="Calibri" pitchFamily="34" charset="-122"/>
                <a:cs typeface="Calibri" pitchFamily="34" charset="-120"/>
              </a:rPr>
              <a:t>TRC20, ERC20, BEP20 — comment choisir ?</a:t>
            </a:r>
            <a:endParaRPr lang="en-US" sz="2800" dirty="0"/>
          </a:p>
        </p:txBody>
      </p:sp>
      <p:sp>
        <p:nvSpPr>
          <p:cNvPr id="8" name="Text 4"/>
          <p:cNvSpPr txBox="1"/>
          <p:nvPr/>
        </p:nvSpPr>
        <p:spPr>
          <a:xfrm>
            <a:off x="960120" y="4114800"/>
            <a:ext cx="5486400" cy="320040"/>
          </a:xfrm>
          <a:prstGeom prst="rect">
            <a:avLst/>
          </a:prstGeom>
          <a:noFill/>
          <a:ln/>
        </p:spPr>
        <p:txBody>
          <a:bodyPr wrap="square" lIns="0" tIns="0" rIns="0" bIns="0" rtlCol="0" anchor="ctr"/>
          <a:lstStyle/>
          <a:p>
            <a:pPr indent="0" marL="0">
              <a:buNone/>
            </a:pPr>
            <a:r>
              <a:rPr lang="en-US" sz="1100" dirty="0">
                <a:solidFill>
                  <a:srgbClr val="5B6672"/>
                </a:solidFill>
                <a:latin typeface="Calibri" pitchFamily="34" charset="0"/>
                <a:ea typeface="Calibri" pitchFamily="34" charset="-122"/>
                <a:cs typeface="Calibri" pitchFamily="34" charset="-120"/>
              </a:rPr>
              <a:t>Les stablecoins : USDT &amp; pourquoi c'est utile</a:t>
            </a:r>
            <a:endParaRPr lang="en-US" sz="1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F1214"/>
        </a:solidFill>
      </p:bgPr>
    </p:bg>
    <p:spTree>
      <p:nvGrpSpPr>
        <p:cNvPr id="1" name=""/>
        <p:cNvGrpSpPr/>
        <p:nvPr/>
      </p:nvGrpSpPr>
      <p:grpSpPr>
        <a:xfrm>
          <a:off x="0" y="0"/>
          <a:ext cx="0" cy="0"/>
          <a:chOff x="0" y="0"/>
          <a:chExt cx="0" cy="0"/>
        </a:xfrm>
      </p:grpSpPr>
      <p:sp>
        <p:nvSpPr>
          <p:cNvPr id="2" name="Shape 0"/>
          <p:cNvSpPr/>
          <p:nvPr/>
        </p:nvSpPr>
        <p:spPr>
          <a:xfrm>
            <a:off x="7955280" y="182880"/>
            <a:ext cx="640080" cy="640080"/>
          </a:xfrm>
          <a:prstGeom prst="ellipse">
            <a:avLst/>
          </a:prstGeom>
          <a:solidFill>
            <a:srgbClr val="3B968F">
              <a:alpha val="12000"/>
            </a:srgbClr>
          </a:solidFill>
          <a:ln/>
        </p:spPr>
      </p:sp>
      <p:pic>
        <p:nvPicPr>
          <p:cNvPr id="3" name="Image 0" descr="preencoded.png">    </p:cNvPr>
          <p:cNvPicPr>
            <a:picLocks noChangeAspect="1"/>
          </p:cNvPicPr>
          <p:nvPr/>
        </p:nvPicPr>
        <p:blipFill>
          <a:blip r:embed="rId1"/>
          <a:stretch>
            <a:fillRect/>
          </a:stretch>
        </p:blipFill>
        <p:spPr>
          <a:xfrm>
            <a:off x="8028432" y="256032"/>
            <a:ext cx="493776" cy="493776"/>
          </a:xfrm>
          <a:prstGeom prst="rect">
            <a:avLst/>
          </a:prstGeom>
        </p:spPr>
      </p:pic>
      <p:sp>
        <p:nvSpPr>
          <p:cNvPr id="4" name="Text 1"/>
          <p:cNvSpPr txBox="1"/>
          <p:nvPr/>
        </p:nvSpPr>
        <p:spPr>
          <a:xfrm>
            <a:off x="731520" y="457200"/>
            <a:ext cx="7680960" cy="365760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C'est LA question que se pose tout débutant à son premier achat de USDT. Explication simple.</a:t>
            </a:r>
            <a:endParaRPr lang="en-US" sz="1400" dirty="0"/>
          </a:p>
          <a:p>
            <a:pPr marL="342900" indent="-3429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Un USDT est un token — un jeton numérique.</a:t>
            </a:r>
            <a:endParaRPr lang="en-US" sz="1400" dirty="0"/>
          </a:p>
          <a:p>
            <a:pPr marL="342900" indent="-3429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Ce jeton peut « voyager » sur plusieurs blockchains différentes.</a:t>
            </a:r>
            <a:endParaRPr lang="en-US" sz="1400" dirty="0"/>
          </a:p>
          <a:p>
            <a:pPr marL="342900" indent="-3429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On appelle ça un token multi-chaîne.</a:t>
            </a:r>
            <a:endParaRPr lang="en-US" sz="1400" dirty="0"/>
          </a:p>
          <a:p>
            <a:pPr marL="342900" indent="-3429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Quand vous achetez de l'USDT sur Terex, vous devez choisir sur quel réseau vous voulez le recevoir.</a:t>
            </a:r>
            <a:endParaRPr lang="en-US" sz="1400" dirty="0"/>
          </a:p>
          <a:p>
            <a:pPr marL="342900" indent="-3429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Le token sera alors émis sur ce réseau spécifique, et vous devrez donner une adresse compatible avec ce réseau.</a:t>
            </a:r>
            <a:endParaRPr lang="en-US" sz="1400" dirty="0"/>
          </a:p>
        </p:txBody>
      </p:sp>
      <p:sp>
        <p:nvSpPr>
          <p:cNvPr id="5" name="Text 2"/>
          <p:cNvSpPr txBox="1"/>
          <p:nvPr/>
        </p:nvSpPr>
        <p:spPr>
          <a:xfrm>
            <a:off x="731520" y="4709160"/>
            <a:ext cx="7680960" cy="274320"/>
          </a:xfrm>
          <a:prstGeom prst="rect">
            <a:avLst/>
          </a:prstGeom>
          <a:noFill/>
          <a:ln/>
        </p:spPr>
        <p:txBody>
          <a:bodyPr wrap="square" lIns="0" tIns="0" rIns="0" bIns="0" rtlCol="0" anchor="ctr"/>
          <a:lstStyle/>
          <a:p>
            <a:pPr algn="r" indent="0" marL="0">
              <a:buNone/>
            </a:pPr>
            <a:r>
              <a:rPr lang="en-US" sz="900" dirty="0">
                <a:solidFill>
                  <a:srgbClr val="5B6672"/>
                </a:solidFill>
                <a:latin typeface="Calibri" pitchFamily="34" charset="0"/>
                <a:ea typeface="Calibri" pitchFamily="34" charset="-122"/>
                <a:cs typeface="Calibri" pitchFamily="34" charset="-120"/>
              </a:rPr>
              <a:t>Module 6 — Leçon 3</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F1214"/>
        </a:solidFill>
      </p:bgPr>
    </p:bg>
    <p:spTree>
      <p:nvGrpSpPr>
        <p:cNvPr id="1" name=""/>
        <p:cNvGrpSpPr/>
        <p:nvPr/>
      </p:nvGrpSpPr>
      <p:grpSpPr>
        <a:xfrm>
          <a:off x="0" y="0"/>
          <a:ext cx="0" cy="0"/>
          <a:chOff x="0" y="0"/>
          <a:chExt cx="0" cy="0"/>
        </a:xfrm>
      </p:grpSpPr>
      <p:sp>
        <p:nvSpPr>
          <p:cNvPr id="2" name="Text 0"/>
          <p:cNvSpPr txBox="1"/>
          <p:nvPr/>
        </p:nvSpPr>
        <p:spPr>
          <a:xfrm>
            <a:off x="731520" y="274320"/>
            <a:ext cx="7680960" cy="502920"/>
          </a:xfrm>
          <a:prstGeom prst="rect">
            <a:avLst/>
          </a:prstGeom>
          <a:noFill/>
          <a:ln/>
        </p:spPr>
        <p:txBody>
          <a:bodyPr wrap="square" lIns="0" tIns="0" rIns="0" bIns="0" rtlCol="0" anchor="ctr"/>
          <a:lstStyle/>
          <a:p>
            <a:pPr indent="0" marL="0">
              <a:buNone/>
            </a:pPr>
            <a:r>
              <a:rPr lang="en-US" sz="2000" b="1" dirty="0">
                <a:solidFill>
                  <a:srgbClr val="3B968F"/>
                </a:solidFill>
                <a:latin typeface="Calibri" pitchFamily="34" charset="0"/>
                <a:ea typeface="Calibri" pitchFamily="34" charset="-122"/>
                <a:cs typeface="Calibri" pitchFamily="34" charset="-120"/>
              </a:rPr>
              <a:t>TRC20 (réseau Tron)</a:t>
            </a:r>
            <a:endParaRPr lang="en-US" sz="2000" dirty="0"/>
          </a:p>
        </p:txBody>
      </p:sp>
      <p:sp>
        <p:nvSpPr>
          <p:cNvPr id="3" name="Text 1"/>
          <p:cNvSpPr txBox="1"/>
          <p:nvPr/>
        </p:nvSpPr>
        <p:spPr>
          <a:xfrm>
            <a:off x="731520" y="1005840"/>
            <a:ext cx="4206240" cy="347472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FFFFFF"/>
                </a:solidFill>
                <a:latin typeface="Calibri" pitchFamily="34" charset="0"/>
                <a:ea typeface="Calibri" pitchFamily="34" charset="-122"/>
                <a:cs typeface="Calibri" pitchFamily="34" charset="-120"/>
              </a:rPr>
              <a:t>Frais : ~1 USDT par transfert</a:t>
            </a:r>
            <a:endParaRPr lang="en-US" sz="1300" dirty="0"/>
          </a:p>
          <a:p>
            <a:pPr marL="342900" indent="-342900">
              <a:spcAft>
                <a:spcPts val="600"/>
              </a:spcAft>
              <a:buSzPct val="100000"/>
              <a:buChar char="•"/>
            </a:pPr>
            <a:r>
              <a:rPr lang="en-US" sz="1300" dirty="0">
                <a:solidFill>
                  <a:srgbClr val="FFFFFF"/>
                </a:solidFill>
                <a:latin typeface="Calibri" pitchFamily="34" charset="0"/>
                <a:ea typeface="Calibri" pitchFamily="34" charset="-122"/>
                <a:cs typeface="Calibri" pitchFamily="34" charset="-120"/>
              </a:rPr>
              <a:t>Vitesse : 3 secondes</a:t>
            </a:r>
            <a:endParaRPr lang="en-US" sz="1300" dirty="0"/>
          </a:p>
          <a:p>
            <a:pPr marL="342900" indent="-342900">
              <a:spcAft>
                <a:spcPts val="600"/>
              </a:spcAft>
              <a:buSzPct val="100000"/>
              <a:buChar char="•"/>
            </a:pPr>
            <a:r>
              <a:rPr lang="en-US" sz="1300" dirty="0">
                <a:solidFill>
                  <a:srgbClr val="FFFFFF"/>
                </a:solidFill>
                <a:latin typeface="Calibri" pitchFamily="34" charset="0"/>
                <a:ea typeface="Calibri" pitchFamily="34" charset="-122"/>
                <a:cs typeface="Calibri" pitchFamily="34" charset="-120"/>
              </a:rPr>
              <a:t>Le + utilisé en Afrique</a:t>
            </a:r>
            <a:endParaRPr lang="en-US" sz="1300" dirty="0"/>
          </a:p>
        </p:txBody>
      </p:sp>
      <p:sp>
        <p:nvSpPr>
          <p:cNvPr id="4" name="Shape 2"/>
          <p:cNvSpPr/>
          <p:nvPr/>
        </p:nvSpPr>
        <p:spPr>
          <a:xfrm>
            <a:off x="5120640" y="1005840"/>
            <a:ext cx="3474720" cy="640080"/>
          </a:xfrm>
          <a:prstGeom prst="roundRect">
            <a:avLst>
              <a:gd name="adj" fmla="val 14286"/>
            </a:avLst>
          </a:prstGeom>
          <a:solidFill>
            <a:srgbClr val="1A2026"/>
          </a:solidFill>
          <a:ln/>
        </p:spPr>
      </p:sp>
      <p:pic>
        <p:nvPicPr>
          <p:cNvPr id="5" name="Image 0" descr="preencoded.png">    </p:cNvPr>
          <p:cNvPicPr>
            <a:picLocks noChangeAspect="1"/>
          </p:cNvPicPr>
          <p:nvPr/>
        </p:nvPicPr>
        <p:blipFill>
          <a:blip r:embed="rId1"/>
          <a:stretch>
            <a:fillRect/>
          </a:stretch>
        </p:blipFill>
        <p:spPr>
          <a:xfrm>
            <a:off x="5257800" y="1106424"/>
            <a:ext cx="438912" cy="438912"/>
          </a:xfrm>
          <a:prstGeom prst="rect">
            <a:avLst/>
          </a:prstGeom>
        </p:spPr>
      </p:pic>
      <p:sp>
        <p:nvSpPr>
          <p:cNvPr id="6" name="Text 3"/>
          <p:cNvSpPr txBox="1"/>
          <p:nvPr/>
        </p:nvSpPr>
        <p:spPr>
          <a:xfrm>
            <a:off x="5806440" y="1005840"/>
            <a:ext cx="2651760" cy="640080"/>
          </a:xfrm>
          <a:prstGeom prst="rect">
            <a:avLst/>
          </a:prstGeom>
          <a:noFill/>
          <a:ln/>
        </p:spPr>
        <p:txBody>
          <a:bodyPr wrap="square" lIns="0" tIns="0" rIns="0" bIns="0" rtlCol="0" anchor="ctr"/>
          <a:lstStyle/>
          <a:p>
            <a:pPr indent="0" marL="0">
              <a:buNone/>
            </a:pPr>
            <a:r>
              <a:rPr lang="en-US" sz="1200" dirty="0">
                <a:solidFill>
                  <a:srgbClr val="FFFFFF"/>
                </a:solidFill>
                <a:latin typeface="Calibri" pitchFamily="34" charset="0"/>
                <a:ea typeface="Calibri" pitchFamily="34" charset="-122"/>
                <a:cs typeface="Calibri" pitchFamily="34" charset="-120"/>
              </a:rPr>
              <a:t>Le + recommandé par Terex pour la plupart des cas</a:t>
            </a:r>
            <a:endParaRPr lang="en-US" sz="1200" dirty="0"/>
          </a:p>
        </p:txBody>
      </p:sp>
      <p:sp>
        <p:nvSpPr>
          <p:cNvPr id="7" name="Shape 4"/>
          <p:cNvSpPr/>
          <p:nvPr/>
        </p:nvSpPr>
        <p:spPr>
          <a:xfrm>
            <a:off x="5120640" y="1737360"/>
            <a:ext cx="3474720" cy="640080"/>
          </a:xfrm>
          <a:prstGeom prst="roundRect">
            <a:avLst>
              <a:gd name="adj" fmla="val 14286"/>
            </a:avLst>
          </a:prstGeom>
          <a:solidFill>
            <a:srgbClr val="1A2026"/>
          </a:solidFill>
          <a:ln/>
        </p:spPr>
      </p:sp>
      <p:pic>
        <p:nvPicPr>
          <p:cNvPr id="8" name="Image 1" descr="preencoded.png">    </p:cNvPr>
          <p:cNvPicPr>
            <a:picLocks noChangeAspect="1"/>
          </p:cNvPicPr>
          <p:nvPr/>
        </p:nvPicPr>
        <p:blipFill>
          <a:blip r:embed="rId2"/>
          <a:stretch>
            <a:fillRect/>
          </a:stretch>
        </p:blipFill>
        <p:spPr>
          <a:xfrm>
            <a:off x="5257800" y="1837944"/>
            <a:ext cx="438912" cy="438912"/>
          </a:xfrm>
          <a:prstGeom prst="rect">
            <a:avLst/>
          </a:prstGeom>
        </p:spPr>
      </p:pic>
      <p:sp>
        <p:nvSpPr>
          <p:cNvPr id="9" name="Text 5"/>
          <p:cNvSpPr txBox="1"/>
          <p:nvPr/>
        </p:nvSpPr>
        <p:spPr>
          <a:xfrm>
            <a:off x="5806440" y="1737360"/>
            <a:ext cx="2651760" cy="640080"/>
          </a:xfrm>
          <a:prstGeom prst="rect">
            <a:avLst/>
          </a:prstGeom>
          <a:noFill/>
          <a:ln/>
        </p:spPr>
        <p:txBody>
          <a:bodyPr wrap="square" lIns="0" tIns="0" rIns="0" bIns="0" rtlCol="0" anchor="ctr"/>
          <a:lstStyle/>
          <a:p>
            <a:pPr indent="0" marL="0">
              <a:buNone/>
            </a:pPr>
            <a:r>
              <a:rPr lang="en-US" sz="1200" dirty="0">
                <a:solidFill>
                  <a:srgbClr val="FFFFFF"/>
                </a:solidFill>
                <a:latin typeface="Calibri" pitchFamily="34" charset="0"/>
                <a:ea typeface="Calibri" pitchFamily="34" charset="-122"/>
                <a:cs typeface="Calibri" pitchFamily="34" charset="-120"/>
              </a:rPr>
              <a:t>Adresse : commence par « T »</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F1214"/>
        </a:solidFill>
      </p:bgPr>
    </p:bg>
    <p:spTree>
      <p:nvGrpSpPr>
        <p:cNvPr id="1" name=""/>
        <p:cNvGrpSpPr/>
        <p:nvPr/>
      </p:nvGrpSpPr>
      <p:grpSpPr>
        <a:xfrm>
          <a:off x="0" y="0"/>
          <a:ext cx="0" cy="0"/>
          <a:chOff x="0" y="0"/>
          <a:chExt cx="0" cy="0"/>
        </a:xfrm>
      </p:grpSpPr>
      <p:sp>
        <p:nvSpPr>
          <p:cNvPr id="2" name="Text 0"/>
          <p:cNvSpPr txBox="1"/>
          <p:nvPr/>
        </p:nvSpPr>
        <p:spPr>
          <a:xfrm>
            <a:off x="731520" y="274320"/>
            <a:ext cx="7680960" cy="502920"/>
          </a:xfrm>
          <a:prstGeom prst="rect">
            <a:avLst/>
          </a:prstGeom>
          <a:noFill/>
          <a:ln/>
        </p:spPr>
        <p:txBody>
          <a:bodyPr wrap="square" lIns="0" tIns="0" rIns="0" bIns="0" rtlCol="0" anchor="ctr"/>
          <a:lstStyle/>
          <a:p>
            <a:pPr indent="0" marL="0">
              <a:buNone/>
            </a:pPr>
            <a:r>
              <a:rPr lang="en-US" sz="2000" b="1" dirty="0">
                <a:solidFill>
                  <a:srgbClr val="3B968F"/>
                </a:solidFill>
                <a:latin typeface="Calibri" pitchFamily="34" charset="0"/>
                <a:ea typeface="Calibri" pitchFamily="34" charset="-122"/>
                <a:cs typeface="Calibri" pitchFamily="34" charset="-120"/>
              </a:rPr>
              <a:t>BEP20 (réseau BNB Chain)</a:t>
            </a:r>
            <a:endParaRPr lang="en-US" sz="2000" dirty="0"/>
          </a:p>
        </p:txBody>
      </p:sp>
      <p:sp>
        <p:nvSpPr>
          <p:cNvPr id="3" name="Shape 1"/>
          <p:cNvSpPr/>
          <p:nvPr/>
        </p:nvSpPr>
        <p:spPr>
          <a:xfrm>
            <a:off x="594360" y="1005840"/>
            <a:ext cx="2468880" cy="1371600"/>
          </a:xfrm>
          <a:prstGeom prst="roundRect">
            <a:avLst>
              <a:gd name="adj" fmla="val 6667"/>
            </a:avLst>
          </a:prstGeom>
          <a:solidFill>
            <a:srgbClr val="1A2026"/>
          </a:solidFill>
          <a:ln/>
        </p:spPr>
      </p:sp>
      <p:pic>
        <p:nvPicPr>
          <p:cNvPr id="4" name="Image 0" descr="preencoded.png">    </p:cNvPr>
          <p:cNvPicPr>
            <a:picLocks noChangeAspect="1"/>
          </p:cNvPicPr>
          <p:nvPr/>
        </p:nvPicPr>
        <p:blipFill>
          <a:blip r:embed="rId1"/>
          <a:stretch>
            <a:fillRect/>
          </a:stretch>
        </p:blipFill>
        <p:spPr>
          <a:xfrm>
            <a:off x="731520" y="1143000"/>
            <a:ext cx="502920" cy="502920"/>
          </a:xfrm>
          <a:prstGeom prst="rect">
            <a:avLst/>
          </a:prstGeom>
        </p:spPr>
      </p:pic>
      <p:sp>
        <p:nvSpPr>
          <p:cNvPr id="5" name="Text 2"/>
          <p:cNvSpPr txBox="1"/>
          <p:nvPr/>
        </p:nvSpPr>
        <p:spPr>
          <a:xfrm>
            <a:off x="731520" y="1719072"/>
            <a:ext cx="2194560" cy="320040"/>
          </a:xfrm>
          <a:prstGeom prst="rect">
            <a:avLst/>
          </a:prstGeom>
          <a:noFill/>
          <a:ln/>
        </p:spPr>
        <p:txBody>
          <a:bodyPr wrap="square" lIns="0" tIns="0" rIns="0" bIns="0" rtlCol="0" anchor="t"/>
          <a:lstStyle/>
          <a:p>
            <a:pPr indent="0" marL="0">
              <a:buNone/>
            </a:pPr>
            <a:r>
              <a:rPr lang="en-US" sz="1100" b="1" dirty="0">
                <a:solidFill>
                  <a:srgbClr val="FFFFFF"/>
                </a:solidFill>
                <a:latin typeface="Calibri" pitchFamily="34" charset="0"/>
                <a:ea typeface="Calibri" pitchFamily="34" charset="-122"/>
                <a:cs typeface="Calibri" pitchFamily="34" charset="-120"/>
              </a:rPr>
              <a:t>Frais : ~0,20 USDT par transfert</a:t>
            </a:r>
            <a:endParaRPr lang="en-US" sz="1100" dirty="0"/>
          </a:p>
        </p:txBody>
      </p:sp>
      <p:sp>
        <p:nvSpPr>
          <p:cNvPr id="6" name="Shape 3"/>
          <p:cNvSpPr/>
          <p:nvPr/>
        </p:nvSpPr>
        <p:spPr>
          <a:xfrm>
            <a:off x="3246120" y="1005840"/>
            <a:ext cx="2468880" cy="1371600"/>
          </a:xfrm>
          <a:prstGeom prst="roundRect">
            <a:avLst>
              <a:gd name="adj" fmla="val 6667"/>
            </a:avLst>
          </a:prstGeom>
          <a:solidFill>
            <a:srgbClr val="1A2026"/>
          </a:solidFill>
          <a:ln/>
        </p:spPr>
      </p:sp>
      <p:pic>
        <p:nvPicPr>
          <p:cNvPr id="7" name="Image 1" descr="preencoded.png">    </p:cNvPr>
          <p:cNvPicPr>
            <a:picLocks noChangeAspect="1"/>
          </p:cNvPicPr>
          <p:nvPr/>
        </p:nvPicPr>
        <p:blipFill>
          <a:blip r:embed="rId2"/>
          <a:stretch>
            <a:fillRect/>
          </a:stretch>
        </p:blipFill>
        <p:spPr>
          <a:xfrm>
            <a:off x="3383280" y="1143000"/>
            <a:ext cx="502920" cy="502920"/>
          </a:xfrm>
          <a:prstGeom prst="rect">
            <a:avLst/>
          </a:prstGeom>
        </p:spPr>
      </p:pic>
      <p:sp>
        <p:nvSpPr>
          <p:cNvPr id="8" name="Text 4"/>
          <p:cNvSpPr txBox="1"/>
          <p:nvPr/>
        </p:nvSpPr>
        <p:spPr>
          <a:xfrm>
            <a:off x="3383280" y="1719072"/>
            <a:ext cx="2194560" cy="320040"/>
          </a:xfrm>
          <a:prstGeom prst="rect">
            <a:avLst/>
          </a:prstGeom>
          <a:noFill/>
          <a:ln/>
        </p:spPr>
        <p:txBody>
          <a:bodyPr wrap="square" lIns="0" tIns="0" rIns="0" bIns="0" rtlCol="0" anchor="t"/>
          <a:lstStyle/>
          <a:p>
            <a:pPr indent="0" marL="0">
              <a:buNone/>
            </a:pPr>
            <a:r>
              <a:rPr lang="en-US" sz="1100" b="1" dirty="0">
                <a:solidFill>
                  <a:srgbClr val="FFFFFF"/>
                </a:solidFill>
                <a:latin typeface="Calibri" pitchFamily="34" charset="0"/>
                <a:ea typeface="Calibri" pitchFamily="34" charset="-122"/>
                <a:cs typeface="Calibri" pitchFamily="34" charset="-120"/>
              </a:rPr>
              <a:t>Vitesse : 3 secondes</a:t>
            </a:r>
            <a:endParaRPr lang="en-US" sz="1100" dirty="0"/>
          </a:p>
        </p:txBody>
      </p:sp>
      <p:sp>
        <p:nvSpPr>
          <p:cNvPr id="9" name="Shape 5"/>
          <p:cNvSpPr/>
          <p:nvPr/>
        </p:nvSpPr>
        <p:spPr>
          <a:xfrm>
            <a:off x="5897880" y="1005840"/>
            <a:ext cx="2468880" cy="1371600"/>
          </a:xfrm>
          <a:prstGeom prst="roundRect">
            <a:avLst>
              <a:gd name="adj" fmla="val 6667"/>
            </a:avLst>
          </a:prstGeom>
          <a:solidFill>
            <a:srgbClr val="1A2026"/>
          </a:solidFill>
          <a:ln/>
        </p:spPr>
      </p:sp>
      <p:pic>
        <p:nvPicPr>
          <p:cNvPr id="10" name="Image 2" descr="preencoded.png">    </p:cNvPr>
          <p:cNvPicPr>
            <a:picLocks noChangeAspect="1"/>
          </p:cNvPicPr>
          <p:nvPr/>
        </p:nvPicPr>
        <p:blipFill>
          <a:blip r:embed="rId3"/>
          <a:stretch>
            <a:fillRect/>
          </a:stretch>
        </p:blipFill>
        <p:spPr>
          <a:xfrm>
            <a:off x="6035040" y="1143000"/>
            <a:ext cx="502920" cy="502920"/>
          </a:xfrm>
          <a:prstGeom prst="rect">
            <a:avLst/>
          </a:prstGeom>
        </p:spPr>
      </p:pic>
      <p:sp>
        <p:nvSpPr>
          <p:cNvPr id="11" name="Text 6"/>
          <p:cNvSpPr txBox="1"/>
          <p:nvPr/>
        </p:nvSpPr>
        <p:spPr>
          <a:xfrm>
            <a:off x="6035040" y="1719072"/>
            <a:ext cx="2194560" cy="320040"/>
          </a:xfrm>
          <a:prstGeom prst="rect">
            <a:avLst/>
          </a:prstGeom>
          <a:noFill/>
          <a:ln/>
        </p:spPr>
        <p:txBody>
          <a:bodyPr wrap="square" lIns="0" tIns="0" rIns="0" bIns="0" rtlCol="0" anchor="t"/>
          <a:lstStyle/>
          <a:p>
            <a:pPr indent="0" marL="0">
              <a:buNone/>
            </a:pPr>
            <a:r>
              <a:rPr lang="en-US" sz="1100" b="1" dirty="0">
                <a:solidFill>
                  <a:srgbClr val="FFFFFF"/>
                </a:solidFill>
                <a:latin typeface="Calibri" pitchFamily="34" charset="0"/>
                <a:ea typeface="Calibri" pitchFamily="34" charset="-122"/>
                <a:cs typeface="Calibri" pitchFamily="34" charset="-120"/>
              </a:rPr>
              <a:t>Très utilisé si vous avez un compte Binance</a:t>
            </a:r>
            <a:endParaRPr lang="en-US" sz="1100" dirty="0"/>
          </a:p>
        </p:txBody>
      </p:sp>
      <p:sp>
        <p:nvSpPr>
          <p:cNvPr id="12" name="Shape 7"/>
          <p:cNvSpPr/>
          <p:nvPr/>
        </p:nvSpPr>
        <p:spPr>
          <a:xfrm>
            <a:off x="594360" y="2514600"/>
            <a:ext cx="2468880" cy="1371600"/>
          </a:xfrm>
          <a:prstGeom prst="roundRect">
            <a:avLst>
              <a:gd name="adj" fmla="val 6667"/>
            </a:avLst>
          </a:prstGeom>
          <a:solidFill>
            <a:srgbClr val="1A2026"/>
          </a:solidFill>
          <a:ln/>
        </p:spPr>
      </p:sp>
      <p:pic>
        <p:nvPicPr>
          <p:cNvPr id="13" name="Image 3" descr="preencoded.png">    </p:cNvPr>
          <p:cNvPicPr>
            <a:picLocks noChangeAspect="1"/>
          </p:cNvPicPr>
          <p:nvPr/>
        </p:nvPicPr>
        <p:blipFill>
          <a:blip r:embed="rId4"/>
          <a:stretch>
            <a:fillRect/>
          </a:stretch>
        </p:blipFill>
        <p:spPr>
          <a:xfrm>
            <a:off x="731520" y="2651760"/>
            <a:ext cx="502920" cy="502920"/>
          </a:xfrm>
          <a:prstGeom prst="rect">
            <a:avLst/>
          </a:prstGeom>
        </p:spPr>
      </p:pic>
      <p:sp>
        <p:nvSpPr>
          <p:cNvPr id="14" name="Text 8"/>
          <p:cNvSpPr txBox="1"/>
          <p:nvPr/>
        </p:nvSpPr>
        <p:spPr>
          <a:xfrm>
            <a:off x="731520" y="3227832"/>
            <a:ext cx="2194560" cy="320040"/>
          </a:xfrm>
          <a:prstGeom prst="rect">
            <a:avLst/>
          </a:prstGeom>
          <a:noFill/>
          <a:ln/>
        </p:spPr>
        <p:txBody>
          <a:bodyPr wrap="square" lIns="0" tIns="0" rIns="0" bIns="0" rtlCol="0" anchor="t"/>
          <a:lstStyle/>
          <a:p>
            <a:pPr indent="0" marL="0">
              <a:buNone/>
            </a:pPr>
            <a:r>
              <a:rPr lang="en-US" sz="1100" b="1" dirty="0">
                <a:solidFill>
                  <a:srgbClr val="FFFFFF"/>
                </a:solidFill>
                <a:latin typeface="Calibri" pitchFamily="34" charset="0"/>
                <a:ea typeface="Calibri" pitchFamily="34" charset="-122"/>
                <a:cs typeface="Calibri" pitchFamily="34" charset="-120"/>
              </a:rPr>
              <a:t>Écosystème DeFi très riche</a:t>
            </a:r>
            <a:endParaRPr lang="en-US" sz="1100" dirty="0"/>
          </a:p>
        </p:txBody>
      </p:sp>
      <p:sp>
        <p:nvSpPr>
          <p:cNvPr id="15" name="Shape 9"/>
          <p:cNvSpPr/>
          <p:nvPr/>
        </p:nvSpPr>
        <p:spPr>
          <a:xfrm>
            <a:off x="3246120" y="2514600"/>
            <a:ext cx="2468880" cy="1371600"/>
          </a:xfrm>
          <a:prstGeom prst="roundRect">
            <a:avLst>
              <a:gd name="adj" fmla="val 6667"/>
            </a:avLst>
          </a:prstGeom>
          <a:solidFill>
            <a:srgbClr val="1A2026"/>
          </a:solidFill>
          <a:ln/>
        </p:spPr>
      </p:sp>
      <p:pic>
        <p:nvPicPr>
          <p:cNvPr id="16" name="Image 4" descr="preencoded.png">    </p:cNvPr>
          <p:cNvPicPr>
            <a:picLocks noChangeAspect="1"/>
          </p:cNvPicPr>
          <p:nvPr/>
        </p:nvPicPr>
        <p:blipFill>
          <a:blip r:embed="rId5"/>
          <a:stretch>
            <a:fillRect/>
          </a:stretch>
        </p:blipFill>
        <p:spPr>
          <a:xfrm>
            <a:off x="3383280" y="2651760"/>
            <a:ext cx="502920" cy="502920"/>
          </a:xfrm>
          <a:prstGeom prst="rect">
            <a:avLst/>
          </a:prstGeom>
        </p:spPr>
      </p:pic>
      <p:sp>
        <p:nvSpPr>
          <p:cNvPr id="17" name="Text 10"/>
          <p:cNvSpPr txBox="1"/>
          <p:nvPr/>
        </p:nvSpPr>
        <p:spPr>
          <a:xfrm>
            <a:off x="3383280" y="3227832"/>
            <a:ext cx="2194560" cy="320040"/>
          </a:xfrm>
          <a:prstGeom prst="rect">
            <a:avLst/>
          </a:prstGeom>
          <a:noFill/>
          <a:ln/>
        </p:spPr>
        <p:txBody>
          <a:bodyPr wrap="square" lIns="0" tIns="0" rIns="0" bIns="0" rtlCol="0" anchor="t"/>
          <a:lstStyle/>
          <a:p>
            <a:pPr indent="0" marL="0">
              <a:buNone/>
            </a:pPr>
            <a:r>
              <a:rPr lang="en-US" sz="1100" b="1" dirty="0">
                <a:solidFill>
                  <a:srgbClr val="FFFFFF"/>
                </a:solidFill>
                <a:latin typeface="Calibri" pitchFamily="34" charset="0"/>
                <a:ea typeface="Calibri" pitchFamily="34" charset="-122"/>
                <a:cs typeface="Calibri" pitchFamily="34" charset="-120"/>
              </a:rPr>
              <a:t>Adresse : commence par « 0x »</a:t>
            </a:r>
            <a:endParaRPr lang="en-US" sz="11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F1214"/>
        </a:solidFill>
      </p:bgPr>
    </p:bg>
    <p:spTree>
      <p:nvGrpSpPr>
        <p:cNvPr id="1" name=""/>
        <p:cNvGrpSpPr/>
        <p:nvPr/>
      </p:nvGrpSpPr>
      <p:grpSpPr>
        <a:xfrm>
          <a:off x="0" y="0"/>
          <a:ext cx="0" cy="0"/>
          <a:chOff x="0" y="0"/>
          <a:chExt cx="0" cy="0"/>
        </a:xfrm>
      </p:grpSpPr>
      <p:sp>
        <p:nvSpPr>
          <p:cNvPr id="2" name="Shape 0"/>
          <p:cNvSpPr/>
          <p:nvPr/>
        </p:nvSpPr>
        <p:spPr>
          <a:xfrm>
            <a:off x="7955280" y="182880"/>
            <a:ext cx="640080" cy="640080"/>
          </a:xfrm>
          <a:prstGeom prst="ellipse">
            <a:avLst/>
          </a:prstGeom>
          <a:solidFill>
            <a:srgbClr val="3B968F">
              <a:alpha val="12000"/>
            </a:srgbClr>
          </a:solidFill>
          <a:ln/>
        </p:spPr>
      </p:sp>
      <p:pic>
        <p:nvPicPr>
          <p:cNvPr id="3" name="Image 0" descr="preencoded.png">    </p:cNvPr>
          <p:cNvPicPr>
            <a:picLocks noChangeAspect="1"/>
          </p:cNvPicPr>
          <p:nvPr/>
        </p:nvPicPr>
        <p:blipFill>
          <a:blip r:embed="rId1"/>
          <a:stretch>
            <a:fillRect/>
          </a:stretch>
        </p:blipFill>
        <p:spPr>
          <a:xfrm>
            <a:off x="8028432" y="256032"/>
            <a:ext cx="493776" cy="493776"/>
          </a:xfrm>
          <a:prstGeom prst="rect">
            <a:avLst/>
          </a:prstGeom>
        </p:spPr>
      </p:pic>
      <p:sp>
        <p:nvSpPr>
          <p:cNvPr id="4" name="Text 1"/>
          <p:cNvSpPr txBox="1"/>
          <p:nvPr/>
        </p:nvSpPr>
        <p:spPr>
          <a:xfrm>
            <a:off x="731520" y="274320"/>
            <a:ext cx="7132320" cy="502920"/>
          </a:xfrm>
          <a:prstGeom prst="rect">
            <a:avLst/>
          </a:prstGeom>
          <a:noFill/>
          <a:ln/>
        </p:spPr>
        <p:txBody>
          <a:bodyPr wrap="square" lIns="0" tIns="0" rIns="0" bIns="0" rtlCol="0" anchor="ctr"/>
          <a:lstStyle/>
          <a:p>
            <a:pPr indent="0" marL="0">
              <a:buNone/>
            </a:pPr>
            <a:r>
              <a:rPr lang="en-US" sz="2000" b="1" dirty="0">
                <a:solidFill>
                  <a:srgbClr val="3B968F"/>
                </a:solidFill>
                <a:latin typeface="Calibri" pitchFamily="34" charset="0"/>
                <a:ea typeface="Calibri" pitchFamily="34" charset="-122"/>
                <a:cs typeface="Calibri" pitchFamily="34" charset="-120"/>
              </a:rPr>
              <a:t>ERC20 (réseau Ethereum)</a:t>
            </a:r>
            <a:endParaRPr lang="en-US" sz="2000" dirty="0"/>
          </a:p>
        </p:txBody>
      </p:sp>
      <p:sp>
        <p:nvSpPr>
          <p:cNvPr id="5" name="Text 2"/>
          <p:cNvSpPr txBox="1"/>
          <p:nvPr/>
        </p:nvSpPr>
        <p:spPr>
          <a:xfrm>
            <a:off x="731520" y="960120"/>
            <a:ext cx="7680960" cy="365760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Frais : 3 à 30 USDT selon la congestion (attention !)</a:t>
            </a:r>
            <a:endParaRPr lang="en-US" sz="1400" dirty="0"/>
          </a:p>
          <a:p>
            <a:pPr marL="342900" indent="-3429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Vitesse : 15 secondes à quelques minutes</a:t>
            </a:r>
            <a:endParaRPr lang="en-US" sz="1400" dirty="0"/>
          </a:p>
          <a:p>
            <a:pPr marL="342900" indent="-3429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Le réseau le plus « universel », toujours accepté</a:t>
            </a:r>
            <a:endParaRPr lang="en-US" sz="1400" dirty="0"/>
          </a:p>
          <a:p>
            <a:pPr marL="342900" indent="-3429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Recommandé uniquement pour de gros montants (&gt;500$) où les frais deviennent relativement faibles</a:t>
            </a:r>
            <a:endParaRPr lang="en-US" sz="1400" dirty="0"/>
          </a:p>
          <a:p>
            <a:pPr marL="342900" indent="-3429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Adresse : commence par « 0x »</a:t>
            </a:r>
            <a:endParaRPr lang="en-US" sz="1400" dirty="0"/>
          </a:p>
        </p:txBody>
      </p:sp>
      <p:sp>
        <p:nvSpPr>
          <p:cNvPr id="6" name="Text 3"/>
          <p:cNvSpPr txBox="1"/>
          <p:nvPr/>
        </p:nvSpPr>
        <p:spPr>
          <a:xfrm>
            <a:off x="731520" y="4709160"/>
            <a:ext cx="7680960" cy="274320"/>
          </a:xfrm>
          <a:prstGeom prst="rect">
            <a:avLst/>
          </a:prstGeom>
          <a:noFill/>
          <a:ln/>
        </p:spPr>
        <p:txBody>
          <a:bodyPr wrap="square" lIns="0" tIns="0" rIns="0" bIns="0" rtlCol="0" anchor="ctr"/>
          <a:lstStyle/>
          <a:p>
            <a:pPr algn="r" indent="0" marL="0">
              <a:buNone/>
            </a:pPr>
            <a:r>
              <a:rPr lang="en-US" sz="900" dirty="0">
                <a:solidFill>
                  <a:srgbClr val="5B6672"/>
                </a:solidFill>
                <a:latin typeface="Calibri" pitchFamily="34" charset="0"/>
                <a:ea typeface="Calibri" pitchFamily="34" charset="-122"/>
                <a:cs typeface="Calibri" pitchFamily="34" charset="-120"/>
              </a:rPr>
              <a:t>Module 6 — Leçon 3</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F1214"/>
        </a:solidFill>
      </p:bgPr>
    </p:bg>
    <p:spTree>
      <p:nvGrpSpPr>
        <p:cNvPr id="1" name=""/>
        <p:cNvGrpSpPr/>
        <p:nvPr/>
      </p:nvGrpSpPr>
      <p:grpSpPr>
        <a:xfrm>
          <a:off x="0" y="0"/>
          <a:ext cx="0" cy="0"/>
          <a:chOff x="0" y="0"/>
          <a:chExt cx="0" cy="0"/>
        </a:xfrm>
      </p:grpSpPr>
      <p:sp>
        <p:nvSpPr>
          <p:cNvPr id="2" name="Shape 0"/>
          <p:cNvSpPr/>
          <p:nvPr/>
        </p:nvSpPr>
        <p:spPr>
          <a:xfrm>
            <a:off x="7955280" y="182880"/>
            <a:ext cx="640080" cy="640080"/>
          </a:xfrm>
          <a:prstGeom prst="ellipse">
            <a:avLst/>
          </a:prstGeom>
          <a:solidFill>
            <a:srgbClr val="3B968F">
              <a:alpha val="12000"/>
            </a:srgbClr>
          </a:solidFill>
          <a:ln/>
        </p:spPr>
      </p:sp>
      <p:pic>
        <p:nvPicPr>
          <p:cNvPr id="3" name="Image 0" descr="preencoded.png">    </p:cNvPr>
          <p:cNvPicPr>
            <a:picLocks noChangeAspect="1"/>
          </p:cNvPicPr>
          <p:nvPr/>
        </p:nvPicPr>
        <p:blipFill>
          <a:blip r:embed="rId1"/>
          <a:stretch>
            <a:fillRect/>
          </a:stretch>
        </p:blipFill>
        <p:spPr>
          <a:xfrm>
            <a:off x="8028432" y="256032"/>
            <a:ext cx="493776" cy="493776"/>
          </a:xfrm>
          <a:prstGeom prst="rect">
            <a:avLst/>
          </a:prstGeom>
        </p:spPr>
      </p:pic>
      <p:sp>
        <p:nvSpPr>
          <p:cNvPr id="4" name="Text 1"/>
          <p:cNvSpPr txBox="1"/>
          <p:nvPr/>
        </p:nvSpPr>
        <p:spPr>
          <a:xfrm>
            <a:off x="731520" y="274320"/>
            <a:ext cx="7132320" cy="502920"/>
          </a:xfrm>
          <a:prstGeom prst="rect">
            <a:avLst/>
          </a:prstGeom>
          <a:noFill/>
          <a:ln/>
        </p:spPr>
        <p:txBody>
          <a:bodyPr wrap="square" lIns="0" tIns="0" rIns="0" bIns="0" rtlCol="0" anchor="ctr"/>
          <a:lstStyle/>
          <a:p>
            <a:pPr indent="0" marL="0">
              <a:buNone/>
            </a:pPr>
            <a:r>
              <a:rPr lang="en-US" sz="2000" b="1" dirty="0">
                <a:solidFill>
                  <a:srgbClr val="3B968F"/>
                </a:solidFill>
                <a:latin typeface="Calibri" pitchFamily="34" charset="0"/>
                <a:ea typeface="Calibri" pitchFamily="34" charset="-122"/>
                <a:cs typeface="Calibri" pitchFamily="34" charset="-120"/>
              </a:rPr>
              <a:t>Polygon, Solana, Aptos</a:t>
            </a:r>
            <a:endParaRPr lang="en-US" sz="2000" dirty="0"/>
          </a:p>
        </p:txBody>
      </p:sp>
      <p:sp>
        <p:nvSpPr>
          <p:cNvPr id="5" name="Text 2"/>
          <p:cNvSpPr txBox="1"/>
          <p:nvPr/>
        </p:nvSpPr>
        <p:spPr>
          <a:xfrm>
            <a:off x="731520" y="960120"/>
            <a:ext cx="7680960" cy="365760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Frais quasi nuls</a:t>
            </a:r>
            <a:endParaRPr lang="en-US" sz="1400" dirty="0"/>
          </a:p>
          <a:p>
            <a:pPr marL="342900" indent="-3429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Utile si votre destinataire vous demande ce réseau spécifiquement</a:t>
            </a:r>
            <a:endParaRPr lang="en-US" sz="1400" dirty="0"/>
          </a:p>
        </p:txBody>
      </p:sp>
      <p:sp>
        <p:nvSpPr>
          <p:cNvPr id="6" name="Text 3"/>
          <p:cNvSpPr txBox="1"/>
          <p:nvPr/>
        </p:nvSpPr>
        <p:spPr>
          <a:xfrm>
            <a:off x="731520" y="4709160"/>
            <a:ext cx="7680960" cy="274320"/>
          </a:xfrm>
          <a:prstGeom prst="rect">
            <a:avLst/>
          </a:prstGeom>
          <a:noFill/>
          <a:ln/>
        </p:spPr>
        <p:txBody>
          <a:bodyPr wrap="square" lIns="0" tIns="0" rIns="0" bIns="0" rtlCol="0" anchor="ctr"/>
          <a:lstStyle/>
          <a:p>
            <a:pPr algn="r" indent="0" marL="0">
              <a:buNone/>
            </a:pPr>
            <a:r>
              <a:rPr lang="en-US" sz="900" dirty="0">
                <a:solidFill>
                  <a:srgbClr val="5B6672"/>
                </a:solidFill>
                <a:latin typeface="Calibri" pitchFamily="34" charset="0"/>
                <a:ea typeface="Calibri" pitchFamily="34" charset="-122"/>
                <a:cs typeface="Calibri" pitchFamily="34" charset="-120"/>
              </a:rPr>
              <a:t>Module 6 — Leçon 3</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F1214"/>
        </a:solidFill>
      </p:bgPr>
    </p:bg>
    <p:spTree>
      <p:nvGrpSpPr>
        <p:cNvPr id="1" name=""/>
        <p:cNvGrpSpPr/>
        <p:nvPr/>
      </p:nvGrpSpPr>
      <p:grpSpPr>
        <a:xfrm>
          <a:off x="0" y="0"/>
          <a:ext cx="0" cy="0"/>
          <a:chOff x="0" y="0"/>
          <a:chExt cx="0" cy="0"/>
        </a:xfrm>
      </p:grpSpPr>
      <p:sp>
        <p:nvSpPr>
          <p:cNvPr id="2" name="Text 0"/>
          <p:cNvSpPr txBox="1"/>
          <p:nvPr/>
        </p:nvSpPr>
        <p:spPr>
          <a:xfrm>
            <a:off x="731520" y="274320"/>
            <a:ext cx="7680960" cy="502920"/>
          </a:xfrm>
          <a:prstGeom prst="rect">
            <a:avLst/>
          </a:prstGeom>
          <a:noFill/>
          <a:ln/>
        </p:spPr>
        <p:txBody>
          <a:bodyPr wrap="square" lIns="0" tIns="0" rIns="0" bIns="0" rtlCol="0" anchor="ctr"/>
          <a:lstStyle/>
          <a:p>
            <a:pPr indent="0" marL="0">
              <a:buNone/>
            </a:pPr>
            <a:r>
              <a:rPr lang="en-US" sz="2000" b="1" dirty="0">
                <a:solidFill>
                  <a:srgbClr val="3B968F"/>
                </a:solidFill>
                <a:latin typeface="Calibri" pitchFamily="34" charset="0"/>
                <a:ea typeface="Calibri" pitchFamily="34" charset="-122"/>
                <a:cs typeface="Calibri" pitchFamily="34" charset="-120"/>
              </a:rPr>
              <a:t>Comment choisir ?</a:t>
            </a:r>
            <a:endParaRPr lang="en-US" sz="2000" dirty="0"/>
          </a:p>
        </p:txBody>
      </p:sp>
      <p:sp>
        <p:nvSpPr>
          <p:cNvPr id="3" name="Shape 1"/>
          <p:cNvSpPr/>
          <p:nvPr/>
        </p:nvSpPr>
        <p:spPr>
          <a:xfrm>
            <a:off x="731520" y="1005840"/>
            <a:ext cx="3657600" cy="1371600"/>
          </a:xfrm>
          <a:prstGeom prst="roundRect">
            <a:avLst>
              <a:gd name="adj" fmla="val 6667"/>
            </a:avLst>
          </a:prstGeom>
          <a:solidFill>
            <a:srgbClr val="1A2026"/>
          </a:solidFill>
          <a:ln/>
        </p:spPr>
      </p:sp>
      <p:pic>
        <p:nvPicPr>
          <p:cNvPr id="4" name="Image 0" descr="preencoded.png">    </p:cNvPr>
          <p:cNvPicPr>
            <a:picLocks noChangeAspect="1"/>
          </p:cNvPicPr>
          <p:nvPr/>
        </p:nvPicPr>
        <p:blipFill>
          <a:blip r:embed="rId1"/>
          <a:stretch>
            <a:fillRect/>
          </a:stretch>
        </p:blipFill>
        <p:spPr>
          <a:xfrm>
            <a:off x="868680" y="1143000"/>
            <a:ext cx="502920" cy="502920"/>
          </a:xfrm>
          <a:prstGeom prst="rect">
            <a:avLst/>
          </a:prstGeom>
        </p:spPr>
      </p:pic>
      <p:sp>
        <p:nvSpPr>
          <p:cNvPr id="5" name="Text 2"/>
          <p:cNvSpPr txBox="1"/>
          <p:nvPr/>
        </p:nvSpPr>
        <p:spPr>
          <a:xfrm>
            <a:off x="868680" y="1719072"/>
            <a:ext cx="3383280" cy="320040"/>
          </a:xfrm>
          <a:prstGeom prst="rect">
            <a:avLst/>
          </a:prstGeom>
          <a:noFill/>
          <a:ln/>
        </p:spPr>
        <p:txBody>
          <a:bodyPr wrap="square" lIns="0" tIns="0" rIns="0" bIns="0" rtlCol="0" anchor="t"/>
          <a:lstStyle/>
          <a:p>
            <a:pPr indent="0" marL="0">
              <a:buNone/>
            </a:pPr>
            <a:r>
              <a:rPr lang="en-US" sz="1100" b="1" dirty="0">
                <a:solidFill>
                  <a:srgbClr val="FFFFFF"/>
                </a:solidFill>
                <a:latin typeface="Calibri" pitchFamily="34" charset="0"/>
                <a:ea typeface="Calibri" pitchFamily="34" charset="-122"/>
                <a:cs typeface="Calibri" pitchFamily="34" charset="-120"/>
              </a:rPr>
              <a:t>Demandez à votre destinataire quel réseau il préfère. Il ...</a:t>
            </a:r>
            <a:endParaRPr lang="en-US" sz="1100" dirty="0"/>
          </a:p>
        </p:txBody>
      </p:sp>
      <p:sp>
        <p:nvSpPr>
          <p:cNvPr id="6" name="Text 3"/>
          <p:cNvSpPr txBox="1"/>
          <p:nvPr/>
        </p:nvSpPr>
        <p:spPr>
          <a:xfrm>
            <a:off x="868680" y="2011680"/>
            <a:ext cx="3383280" cy="274320"/>
          </a:xfrm>
          <a:prstGeom prst="rect">
            <a:avLst/>
          </a:prstGeom>
          <a:noFill/>
          <a:ln/>
        </p:spPr>
        <p:txBody>
          <a:bodyPr wrap="square" lIns="0" tIns="0" rIns="0" bIns="0" rtlCol="0" anchor="t"/>
          <a:lstStyle/>
          <a:p>
            <a:pPr indent="0" marL="0">
              <a:buNone/>
            </a:pPr>
            <a:r>
              <a:rPr lang="en-US" sz="900" dirty="0">
                <a:solidFill>
                  <a:srgbClr val="8994A0"/>
                </a:solidFill>
                <a:latin typeface="Calibri" pitchFamily="34" charset="0"/>
                <a:ea typeface="Calibri" pitchFamily="34" charset="-122"/>
                <a:cs typeface="Calibri" pitchFamily="34" charset="-120"/>
              </a:rPr>
              <a:t>nt que vous envoyiez sur le même réseau que celui de son adresse.</a:t>
            </a:r>
            <a:endParaRPr lang="en-US" sz="900" dirty="0"/>
          </a:p>
        </p:txBody>
      </p:sp>
      <p:sp>
        <p:nvSpPr>
          <p:cNvPr id="7" name="Shape 4"/>
          <p:cNvSpPr/>
          <p:nvPr/>
        </p:nvSpPr>
        <p:spPr>
          <a:xfrm>
            <a:off x="4754880" y="1005840"/>
            <a:ext cx="3657600" cy="1371600"/>
          </a:xfrm>
          <a:prstGeom prst="roundRect">
            <a:avLst>
              <a:gd name="adj" fmla="val 6667"/>
            </a:avLst>
          </a:prstGeom>
          <a:solidFill>
            <a:srgbClr val="1A2026"/>
          </a:solidFill>
          <a:ln/>
        </p:spPr>
      </p:sp>
      <p:pic>
        <p:nvPicPr>
          <p:cNvPr id="8" name="Image 1" descr="preencoded.png">    </p:cNvPr>
          <p:cNvPicPr>
            <a:picLocks noChangeAspect="1"/>
          </p:cNvPicPr>
          <p:nvPr/>
        </p:nvPicPr>
        <p:blipFill>
          <a:blip r:embed="rId2"/>
          <a:stretch>
            <a:fillRect/>
          </a:stretch>
        </p:blipFill>
        <p:spPr>
          <a:xfrm>
            <a:off x="4892040" y="1143000"/>
            <a:ext cx="502920" cy="502920"/>
          </a:xfrm>
          <a:prstGeom prst="rect">
            <a:avLst/>
          </a:prstGeom>
        </p:spPr>
      </p:pic>
      <p:sp>
        <p:nvSpPr>
          <p:cNvPr id="9" name="Text 5"/>
          <p:cNvSpPr txBox="1"/>
          <p:nvPr/>
        </p:nvSpPr>
        <p:spPr>
          <a:xfrm>
            <a:off x="4892040" y="1719072"/>
            <a:ext cx="3383280" cy="320040"/>
          </a:xfrm>
          <a:prstGeom prst="rect">
            <a:avLst/>
          </a:prstGeom>
          <a:noFill/>
          <a:ln/>
        </p:spPr>
        <p:txBody>
          <a:bodyPr wrap="square" lIns="0" tIns="0" rIns="0" bIns="0" rtlCol="0" anchor="t"/>
          <a:lstStyle/>
          <a:p>
            <a:pPr indent="0" marL="0">
              <a:buNone/>
            </a:pPr>
            <a:r>
              <a:rPr lang="en-US" sz="1100" b="1" dirty="0">
                <a:solidFill>
                  <a:srgbClr val="FFFFFF"/>
                </a:solidFill>
                <a:latin typeface="Calibri" pitchFamily="34" charset="0"/>
                <a:ea typeface="Calibri" pitchFamily="34" charset="-122"/>
                <a:cs typeface="Calibri" pitchFamily="34" charset="-120"/>
              </a:rPr>
              <a:t>Si vous choisissez pour vous-même, prenez TRC20 par défau...</a:t>
            </a:r>
            <a:endParaRPr lang="en-US" sz="1100" dirty="0"/>
          </a:p>
        </p:txBody>
      </p:sp>
      <p:sp>
        <p:nvSpPr>
          <p:cNvPr id="10" name="Text 6"/>
          <p:cNvSpPr txBox="1"/>
          <p:nvPr/>
        </p:nvSpPr>
        <p:spPr>
          <a:xfrm>
            <a:off x="4892040" y="2011680"/>
            <a:ext cx="3383280" cy="274320"/>
          </a:xfrm>
          <a:prstGeom prst="rect">
            <a:avLst/>
          </a:prstGeom>
          <a:noFill/>
          <a:ln/>
        </p:spPr>
        <p:txBody>
          <a:bodyPr wrap="square" lIns="0" tIns="0" rIns="0" bIns="0" rtlCol="0" anchor="t"/>
          <a:lstStyle/>
          <a:p>
            <a:pPr indent="0" marL="0">
              <a:buNone/>
            </a:pPr>
            <a:r>
              <a:rPr lang="en-US" sz="900" dirty="0">
                <a:solidFill>
                  <a:srgbClr val="8994A0"/>
                </a:solidFill>
                <a:latin typeface="Calibri" pitchFamily="34" charset="0"/>
                <a:ea typeface="Calibri" pitchFamily="34" charset="-122"/>
                <a:cs typeface="Calibri" pitchFamily="34" charset="-120"/>
              </a:rPr>
              <a:t>tandard en Afrique.</a:t>
            </a:r>
            <a:endParaRPr lang="en-US" sz="900" dirty="0"/>
          </a:p>
        </p:txBody>
      </p:sp>
      <p:sp>
        <p:nvSpPr>
          <p:cNvPr id="11" name="Shape 7"/>
          <p:cNvSpPr/>
          <p:nvPr/>
        </p:nvSpPr>
        <p:spPr>
          <a:xfrm>
            <a:off x="731520" y="2514600"/>
            <a:ext cx="3657600" cy="1371600"/>
          </a:xfrm>
          <a:prstGeom prst="roundRect">
            <a:avLst>
              <a:gd name="adj" fmla="val 6667"/>
            </a:avLst>
          </a:prstGeom>
          <a:solidFill>
            <a:srgbClr val="1A2026"/>
          </a:solidFill>
          <a:ln/>
        </p:spPr>
      </p:sp>
      <p:pic>
        <p:nvPicPr>
          <p:cNvPr id="12" name="Image 2" descr="preencoded.png">    </p:cNvPr>
          <p:cNvPicPr>
            <a:picLocks noChangeAspect="1"/>
          </p:cNvPicPr>
          <p:nvPr/>
        </p:nvPicPr>
        <p:blipFill>
          <a:blip r:embed="rId3"/>
          <a:stretch>
            <a:fillRect/>
          </a:stretch>
        </p:blipFill>
        <p:spPr>
          <a:xfrm>
            <a:off x="868680" y="2651760"/>
            <a:ext cx="502920" cy="502920"/>
          </a:xfrm>
          <a:prstGeom prst="rect">
            <a:avLst/>
          </a:prstGeom>
        </p:spPr>
      </p:pic>
      <p:sp>
        <p:nvSpPr>
          <p:cNvPr id="13" name="Text 8"/>
          <p:cNvSpPr txBox="1"/>
          <p:nvPr/>
        </p:nvSpPr>
        <p:spPr>
          <a:xfrm>
            <a:off x="868680" y="3227832"/>
            <a:ext cx="3383280" cy="320040"/>
          </a:xfrm>
          <a:prstGeom prst="rect">
            <a:avLst/>
          </a:prstGeom>
          <a:noFill/>
          <a:ln/>
        </p:spPr>
        <p:txBody>
          <a:bodyPr wrap="square" lIns="0" tIns="0" rIns="0" bIns="0" rtlCol="0" anchor="t"/>
          <a:lstStyle/>
          <a:p>
            <a:pPr indent="0" marL="0">
              <a:buNone/>
            </a:pPr>
            <a:r>
              <a:rPr lang="en-US" sz="1100" b="1" dirty="0">
                <a:solidFill>
                  <a:srgbClr val="FFFFFF"/>
                </a:solidFill>
                <a:latin typeface="Calibri" pitchFamily="34" charset="0"/>
                <a:ea typeface="Calibri" pitchFamily="34" charset="-122"/>
                <a:cs typeface="Calibri" pitchFamily="34" charset="-120"/>
              </a:rPr>
              <a:t>Vérifiez toujours que votre wallet (Trust Wallet, MetaMas...</a:t>
            </a:r>
            <a:endParaRPr lang="en-US" sz="1100" dirty="0"/>
          </a:p>
        </p:txBody>
      </p:sp>
      <p:sp>
        <p:nvSpPr>
          <p:cNvPr id="14" name="Text 9"/>
          <p:cNvSpPr txBox="1"/>
          <p:nvPr/>
        </p:nvSpPr>
        <p:spPr>
          <a:xfrm>
            <a:off x="868680" y="3520440"/>
            <a:ext cx="3383280" cy="274320"/>
          </a:xfrm>
          <a:prstGeom prst="rect">
            <a:avLst/>
          </a:prstGeom>
          <a:noFill/>
          <a:ln/>
        </p:spPr>
        <p:txBody>
          <a:bodyPr wrap="square" lIns="0" tIns="0" rIns="0" bIns="0" rtlCol="0" anchor="t"/>
          <a:lstStyle/>
          <a:p>
            <a:pPr indent="0" marL="0">
              <a:buNone/>
            </a:pPr>
            <a:r>
              <a:rPr lang="en-US" sz="900" dirty="0">
                <a:solidFill>
                  <a:srgbClr val="8994A0"/>
                </a:solidFill>
                <a:latin typeface="Calibri" pitchFamily="34" charset="0"/>
                <a:ea typeface="Calibri" pitchFamily="34" charset="-122"/>
                <a:cs typeface="Calibri" pitchFamily="34" charset="-120"/>
              </a:rPr>
              <a:t>supporte le réseau choisi. Certains wallets ne gèrent que Ethereum et BNB Chain,</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F1214"/>
        </a:solidFill>
      </p:bgPr>
    </p:bg>
    <p:spTree>
      <p:nvGrpSpPr>
        <p:cNvPr id="1" name=""/>
        <p:cNvGrpSpPr/>
        <p:nvPr/>
      </p:nvGrpSpPr>
      <p:grpSpPr>
        <a:xfrm>
          <a:off x="0" y="0"/>
          <a:ext cx="0" cy="0"/>
          <a:chOff x="0" y="0"/>
          <a:chExt cx="0" cy="0"/>
        </a:xfrm>
      </p:grpSpPr>
      <p:sp>
        <p:nvSpPr>
          <p:cNvPr id="2" name="Shape 0"/>
          <p:cNvSpPr/>
          <p:nvPr/>
        </p:nvSpPr>
        <p:spPr>
          <a:xfrm>
            <a:off x="7955280" y="182880"/>
            <a:ext cx="640080" cy="640080"/>
          </a:xfrm>
          <a:prstGeom prst="ellipse">
            <a:avLst/>
          </a:prstGeom>
          <a:solidFill>
            <a:srgbClr val="3B968F">
              <a:alpha val="12000"/>
            </a:srgbClr>
          </a:solidFill>
          <a:ln/>
        </p:spPr>
      </p:sp>
      <p:pic>
        <p:nvPicPr>
          <p:cNvPr id="3" name="Image 0" descr="preencoded.png">    </p:cNvPr>
          <p:cNvPicPr>
            <a:picLocks noChangeAspect="1"/>
          </p:cNvPicPr>
          <p:nvPr/>
        </p:nvPicPr>
        <p:blipFill>
          <a:blip r:embed="rId1"/>
          <a:stretch>
            <a:fillRect/>
          </a:stretch>
        </p:blipFill>
        <p:spPr>
          <a:xfrm>
            <a:off x="8028432" y="256032"/>
            <a:ext cx="493776" cy="493776"/>
          </a:xfrm>
          <a:prstGeom prst="rect">
            <a:avLst/>
          </a:prstGeom>
        </p:spPr>
      </p:pic>
      <p:sp>
        <p:nvSpPr>
          <p:cNvPr id="4" name="Text 1"/>
          <p:cNvSpPr txBox="1"/>
          <p:nvPr/>
        </p:nvSpPr>
        <p:spPr>
          <a:xfrm>
            <a:off x="731520" y="274320"/>
            <a:ext cx="7132320" cy="502920"/>
          </a:xfrm>
          <a:prstGeom prst="rect">
            <a:avLst/>
          </a:prstGeom>
          <a:noFill/>
          <a:ln/>
        </p:spPr>
        <p:txBody>
          <a:bodyPr wrap="square" lIns="0" tIns="0" rIns="0" bIns="0" rtlCol="0" anchor="ctr"/>
          <a:lstStyle/>
          <a:p>
            <a:pPr indent="0" marL="0">
              <a:buNone/>
            </a:pPr>
            <a:r>
              <a:rPr lang="en-US" sz="2000" b="1" dirty="0">
                <a:solidFill>
                  <a:srgbClr val="3B968F"/>
                </a:solidFill>
                <a:latin typeface="Calibri" pitchFamily="34" charset="0"/>
                <a:ea typeface="Calibri" pitchFamily="34" charset="-122"/>
                <a:cs typeface="Calibri" pitchFamily="34" charset="-120"/>
              </a:rPr>
              <a:t>AVERTISSEMENT CRITIQUE</a:t>
            </a:r>
            <a:endParaRPr lang="en-US" sz="2000" dirty="0"/>
          </a:p>
        </p:txBody>
      </p:sp>
      <p:sp>
        <p:nvSpPr>
          <p:cNvPr id="5" name="Text 2"/>
          <p:cNvSpPr txBox="1"/>
          <p:nvPr/>
        </p:nvSpPr>
        <p:spPr>
          <a:xfrm>
            <a:off x="731520" y="960120"/>
            <a:ext cx="7680960" cy="365760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Si vous envoyez de l'USDT-TRC20 à une adresse ERC20 (ou l'inverse), votre argent est perdu à jamais.</a:t>
            </a:r>
            <a:endParaRPr lang="en-US" sz="1400" dirty="0"/>
          </a:p>
          <a:p>
            <a:pPr marL="342900" indent="-3429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Ces réseaux sont incompatibles.</a:t>
            </a:r>
            <a:endParaRPr lang="en-US" sz="1400" dirty="0"/>
          </a:p>
          <a:p>
            <a:pPr marL="342900" indent="-3429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C'est l'erreur numéro 1 des débutants.</a:t>
            </a:r>
            <a:endParaRPr lang="en-US" sz="1400" dirty="0"/>
          </a:p>
          <a:p>
            <a:pPr marL="342900" indent="-3429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On y reviendra en détail au Module 8.</a:t>
            </a:r>
            <a:endParaRPr lang="en-US" sz="1400" dirty="0"/>
          </a:p>
          <a:p>
            <a:pPr marL="342900" indent="-3429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Sur Terex, l'interface vous demande de choisir le réseau AVANT de renseigner l'adresse — c'est fait exprès pour vous éviter cette erreur.</a:t>
            </a:r>
            <a:endParaRPr lang="en-US" sz="1400" dirty="0"/>
          </a:p>
        </p:txBody>
      </p:sp>
      <p:sp>
        <p:nvSpPr>
          <p:cNvPr id="6" name="Text 3"/>
          <p:cNvSpPr txBox="1"/>
          <p:nvPr/>
        </p:nvSpPr>
        <p:spPr>
          <a:xfrm>
            <a:off x="731520" y="4709160"/>
            <a:ext cx="7680960" cy="274320"/>
          </a:xfrm>
          <a:prstGeom prst="rect">
            <a:avLst/>
          </a:prstGeom>
          <a:noFill/>
          <a:ln/>
        </p:spPr>
        <p:txBody>
          <a:bodyPr wrap="square" lIns="0" tIns="0" rIns="0" bIns="0" rtlCol="0" anchor="ctr"/>
          <a:lstStyle/>
          <a:p>
            <a:pPr algn="r" indent="0" marL="0">
              <a:buNone/>
            </a:pPr>
            <a:r>
              <a:rPr lang="en-US" sz="900" dirty="0">
                <a:solidFill>
                  <a:srgbClr val="5B6672"/>
                </a:solidFill>
                <a:latin typeface="Calibri" pitchFamily="34" charset="0"/>
                <a:ea typeface="Calibri" pitchFamily="34" charset="-122"/>
                <a:cs typeface="Calibri" pitchFamily="34" charset="-120"/>
              </a:rPr>
              <a:t>Module 6 — Leçon 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1A2026"/>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20040"/>
            <a:ext cx="457200" cy="457200"/>
          </a:xfrm>
          <a:prstGeom prst="rect">
            <a:avLst/>
          </a:prstGeom>
        </p:spPr>
      </p:pic>
      <p:sp>
        <p:nvSpPr>
          <p:cNvPr id="3" name="Text 0"/>
          <p:cNvSpPr txBox="1"/>
          <p:nvPr/>
        </p:nvSpPr>
        <p:spPr>
          <a:xfrm>
            <a:off x="1280160" y="365760"/>
            <a:ext cx="2743200" cy="320040"/>
          </a:xfrm>
          <a:prstGeom prst="rect">
            <a:avLst/>
          </a:prstGeom>
          <a:noFill/>
          <a:ln/>
        </p:spPr>
        <p:txBody>
          <a:bodyPr wrap="square" lIns="0" tIns="0" rIns="0" bIns="0" rtlCol="0" anchor="ctr"/>
          <a:lstStyle/>
          <a:p>
            <a:pPr indent="0" marL="0">
              <a:buNone/>
            </a:pPr>
            <a:r>
              <a:rPr lang="en-US" sz="1200" b="1" spc="300" kern="0" dirty="0">
                <a:solidFill>
                  <a:srgbClr val="5BC1B8"/>
                </a:solidFill>
                <a:latin typeface="Calibri" pitchFamily="34" charset="0"/>
                <a:ea typeface="Calibri" pitchFamily="34" charset="-122"/>
                <a:cs typeface="Calibri" pitchFamily="34" charset="-120"/>
              </a:rPr>
              <a:t>A RETENIR</a:t>
            </a:r>
            <a:endParaRPr lang="en-US" sz="1200" dirty="0"/>
          </a:p>
        </p:txBody>
      </p:sp>
      <p:sp>
        <p:nvSpPr>
          <p:cNvPr id="4" name="Text 1"/>
          <p:cNvSpPr txBox="1"/>
          <p:nvPr/>
        </p:nvSpPr>
        <p:spPr>
          <a:xfrm>
            <a:off x="731520" y="822960"/>
            <a:ext cx="7680960" cy="457200"/>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TRC20, ERC20, BEP20 — comment choisir ?</a:t>
            </a:r>
            <a:endParaRPr lang="en-US" sz="2000" dirty="0"/>
          </a:p>
        </p:txBody>
      </p:sp>
      <p:sp>
        <p:nvSpPr>
          <p:cNvPr id="5" name="Shape 2"/>
          <p:cNvSpPr/>
          <p:nvPr/>
        </p:nvSpPr>
        <p:spPr>
          <a:xfrm>
            <a:off x="731520" y="1463040"/>
            <a:ext cx="7680960" cy="548640"/>
          </a:xfrm>
          <a:prstGeom prst="roundRect">
            <a:avLst>
              <a:gd name="adj" fmla="val 13333"/>
            </a:avLst>
          </a:prstGeom>
          <a:solidFill>
            <a:srgbClr val="0F1214"/>
          </a:solidFill>
          <a:ln/>
        </p:spPr>
      </p:sp>
      <p:sp>
        <p:nvSpPr>
          <p:cNvPr id="6" name="Text 3"/>
          <p:cNvSpPr txBox="1"/>
          <p:nvPr/>
        </p:nvSpPr>
        <p:spPr>
          <a:xfrm>
            <a:off x="914400" y="1463040"/>
            <a:ext cx="411480" cy="548640"/>
          </a:xfrm>
          <a:prstGeom prst="roundRect">
            <a:avLst>
              <a:gd name="adj" fmla="val 48889"/>
            </a:avLst>
          </a:prstGeom>
          <a:solidFill>
            <a:srgbClr val="3B968F"/>
          </a:solidFill>
          <a:ln/>
        </p:spPr>
        <p:txBody>
          <a:bodyPr wrap="square" lIns="0" tIns="0" rIns="0" bIns="0" rtlCol="0" anchor="ctr"/>
          <a:lstStyle/>
          <a:p>
            <a:pPr algn="ctr" indent="0" marL="0">
              <a:buNone/>
            </a:pPr>
            <a:r>
              <a:rPr lang="en-US" sz="1500" b="1" dirty="0">
                <a:solidFill>
                  <a:srgbClr val="0F1214"/>
                </a:solidFill>
                <a:latin typeface="Calibri" pitchFamily="34" charset="0"/>
                <a:ea typeface="Calibri" pitchFamily="34" charset="-122"/>
                <a:cs typeface="Calibri" pitchFamily="34" charset="-120"/>
              </a:rPr>
              <a:t>1</a:t>
            </a:r>
            <a:endParaRPr lang="en-US" sz="1500" dirty="0"/>
          </a:p>
        </p:txBody>
      </p:sp>
      <p:sp>
        <p:nvSpPr>
          <p:cNvPr id="7" name="Text 4"/>
          <p:cNvSpPr txBox="1"/>
          <p:nvPr/>
        </p:nvSpPr>
        <p:spPr>
          <a:xfrm>
            <a:off x="1508760" y="1463040"/>
            <a:ext cx="6766560" cy="54864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Frais : ~1 USDT par transfert</a:t>
            </a:r>
            <a:endParaRPr lang="en-US" sz="1300" dirty="0"/>
          </a:p>
        </p:txBody>
      </p:sp>
      <p:sp>
        <p:nvSpPr>
          <p:cNvPr id="8" name="Shape 5"/>
          <p:cNvSpPr/>
          <p:nvPr/>
        </p:nvSpPr>
        <p:spPr>
          <a:xfrm>
            <a:off x="731520" y="2103120"/>
            <a:ext cx="7680960" cy="548640"/>
          </a:xfrm>
          <a:prstGeom prst="roundRect">
            <a:avLst>
              <a:gd name="adj" fmla="val 13333"/>
            </a:avLst>
          </a:prstGeom>
          <a:solidFill>
            <a:srgbClr val="0F1214"/>
          </a:solidFill>
          <a:ln/>
        </p:spPr>
      </p:sp>
      <p:sp>
        <p:nvSpPr>
          <p:cNvPr id="9" name="Text 6"/>
          <p:cNvSpPr txBox="1"/>
          <p:nvPr/>
        </p:nvSpPr>
        <p:spPr>
          <a:xfrm>
            <a:off x="914400" y="2103120"/>
            <a:ext cx="411480" cy="548640"/>
          </a:xfrm>
          <a:prstGeom prst="roundRect">
            <a:avLst>
              <a:gd name="adj" fmla="val 48889"/>
            </a:avLst>
          </a:prstGeom>
          <a:solidFill>
            <a:srgbClr val="3B968F"/>
          </a:solidFill>
          <a:ln/>
        </p:spPr>
        <p:txBody>
          <a:bodyPr wrap="square" lIns="0" tIns="0" rIns="0" bIns="0" rtlCol="0" anchor="ctr"/>
          <a:lstStyle/>
          <a:p>
            <a:pPr algn="ctr" indent="0" marL="0">
              <a:buNone/>
            </a:pPr>
            <a:r>
              <a:rPr lang="en-US" sz="1500" b="1" dirty="0">
                <a:solidFill>
                  <a:srgbClr val="0F1214"/>
                </a:solidFill>
                <a:latin typeface="Calibri" pitchFamily="34" charset="0"/>
                <a:ea typeface="Calibri" pitchFamily="34" charset="-122"/>
                <a:cs typeface="Calibri" pitchFamily="34" charset="-120"/>
              </a:rPr>
              <a:t>2</a:t>
            </a:r>
            <a:endParaRPr lang="en-US" sz="1500" dirty="0"/>
          </a:p>
        </p:txBody>
      </p:sp>
      <p:sp>
        <p:nvSpPr>
          <p:cNvPr id="10" name="Text 7"/>
          <p:cNvSpPr txBox="1"/>
          <p:nvPr/>
        </p:nvSpPr>
        <p:spPr>
          <a:xfrm>
            <a:off x="1508760" y="2103120"/>
            <a:ext cx="6766560" cy="54864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Vitesse : 3 secondes</a:t>
            </a:r>
            <a:endParaRPr lang="en-US" sz="1300" dirty="0"/>
          </a:p>
        </p:txBody>
      </p:sp>
      <p:sp>
        <p:nvSpPr>
          <p:cNvPr id="11" name="Shape 8"/>
          <p:cNvSpPr/>
          <p:nvPr/>
        </p:nvSpPr>
        <p:spPr>
          <a:xfrm>
            <a:off x="731520" y="2743200"/>
            <a:ext cx="7680960" cy="548640"/>
          </a:xfrm>
          <a:prstGeom prst="roundRect">
            <a:avLst>
              <a:gd name="adj" fmla="val 13333"/>
            </a:avLst>
          </a:prstGeom>
          <a:solidFill>
            <a:srgbClr val="0F1214"/>
          </a:solidFill>
          <a:ln/>
        </p:spPr>
      </p:sp>
      <p:sp>
        <p:nvSpPr>
          <p:cNvPr id="12" name="Text 9"/>
          <p:cNvSpPr txBox="1"/>
          <p:nvPr/>
        </p:nvSpPr>
        <p:spPr>
          <a:xfrm>
            <a:off x="914400" y="2743200"/>
            <a:ext cx="411480" cy="548640"/>
          </a:xfrm>
          <a:prstGeom prst="roundRect">
            <a:avLst>
              <a:gd name="adj" fmla="val 48889"/>
            </a:avLst>
          </a:prstGeom>
          <a:solidFill>
            <a:srgbClr val="3B968F"/>
          </a:solidFill>
          <a:ln/>
        </p:spPr>
        <p:txBody>
          <a:bodyPr wrap="square" lIns="0" tIns="0" rIns="0" bIns="0" rtlCol="0" anchor="ctr"/>
          <a:lstStyle/>
          <a:p>
            <a:pPr algn="ctr" indent="0" marL="0">
              <a:buNone/>
            </a:pPr>
            <a:r>
              <a:rPr lang="en-US" sz="1500" b="1" dirty="0">
                <a:solidFill>
                  <a:srgbClr val="0F1214"/>
                </a:solidFill>
                <a:latin typeface="Calibri" pitchFamily="34" charset="0"/>
                <a:ea typeface="Calibri" pitchFamily="34" charset="-122"/>
                <a:cs typeface="Calibri" pitchFamily="34" charset="-120"/>
              </a:rPr>
              <a:t>3</a:t>
            </a:r>
            <a:endParaRPr lang="en-US" sz="1500" dirty="0"/>
          </a:p>
        </p:txBody>
      </p:sp>
      <p:sp>
        <p:nvSpPr>
          <p:cNvPr id="13" name="Text 10"/>
          <p:cNvSpPr txBox="1"/>
          <p:nvPr/>
        </p:nvSpPr>
        <p:spPr>
          <a:xfrm>
            <a:off x="1508760" y="2743200"/>
            <a:ext cx="6766560" cy="54864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Le + utilisé en Afrique</a:t>
            </a:r>
            <a:endParaRPr lang="en-US" sz="1300" dirty="0"/>
          </a:p>
        </p:txBody>
      </p:sp>
      <p:sp>
        <p:nvSpPr>
          <p:cNvPr id="14" name="Shape 11"/>
          <p:cNvSpPr/>
          <p:nvPr/>
        </p:nvSpPr>
        <p:spPr>
          <a:xfrm>
            <a:off x="731520" y="3383280"/>
            <a:ext cx="7680960" cy="548640"/>
          </a:xfrm>
          <a:prstGeom prst="roundRect">
            <a:avLst>
              <a:gd name="adj" fmla="val 13333"/>
            </a:avLst>
          </a:prstGeom>
          <a:solidFill>
            <a:srgbClr val="0F1214"/>
          </a:solidFill>
          <a:ln/>
        </p:spPr>
      </p:sp>
      <p:sp>
        <p:nvSpPr>
          <p:cNvPr id="15" name="Text 12"/>
          <p:cNvSpPr txBox="1"/>
          <p:nvPr/>
        </p:nvSpPr>
        <p:spPr>
          <a:xfrm>
            <a:off x="914400" y="3383280"/>
            <a:ext cx="411480" cy="548640"/>
          </a:xfrm>
          <a:prstGeom prst="roundRect">
            <a:avLst>
              <a:gd name="adj" fmla="val 48889"/>
            </a:avLst>
          </a:prstGeom>
          <a:solidFill>
            <a:srgbClr val="3B968F"/>
          </a:solidFill>
          <a:ln/>
        </p:spPr>
        <p:txBody>
          <a:bodyPr wrap="square" lIns="0" tIns="0" rIns="0" bIns="0" rtlCol="0" anchor="ctr"/>
          <a:lstStyle/>
          <a:p>
            <a:pPr algn="ctr" indent="0" marL="0">
              <a:buNone/>
            </a:pPr>
            <a:r>
              <a:rPr lang="en-US" sz="1500" b="1" dirty="0">
                <a:solidFill>
                  <a:srgbClr val="0F1214"/>
                </a:solidFill>
                <a:latin typeface="Calibri" pitchFamily="34" charset="0"/>
                <a:ea typeface="Calibri" pitchFamily="34" charset="-122"/>
                <a:cs typeface="Calibri" pitchFamily="34" charset="-120"/>
              </a:rPr>
              <a:t>4</a:t>
            </a:r>
            <a:endParaRPr lang="en-US" sz="1500" dirty="0"/>
          </a:p>
        </p:txBody>
      </p:sp>
      <p:sp>
        <p:nvSpPr>
          <p:cNvPr id="16" name="Text 13"/>
          <p:cNvSpPr txBox="1"/>
          <p:nvPr/>
        </p:nvSpPr>
        <p:spPr>
          <a:xfrm>
            <a:off x="1508760" y="3383280"/>
            <a:ext cx="6766560" cy="54864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Le + recommandé par Terex pour la plupart des cas</a:t>
            </a:r>
            <a:endParaRPr lang="en-US" sz="1300" dirty="0"/>
          </a:p>
        </p:txBody>
      </p:sp>
      <p:sp>
        <p:nvSpPr>
          <p:cNvPr id="17" name="Shape 14"/>
          <p:cNvSpPr/>
          <p:nvPr/>
        </p:nvSpPr>
        <p:spPr>
          <a:xfrm>
            <a:off x="731520" y="4023360"/>
            <a:ext cx="7680960" cy="548640"/>
          </a:xfrm>
          <a:prstGeom prst="roundRect">
            <a:avLst>
              <a:gd name="adj" fmla="val 13333"/>
            </a:avLst>
          </a:prstGeom>
          <a:solidFill>
            <a:srgbClr val="0F1214"/>
          </a:solidFill>
          <a:ln/>
        </p:spPr>
      </p:sp>
      <p:sp>
        <p:nvSpPr>
          <p:cNvPr id="18" name="Text 15"/>
          <p:cNvSpPr txBox="1"/>
          <p:nvPr/>
        </p:nvSpPr>
        <p:spPr>
          <a:xfrm>
            <a:off x="914400" y="4023360"/>
            <a:ext cx="411480" cy="548640"/>
          </a:xfrm>
          <a:prstGeom prst="roundRect">
            <a:avLst>
              <a:gd name="adj" fmla="val 48889"/>
            </a:avLst>
          </a:prstGeom>
          <a:solidFill>
            <a:srgbClr val="3B968F"/>
          </a:solidFill>
          <a:ln/>
        </p:spPr>
        <p:txBody>
          <a:bodyPr wrap="square" lIns="0" tIns="0" rIns="0" bIns="0" rtlCol="0" anchor="ctr"/>
          <a:lstStyle/>
          <a:p>
            <a:pPr algn="ctr" indent="0" marL="0">
              <a:buNone/>
            </a:pPr>
            <a:r>
              <a:rPr lang="en-US" sz="1500" b="1" dirty="0">
                <a:solidFill>
                  <a:srgbClr val="0F1214"/>
                </a:solidFill>
                <a:latin typeface="Calibri" pitchFamily="34" charset="0"/>
                <a:ea typeface="Calibri" pitchFamily="34" charset="-122"/>
                <a:cs typeface="Calibri" pitchFamily="34" charset="-120"/>
              </a:rPr>
              <a:t>5</a:t>
            </a:r>
            <a:endParaRPr lang="en-US" sz="1500" dirty="0"/>
          </a:p>
        </p:txBody>
      </p:sp>
      <p:sp>
        <p:nvSpPr>
          <p:cNvPr id="19" name="Text 16"/>
          <p:cNvSpPr txBox="1"/>
          <p:nvPr/>
        </p:nvSpPr>
        <p:spPr>
          <a:xfrm>
            <a:off x="1508760" y="4023360"/>
            <a:ext cx="6766560" cy="54864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Adresse : commence par « T »</a:t>
            </a:r>
            <a:endParaRPr lang="en-US" sz="13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F1214"/>
        </a:solidFill>
      </p:bgPr>
    </p:bg>
    <p:spTree>
      <p:nvGrpSpPr>
        <p:cNvPr id="1" name=""/>
        <p:cNvGrpSpPr/>
        <p:nvPr/>
      </p:nvGrpSpPr>
      <p:grpSpPr>
        <a:xfrm>
          <a:off x="0" y="0"/>
          <a:ext cx="0" cy="0"/>
          <a:chOff x="0" y="0"/>
          <a:chExt cx="0" cy="0"/>
        </a:xfrm>
      </p:grpSpPr>
      <p:sp>
        <p:nvSpPr>
          <p:cNvPr id="2" name="Shape 0"/>
          <p:cNvSpPr/>
          <p:nvPr/>
        </p:nvSpPr>
        <p:spPr>
          <a:xfrm>
            <a:off x="548640" y="548640"/>
            <a:ext cx="8046720" cy="3840480"/>
          </a:xfrm>
          <a:prstGeom prst="roundRect">
            <a:avLst>
              <a:gd name="adj" fmla="val 3571"/>
            </a:avLst>
          </a:prstGeom>
          <a:solidFill>
            <a:srgbClr val="2A1414"/>
          </a:solidFill>
          <a:ln/>
        </p:spPr>
      </p:sp>
      <p:sp>
        <p:nvSpPr>
          <p:cNvPr id="3" name="Shape 1"/>
          <p:cNvSpPr/>
          <p:nvPr/>
        </p:nvSpPr>
        <p:spPr>
          <a:xfrm>
            <a:off x="548640" y="548640"/>
            <a:ext cx="54864" cy="3840480"/>
          </a:xfrm>
          <a:prstGeom prst="rect">
            <a:avLst/>
          </a:prstGeom>
          <a:solidFill>
            <a:srgbClr val="DC2626"/>
          </a:solidFill>
          <a:ln/>
        </p:spPr>
      </p:sp>
      <p:pic>
        <p:nvPicPr>
          <p:cNvPr id="4" name="Image 0" descr="preencoded.png">    </p:cNvPr>
          <p:cNvPicPr>
            <a:picLocks noChangeAspect="1"/>
          </p:cNvPicPr>
          <p:nvPr/>
        </p:nvPicPr>
        <p:blipFill>
          <a:blip r:embed="rId1"/>
          <a:stretch>
            <a:fillRect/>
          </a:stretch>
        </p:blipFill>
        <p:spPr>
          <a:xfrm>
            <a:off x="914400" y="777240"/>
            <a:ext cx="548640" cy="548640"/>
          </a:xfrm>
          <a:prstGeom prst="rect">
            <a:avLst/>
          </a:prstGeom>
        </p:spPr>
      </p:pic>
      <p:sp>
        <p:nvSpPr>
          <p:cNvPr id="5" name="Text 2"/>
          <p:cNvSpPr txBox="1"/>
          <p:nvPr/>
        </p:nvSpPr>
        <p:spPr>
          <a:xfrm>
            <a:off x="1600200" y="777240"/>
            <a:ext cx="2743200" cy="320040"/>
          </a:xfrm>
          <a:prstGeom prst="rect">
            <a:avLst/>
          </a:prstGeom>
          <a:noFill/>
          <a:ln/>
        </p:spPr>
        <p:txBody>
          <a:bodyPr wrap="square" lIns="0" tIns="0" rIns="0" bIns="0" rtlCol="0" anchor="ctr"/>
          <a:lstStyle/>
          <a:p>
            <a:pPr indent="0" marL="0">
              <a:buNone/>
            </a:pPr>
            <a:r>
              <a:rPr lang="en-US" sz="1200" b="1" spc="300" kern="0" dirty="0">
                <a:solidFill>
                  <a:srgbClr val="DC2626"/>
                </a:solidFill>
                <a:latin typeface="Calibri" pitchFamily="34" charset="0"/>
                <a:ea typeface="Calibri" pitchFamily="34" charset="-122"/>
                <a:cs typeface="Calibri" pitchFamily="34" charset="-120"/>
              </a:rPr>
              <a:t>ATTENTION</a:t>
            </a:r>
            <a:endParaRPr lang="en-US" sz="1200" dirty="0"/>
          </a:p>
        </p:txBody>
      </p:sp>
      <p:sp>
        <p:nvSpPr>
          <p:cNvPr id="6" name="Text 3"/>
          <p:cNvSpPr txBox="1"/>
          <p:nvPr/>
        </p:nvSpPr>
        <p:spPr>
          <a:xfrm>
            <a:off x="914400" y="1371600"/>
            <a:ext cx="7406640" cy="2286000"/>
          </a:xfrm>
          <a:prstGeom prst="rect">
            <a:avLst/>
          </a:prstGeom>
          <a:noFill/>
          <a:ln/>
        </p:spPr>
        <p:txBody>
          <a:bodyPr wrap="square" lIns="0" tIns="0" rIns="0" bIns="0" rtlCol="0" anchor="t"/>
          <a:lstStyle/>
          <a:p>
            <a:pPr indent="0" marL="0">
              <a:buNone/>
            </a:pPr>
            <a:r>
              <a:rPr lang="en-US" sz="1300" dirty="0">
                <a:solidFill>
                  <a:srgbClr val="FCA5A5"/>
                </a:solidFill>
                <a:latin typeface="Calibri" pitchFamily="34" charset="0"/>
                <a:ea typeface="Calibri" pitchFamily="34" charset="-122"/>
                <a:cs typeface="Calibri" pitchFamily="34" charset="-120"/>
              </a:rPr>
              <a:t>• Frais : 3 à 30 USDT selon la congestion (attention !)</a:t>
            </a:r>
            <a:endParaRPr lang="en-US" sz="1300" dirty="0"/>
          </a:p>
          <a:p>
            <a:pPr indent="0" marL="0">
              <a:buNone/>
            </a:pPr>
            <a:r>
              <a:rPr lang="en-US" sz="1300" dirty="0">
                <a:solidFill>
                  <a:srgbClr val="FCA5A5"/>
                </a:solidFill>
                <a:latin typeface="Calibri" pitchFamily="34" charset="0"/>
                <a:ea typeface="Calibri" pitchFamily="34" charset="-122"/>
                <a:cs typeface="Calibri" pitchFamily="34" charset="-120"/>
              </a:rPr>
              <a:t>• Vitesse : 15 secondes à quelques minutes</a:t>
            </a:r>
            <a:endParaRPr lang="en-US" sz="1300" dirty="0"/>
          </a:p>
          <a:p>
            <a:pPr indent="0" marL="0">
              <a:buNone/>
            </a:pPr>
            <a:r>
              <a:rPr lang="en-US" sz="1300" dirty="0">
                <a:solidFill>
                  <a:srgbClr val="FCA5A5"/>
                </a:solidFill>
                <a:latin typeface="Calibri" pitchFamily="34" charset="0"/>
                <a:ea typeface="Calibri" pitchFamily="34" charset="-122"/>
                <a:cs typeface="Calibri" pitchFamily="34" charset="-120"/>
              </a:rPr>
              <a:t>• Le réseau le plus « universel », toujours accepté</a:t>
            </a:r>
            <a:endParaRPr lang="en-US" sz="1300" dirty="0"/>
          </a:p>
          <a:p>
            <a:pPr indent="0" marL="0">
              <a:buNone/>
            </a:pPr>
            <a:r>
              <a:rPr lang="en-US" sz="1300" dirty="0">
                <a:solidFill>
                  <a:srgbClr val="FCA5A5"/>
                </a:solidFill>
                <a:latin typeface="Calibri" pitchFamily="34" charset="0"/>
                <a:ea typeface="Calibri" pitchFamily="34" charset="-122"/>
                <a:cs typeface="Calibri" pitchFamily="34" charset="-120"/>
              </a:rPr>
              <a:t>• Recommandé uniquement pour de gros montants (&gt;500$) où les frais deviennent relativement faibles</a:t>
            </a:r>
            <a:endParaRPr lang="en-US" sz="1300" dirty="0"/>
          </a:p>
          <a:p>
            <a:pPr indent="0" marL="0">
              <a:buNone/>
            </a:pPr>
            <a:r>
              <a:rPr lang="en-US" sz="1300" dirty="0">
                <a:solidFill>
                  <a:srgbClr val="FCA5A5"/>
                </a:solidFill>
                <a:latin typeface="Calibri" pitchFamily="34" charset="0"/>
                <a:ea typeface="Calibri" pitchFamily="34" charset="-122"/>
                <a:cs typeface="Calibri" pitchFamily="34" charset="-120"/>
              </a:rPr>
              <a:t>• Adresse : commence par « 0x »</a:t>
            </a:r>
            <a:endParaRPr lang="en-US" sz="13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F1214"/>
        </a:solidFill>
      </p:bgPr>
    </p:bg>
    <p:spTree>
      <p:nvGrpSpPr>
        <p:cNvPr id="1" name=""/>
        <p:cNvGrpSpPr/>
        <p:nvPr/>
      </p:nvGrpSpPr>
      <p:grpSpPr>
        <a:xfrm>
          <a:off x="0" y="0"/>
          <a:ext cx="0" cy="0"/>
          <a:chOff x="0" y="0"/>
          <a:chExt cx="0" cy="0"/>
        </a:xfrm>
      </p:grpSpPr>
      <p:sp>
        <p:nvSpPr>
          <p:cNvPr id="2" name="Shape 0"/>
          <p:cNvSpPr/>
          <p:nvPr/>
        </p:nvSpPr>
        <p:spPr>
          <a:xfrm>
            <a:off x="2743200" y="457200"/>
            <a:ext cx="3657600" cy="3657600"/>
          </a:xfrm>
          <a:prstGeom prst="ellipse">
            <a:avLst/>
          </a:prstGeom>
          <a:solidFill>
            <a:srgbClr val="3B968F">
              <a:alpha val="6000"/>
            </a:srgbClr>
          </a:solidFill>
          <a:ln/>
        </p:spPr>
      </p:sp>
      <p:pic>
        <p:nvPicPr>
          <p:cNvPr id="3" name="Image 0" descr="preencoded.png">    </p:cNvPr>
          <p:cNvPicPr>
            <a:picLocks noChangeAspect="1"/>
          </p:cNvPicPr>
          <p:nvPr/>
        </p:nvPicPr>
        <p:blipFill>
          <a:blip r:embed="rId1"/>
          <a:stretch>
            <a:fillRect/>
          </a:stretch>
        </p:blipFill>
        <p:spPr>
          <a:xfrm>
            <a:off x="3931920" y="914400"/>
            <a:ext cx="1280160" cy="1280160"/>
          </a:xfrm>
          <a:prstGeom prst="rect">
            <a:avLst/>
          </a:prstGeom>
        </p:spPr>
      </p:pic>
      <p:sp>
        <p:nvSpPr>
          <p:cNvPr id="4" name="Text 1"/>
          <p:cNvSpPr txBox="1"/>
          <p:nvPr/>
        </p:nvSpPr>
        <p:spPr>
          <a:xfrm>
            <a:off x="731520" y="2377440"/>
            <a:ext cx="7680960" cy="548640"/>
          </a:xfrm>
          <a:prstGeom prst="rect">
            <a:avLst/>
          </a:prstGeom>
          <a:noFill/>
          <a:ln/>
        </p:spPr>
        <p:txBody>
          <a:bodyPr wrap="square" lIns="0" tIns="0" rIns="0" bIns="0" rtlCol="0" anchor="ctr"/>
          <a:lstStyle/>
          <a:p>
            <a:pPr algn="ctr" indent="0" marL="0">
              <a:buNone/>
            </a:pPr>
            <a:r>
              <a:rPr lang="en-US" sz="2800" b="1" dirty="0">
                <a:solidFill>
                  <a:srgbClr val="FFFFFF"/>
                </a:solidFill>
                <a:latin typeface="Calibri" pitchFamily="34" charset="0"/>
                <a:ea typeface="Calibri" pitchFamily="34" charset="-122"/>
                <a:cs typeface="Calibri" pitchFamily="34" charset="-120"/>
              </a:rPr>
              <a:t>Module 6 termine</a:t>
            </a:r>
            <a:endParaRPr lang="en-US" sz="2800" dirty="0"/>
          </a:p>
        </p:txBody>
      </p:sp>
      <p:sp>
        <p:nvSpPr>
          <p:cNvPr id="5" name="Text 2"/>
          <p:cNvSpPr txBox="1"/>
          <p:nvPr/>
        </p:nvSpPr>
        <p:spPr>
          <a:xfrm>
            <a:off x="1371600" y="3017520"/>
            <a:ext cx="6400800" cy="365760"/>
          </a:xfrm>
          <a:prstGeom prst="rect">
            <a:avLst/>
          </a:prstGeom>
          <a:noFill/>
          <a:ln/>
        </p:spPr>
        <p:txBody>
          <a:bodyPr wrap="square" lIns="0" tIns="0" rIns="0" bIns="0" rtlCol="0" anchor="ctr"/>
          <a:lstStyle/>
          <a:p>
            <a:pPr algn="ctr" indent="0" marL="0">
              <a:buNone/>
            </a:pPr>
            <a:r>
              <a:rPr lang="en-US" sz="1300" dirty="0">
                <a:solidFill>
                  <a:srgbClr val="8994A0"/>
                </a:solidFill>
                <a:latin typeface="Calibri" pitchFamily="34" charset="0"/>
                <a:ea typeface="Calibri" pitchFamily="34" charset="-122"/>
                <a:cs typeface="Calibri" pitchFamily="34" charset="-120"/>
              </a:rPr>
              <a:t>Passez au module suivant pour continuer votre apprentissage.</a:t>
            </a:r>
            <a:endParaRPr lang="en-US" sz="1300" dirty="0"/>
          </a:p>
        </p:txBody>
      </p:sp>
      <p:sp>
        <p:nvSpPr>
          <p:cNvPr id="6" name="Shape 3"/>
          <p:cNvSpPr/>
          <p:nvPr/>
        </p:nvSpPr>
        <p:spPr>
          <a:xfrm>
            <a:off x="3200400" y="3657600"/>
            <a:ext cx="2743200" cy="36576"/>
          </a:xfrm>
          <a:prstGeom prst="rect">
            <a:avLst/>
          </a:prstGeom>
          <a:solidFill>
            <a:srgbClr val="3B968F"/>
          </a:solidFill>
          <a:ln/>
        </p:spPr>
      </p:sp>
      <p:sp>
        <p:nvSpPr>
          <p:cNvPr id="7" name="Text 4"/>
          <p:cNvSpPr txBox="1"/>
          <p:nvPr/>
        </p:nvSpPr>
        <p:spPr>
          <a:xfrm>
            <a:off x="2286000" y="3931920"/>
            <a:ext cx="4572000" cy="320040"/>
          </a:xfrm>
          <a:prstGeom prst="rect">
            <a:avLst/>
          </a:prstGeom>
          <a:noFill/>
          <a:ln/>
        </p:spPr>
        <p:txBody>
          <a:bodyPr wrap="square" lIns="0" tIns="0" rIns="0" bIns="0" rtlCol="0" anchor="ctr"/>
          <a:lstStyle/>
          <a:p>
            <a:pPr algn="ctr" indent="0" marL="0">
              <a:buNone/>
            </a:pPr>
            <a:r>
              <a:rPr lang="en-US" sz="1100" spc="300" kern="0" dirty="0">
                <a:solidFill>
                  <a:srgbClr val="5B6672"/>
                </a:solidFill>
                <a:latin typeface="Calibri" pitchFamily="34" charset="0"/>
                <a:ea typeface="Calibri" pitchFamily="34" charset="-122"/>
                <a:cs typeface="Calibri" pitchFamily="34" charset="-120"/>
              </a:rPr>
              <a:t>TEREX ACADEMY</a:t>
            </a:r>
            <a:endParaRPr lang="en-US" sz="1100" dirty="0"/>
          </a:p>
        </p:txBody>
      </p:sp>
      <p:sp>
        <p:nvSpPr>
          <p:cNvPr id="8" name="Text 5"/>
          <p:cNvSpPr txBox="1"/>
          <p:nvPr/>
        </p:nvSpPr>
        <p:spPr>
          <a:xfrm>
            <a:off x="2286000" y="4251960"/>
            <a:ext cx="4572000" cy="274320"/>
          </a:xfrm>
          <a:prstGeom prst="rect">
            <a:avLst/>
          </a:prstGeom>
          <a:noFill/>
          <a:ln/>
        </p:spPr>
        <p:txBody>
          <a:bodyPr wrap="square" lIns="0" tIns="0" rIns="0" bIns="0" rtlCol="0" anchor="ctr"/>
          <a:lstStyle/>
          <a:p>
            <a:pPr algn="ctr" indent="0" marL="0">
              <a:buNone/>
            </a:pPr>
            <a:r>
              <a:rPr lang="en-US" sz="1100" dirty="0">
                <a:solidFill>
                  <a:srgbClr val="000000"/>
                </a:solidFill>
                <a:latin typeface="Calibri" pitchFamily="34" charset="0"/>
                <a:ea typeface="Calibri" pitchFamily="34" charset="-122"/>
                <a:cs typeface="Calibri" pitchFamily="34" charset="-120"/>
              </a:rPr>
              <a:t>terangaexchange.com</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Terex</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Module 6 - Les stablecoins : USDT &amp; pourquoi c'est utile</dc:title>
  <dc:subject>Les stablecoins : USDT &amp; pourquoi c'est utile</dc:subject>
  <dc:creator>Terex Academy</dc:creator>
  <cp:lastModifiedBy>Terex Academy</cp:lastModifiedBy>
  <cp:revision>1</cp:revision>
  <dcterms:created xsi:type="dcterms:W3CDTF">2026-09-07T12:08:38Z</dcterms:created>
  <dcterms:modified xsi:type="dcterms:W3CDTF">2026-09-07T12:08:38Z</dcterms:modified>
</cp:coreProperties>
</file>