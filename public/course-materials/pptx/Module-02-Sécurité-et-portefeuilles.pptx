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6400800" y="-457200"/>
            <a:ext cx="3657600" cy="3657600"/>
          </a:xfrm>
          <a:prstGeom prst="ellipse">
            <a:avLst/>
          </a:prstGeom>
          <a:solidFill>
            <a:srgbClr val="8B5CF6">
              <a:alpha val="8000"/>
            </a:srgbClr>
          </a:solidFill>
          <a:ln/>
        </p:spPr>
      </p:sp>
      <p:sp>
        <p:nvSpPr>
          <p:cNvPr id="3" name="Shape 1"/>
          <p:cNvSpPr/>
          <p:nvPr/>
        </p:nvSpPr>
        <p:spPr>
          <a:xfrm>
            <a:off x="7315200" y="2286000"/>
            <a:ext cx="2743200" cy="2743200"/>
          </a:xfrm>
          <a:prstGeom prst="ellipse">
            <a:avLst/>
          </a:prstGeom>
          <a:solidFill>
            <a:srgbClr val="8B5CF6">
              <a:alpha val="5000"/>
            </a:srgbClr>
          </a:solidFill>
          <a:ln/>
        </p:spPr>
      </p:sp>
      <p:sp>
        <p:nvSpPr>
          <p:cNvPr id="4" name="Shape 2"/>
          <p:cNvSpPr/>
          <p:nvPr/>
        </p:nvSpPr>
        <p:spPr>
          <a:xfrm>
            <a:off x="0" y="0"/>
            <a:ext cx="9144000" cy="45720"/>
          </a:xfrm>
          <a:prstGeom prst="rect">
            <a:avLst/>
          </a:prstGeom>
          <a:solidFill>
            <a:srgbClr val="8B5CF6"/>
          </a:solidFill>
          <a:ln/>
        </p:spPr>
      </p:sp>
      <p:pic>
        <p:nvPicPr>
          <p:cNvPr id="5" name="Image 0" descr="preencoded.png">    </p:cNvPr>
          <p:cNvPicPr>
            <a:picLocks noChangeAspect="1"/>
          </p:cNvPicPr>
          <p:nvPr/>
        </p:nvPicPr>
        <p:blipFill>
          <a:blip r:embed="rId1"/>
          <a:stretch>
            <a:fillRect/>
          </a:stretch>
        </p:blipFill>
        <p:spPr>
          <a:xfrm>
            <a:off x="7132320" y="1097280"/>
            <a:ext cx="1463040" cy="1463040"/>
          </a:xfrm>
          <a:prstGeom prst="rect">
            <a:avLst/>
          </a:prstGeom>
        </p:spPr>
      </p:pic>
      <p:sp>
        <p:nvSpPr>
          <p:cNvPr id="6" name="Text 3"/>
          <p:cNvSpPr txBox="1"/>
          <p:nvPr/>
        </p:nvSpPr>
        <p:spPr>
          <a:xfrm>
            <a:off x="731520" y="914400"/>
            <a:ext cx="2286000" cy="365760"/>
          </a:xfrm>
          <a:prstGeom prst="rect">
            <a:avLst/>
          </a:prstGeom>
          <a:noFill/>
          <a:ln/>
        </p:spPr>
        <p:txBody>
          <a:bodyPr wrap="square" lIns="0" tIns="0" rIns="0" bIns="0" rtlCol="0" anchor="ctr"/>
          <a:lstStyle/>
          <a:p>
            <a:pPr indent="0" marL="0">
              <a:buNone/>
            </a:pPr>
            <a:r>
              <a:rPr lang="en-US" sz="1300" b="1" spc="400" kern="0" dirty="0">
                <a:solidFill>
                  <a:srgbClr val="8B5CF6"/>
                </a:solidFill>
                <a:latin typeface="Calibri" pitchFamily="34" charset="0"/>
                <a:ea typeface="Calibri" pitchFamily="34" charset="-122"/>
                <a:cs typeface="Calibri" pitchFamily="34" charset="-120"/>
              </a:rPr>
              <a:t>MODULE 2</a:t>
            </a:r>
            <a:endParaRPr lang="en-US" sz="1300" dirty="0"/>
          </a:p>
        </p:txBody>
      </p:sp>
      <p:sp>
        <p:nvSpPr>
          <p:cNvPr id="7" name="Text 4"/>
          <p:cNvSpPr txBox="1"/>
          <p:nvPr/>
        </p:nvSpPr>
        <p:spPr>
          <a:xfrm>
            <a:off x="731520" y="1371600"/>
            <a:ext cx="5943600" cy="16459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Sécurité et portefeuilles</a:t>
            </a:r>
            <a:endParaRPr lang="en-US" sz="3600" dirty="0"/>
          </a:p>
        </p:txBody>
      </p:sp>
      <p:sp>
        <p:nvSpPr>
          <p:cNvPr id="8" name="Shape 5"/>
          <p:cNvSpPr/>
          <p:nvPr/>
        </p:nvSpPr>
        <p:spPr>
          <a:xfrm>
            <a:off x="731520" y="3291840"/>
            <a:ext cx="1828800" cy="36576"/>
          </a:xfrm>
          <a:prstGeom prst="rect">
            <a:avLst/>
          </a:prstGeom>
          <a:solidFill>
            <a:srgbClr val="8B5CF6"/>
          </a:solidFill>
          <a:ln/>
        </p:spPr>
      </p:sp>
      <p:sp>
        <p:nvSpPr>
          <p:cNvPr id="9" name="Text 6"/>
          <p:cNvSpPr txBox="1"/>
          <p:nvPr/>
        </p:nvSpPr>
        <p:spPr>
          <a:xfrm>
            <a:off x="731520" y="3566160"/>
            <a:ext cx="2743200" cy="320040"/>
          </a:xfrm>
          <a:prstGeom prst="rect">
            <a:avLst/>
          </a:prstGeom>
          <a:noFill/>
          <a:ln/>
        </p:spPr>
        <p:txBody>
          <a:bodyPr wrap="square" lIns="0" tIns="0" rIns="0" bIns="0" rtlCol="0" anchor="ctr"/>
          <a:lstStyle/>
          <a:p>
            <a:pPr indent="0" marL="0">
              <a:buNone/>
            </a:pPr>
            <a:r>
              <a:rPr lang="en-US" sz="1100" spc="300" kern="0" dirty="0">
                <a:solidFill>
                  <a:srgbClr val="64748B"/>
                </a:solidFill>
                <a:latin typeface="Calibri" pitchFamily="34" charset="0"/>
                <a:ea typeface="Calibri" pitchFamily="34" charset="-122"/>
                <a:cs typeface="Calibri" pitchFamily="34" charset="-120"/>
              </a:rPr>
              <a:t>TEREX ACADEMY</a:t>
            </a:r>
            <a:endParaRPr lang="en-US" sz="1100" dirty="0"/>
          </a:p>
        </p:txBody>
      </p:sp>
      <p:sp>
        <p:nvSpPr>
          <p:cNvPr id="10" name="Text 7"/>
          <p:cNvSpPr txBox="1"/>
          <p:nvPr/>
        </p:nvSpPr>
        <p:spPr>
          <a:xfrm>
            <a:off x="731520" y="3931920"/>
            <a:ext cx="3657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Formation Crypto &amp; Blockchain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2743200" cy="320040"/>
          </a:xfrm>
          <a:prstGeom prst="rect">
            <a:avLst/>
          </a:prstGeom>
          <a:noFill/>
          <a:ln/>
        </p:spPr>
        <p:txBody>
          <a:bodyPr wrap="square" lIns="0" tIns="0" rIns="0" bIns="0" rtlCol="0" anchor="ctr"/>
          <a:lstStyle/>
          <a:p>
            <a:pPr indent="0" marL="0">
              <a:buNone/>
            </a:pPr>
            <a:r>
              <a:rPr lang="en-US" sz="1200" b="1" spc="300" kern="0" dirty="0">
                <a:solidFill>
                  <a:srgbClr val="8B5CF6"/>
                </a:solidFill>
                <a:latin typeface="Calibri" pitchFamily="34" charset="0"/>
                <a:ea typeface="Calibri" pitchFamily="34" charset="-122"/>
                <a:cs typeface="Calibri" pitchFamily="34" charset="-120"/>
              </a:rPr>
              <a:t>SOMMAIRE</a:t>
            </a:r>
            <a:endParaRPr lang="en-US" sz="1200" dirty="0"/>
          </a:p>
        </p:txBody>
      </p:sp>
      <p:sp>
        <p:nvSpPr>
          <p:cNvPr id="3" name="Text 1"/>
          <p:cNvSpPr txBox="1"/>
          <p:nvPr/>
        </p:nvSpPr>
        <p:spPr>
          <a:xfrm>
            <a:off x="731520" y="731520"/>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Module 2</a:t>
            </a:r>
            <a:endParaRPr lang="en-US" sz="2200" dirty="0"/>
          </a:p>
        </p:txBody>
      </p:sp>
      <p:sp>
        <p:nvSpPr>
          <p:cNvPr id="4" name="Shape 2"/>
          <p:cNvSpPr/>
          <p:nvPr/>
        </p:nvSpPr>
        <p:spPr>
          <a:xfrm>
            <a:off x="731520" y="1371600"/>
            <a:ext cx="7680960" cy="475488"/>
          </a:xfrm>
          <a:prstGeom prst="roundRect">
            <a:avLst>
              <a:gd name="adj" fmla="val 15385"/>
            </a:avLst>
          </a:prstGeom>
          <a:solidFill>
            <a:srgbClr val="1A2332"/>
          </a:solidFill>
          <a:ln/>
        </p:spPr>
      </p:sp>
      <p:sp>
        <p:nvSpPr>
          <p:cNvPr id="5" name="Text 3"/>
          <p:cNvSpPr txBox="1"/>
          <p:nvPr/>
        </p:nvSpPr>
        <p:spPr>
          <a:xfrm>
            <a:off x="868680" y="1371600"/>
            <a:ext cx="320040" cy="475488"/>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1</a:t>
            </a:r>
            <a:endParaRPr lang="en-US" sz="1300" dirty="0"/>
          </a:p>
        </p:txBody>
      </p:sp>
      <p:pic>
        <p:nvPicPr>
          <p:cNvPr id="6" name="Image 0" descr="preencoded.png">    </p:cNvPr>
          <p:cNvPicPr>
            <a:picLocks noChangeAspect="1"/>
          </p:cNvPicPr>
          <p:nvPr/>
        </p:nvPicPr>
        <p:blipFill>
          <a:blip r:embed="rId1"/>
          <a:stretch>
            <a:fillRect/>
          </a:stretch>
        </p:blipFill>
        <p:spPr>
          <a:xfrm>
            <a:off x="1280160" y="1444752"/>
            <a:ext cx="329184" cy="329184"/>
          </a:xfrm>
          <a:prstGeom prst="rect">
            <a:avLst/>
          </a:prstGeom>
        </p:spPr>
      </p:pic>
      <p:sp>
        <p:nvSpPr>
          <p:cNvPr id="7" name="Text 4"/>
          <p:cNvSpPr txBox="1"/>
          <p:nvPr/>
        </p:nvSpPr>
        <p:spPr>
          <a:xfrm>
            <a:off x="1737360" y="1371600"/>
            <a:ext cx="649224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Types de portefeuilles crypto</a:t>
            </a:r>
            <a:endParaRPr lang="en-US" sz="1300" dirty="0"/>
          </a:p>
        </p:txBody>
      </p:sp>
      <p:sp>
        <p:nvSpPr>
          <p:cNvPr id="8" name="Shape 5"/>
          <p:cNvSpPr/>
          <p:nvPr/>
        </p:nvSpPr>
        <p:spPr>
          <a:xfrm>
            <a:off x="731520" y="1920240"/>
            <a:ext cx="7680960" cy="475488"/>
          </a:xfrm>
          <a:prstGeom prst="roundRect">
            <a:avLst>
              <a:gd name="adj" fmla="val 15385"/>
            </a:avLst>
          </a:prstGeom>
          <a:solidFill>
            <a:srgbClr val="1A2332"/>
          </a:solidFill>
          <a:ln/>
        </p:spPr>
      </p:sp>
      <p:sp>
        <p:nvSpPr>
          <p:cNvPr id="9" name="Text 6"/>
          <p:cNvSpPr txBox="1"/>
          <p:nvPr/>
        </p:nvSpPr>
        <p:spPr>
          <a:xfrm>
            <a:off x="868680" y="1920240"/>
            <a:ext cx="320040" cy="475488"/>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2</a:t>
            </a:r>
            <a:endParaRPr lang="en-US" sz="1300" dirty="0"/>
          </a:p>
        </p:txBody>
      </p:sp>
      <p:pic>
        <p:nvPicPr>
          <p:cNvPr id="10" name="Image 1" descr="preencoded.png">    </p:cNvPr>
          <p:cNvPicPr>
            <a:picLocks noChangeAspect="1"/>
          </p:cNvPicPr>
          <p:nvPr/>
        </p:nvPicPr>
        <p:blipFill>
          <a:blip r:embed="rId2"/>
          <a:stretch>
            <a:fillRect/>
          </a:stretch>
        </p:blipFill>
        <p:spPr>
          <a:xfrm>
            <a:off x="1280160" y="1993392"/>
            <a:ext cx="329184" cy="329184"/>
          </a:xfrm>
          <a:prstGeom prst="rect">
            <a:avLst/>
          </a:prstGeom>
        </p:spPr>
      </p:pic>
      <p:sp>
        <p:nvSpPr>
          <p:cNvPr id="11" name="Text 7"/>
          <p:cNvSpPr txBox="1"/>
          <p:nvPr/>
        </p:nvSpPr>
        <p:spPr>
          <a:xfrm>
            <a:off x="1737360" y="1920240"/>
            <a:ext cx="649224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Éviter les arnaques crypto</a:t>
            </a:r>
            <a:endParaRPr lang="en-US" sz="1300" dirty="0"/>
          </a:p>
        </p:txBody>
      </p:sp>
      <p:sp>
        <p:nvSpPr>
          <p:cNvPr id="12" name="Shape 8"/>
          <p:cNvSpPr/>
          <p:nvPr/>
        </p:nvSpPr>
        <p:spPr>
          <a:xfrm>
            <a:off x="731520" y="2468880"/>
            <a:ext cx="7680960" cy="475488"/>
          </a:xfrm>
          <a:prstGeom prst="roundRect">
            <a:avLst>
              <a:gd name="adj" fmla="val 15385"/>
            </a:avLst>
          </a:prstGeom>
          <a:solidFill>
            <a:srgbClr val="1A2332"/>
          </a:solidFill>
          <a:ln/>
        </p:spPr>
      </p:sp>
      <p:sp>
        <p:nvSpPr>
          <p:cNvPr id="13" name="Text 9"/>
          <p:cNvSpPr txBox="1"/>
          <p:nvPr/>
        </p:nvSpPr>
        <p:spPr>
          <a:xfrm>
            <a:off x="868680" y="2468880"/>
            <a:ext cx="320040" cy="475488"/>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3</a:t>
            </a:r>
            <a:endParaRPr lang="en-US" sz="1300" dirty="0"/>
          </a:p>
        </p:txBody>
      </p:sp>
      <p:pic>
        <p:nvPicPr>
          <p:cNvPr id="14" name="Image 2" descr="preencoded.png">    </p:cNvPr>
          <p:cNvPicPr>
            <a:picLocks noChangeAspect="1"/>
          </p:cNvPicPr>
          <p:nvPr/>
        </p:nvPicPr>
        <p:blipFill>
          <a:blip r:embed="rId3"/>
          <a:stretch>
            <a:fillRect/>
          </a:stretch>
        </p:blipFill>
        <p:spPr>
          <a:xfrm>
            <a:off x="1280160" y="2542032"/>
            <a:ext cx="329184" cy="329184"/>
          </a:xfrm>
          <a:prstGeom prst="rect">
            <a:avLst/>
          </a:prstGeom>
        </p:spPr>
      </p:pic>
      <p:sp>
        <p:nvSpPr>
          <p:cNvPr id="15" name="Text 10"/>
          <p:cNvSpPr txBox="1"/>
          <p:nvPr/>
        </p:nvSpPr>
        <p:spPr>
          <a:xfrm>
            <a:off x="1737360" y="2468880"/>
            <a:ext cx="649224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Pourquoi apprendre la crypto en 2026 ?</a:t>
            </a:r>
            <a:endParaRPr lang="en-US" sz="1300" dirty="0"/>
          </a:p>
        </p:txBody>
      </p:sp>
      <p:sp>
        <p:nvSpPr>
          <p:cNvPr id="16" name="Shape 11"/>
          <p:cNvSpPr/>
          <p:nvPr/>
        </p:nvSpPr>
        <p:spPr>
          <a:xfrm>
            <a:off x="731520" y="3017520"/>
            <a:ext cx="7680960" cy="475488"/>
          </a:xfrm>
          <a:prstGeom prst="roundRect">
            <a:avLst>
              <a:gd name="adj" fmla="val 15385"/>
            </a:avLst>
          </a:prstGeom>
          <a:solidFill>
            <a:srgbClr val="1A2332"/>
          </a:solidFill>
          <a:ln/>
        </p:spPr>
      </p:sp>
      <p:sp>
        <p:nvSpPr>
          <p:cNvPr id="17" name="Text 12"/>
          <p:cNvSpPr txBox="1"/>
          <p:nvPr/>
        </p:nvSpPr>
        <p:spPr>
          <a:xfrm>
            <a:off x="868680" y="3017520"/>
            <a:ext cx="320040" cy="475488"/>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4</a:t>
            </a:r>
            <a:endParaRPr lang="en-US" sz="1300" dirty="0"/>
          </a:p>
        </p:txBody>
      </p:sp>
      <p:pic>
        <p:nvPicPr>
          <p:cNvPr id="18" name="Image 3" descr="preencoded.png">    </p:cNvPr>
          <p:cNvPicPr>
            <a:picLocks noChangeAspect="1"/>
          </p:cNvPicPr>
          <p:nvPr/>
        </p:nvPicPr>
        <p:blipFill>
          <a:blip r:embed="rId4"/>
          <a:stretch>
            <a:fillRect/>
          </a:stretch>
        </p:blipFill>
        <p:spPr>
          <a:xfrm>
            <a:off x="1280160" y="3090672"/>
            <a:ext cx="329184" cy="329184"/>
          </a:xfrm>
          <a:prstGeom prst="rect">
            <a:avLst/>
          </a:prstGeom>
        </p:spPr>
      </p:pic>
      <p:sp>
        <p:nvSpPr>
          <p:cNvPr id="19" name="Text 13"/>
          <p:cNvSpPr txBox="1"/>
          <p:nvPr/>
        </p:nvSpPr>
        <p:spPr>
          <a:xfrm>
            <a:off x="1737360" y="3017520"/>
            <a:ext cx="649224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Ce que vous allez maîtriser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548640"/>
            <a:ext cx="1280160" cy="1280160"/>
          </a:xfrm>
          <a:prstGeom prst="rect">
            <a:avLst/>
          </a:prstGeom>
        </p:spPr>
      </p:pic>
      <p:pic>
        <p:nvPicPr>
          <p:cNvPr id="3" name="Image 1" descr="preencoded.png">    </p:cNvPr>
          <p:cNvPicPr>
            <a:picLocks noChangeAspect="1"/>
          </p:cNvPicPr>
          <p:nvPr/>
        </p:nvPicPr>
        <p:blipFill>
          <a:blip r:embed="rId2"/>
          <a:stretch>
            <a:fillRect/>
          </a:stretch>
        </p:blipFill>
        <p:spPr>
          <a:xfrm>
            <a:off x="7772400" y="2011680"/>
            <a:ext cx="822960" cy="822960"/>
          </a:xfrm>
          <a:prstGeom prst="rect">
            <a:avLst/>
          </a:prstGeom>
        </p:spPr>
      </p:pic>
      <p:sp>
        <p:nvSpPr>
          <p:cNvPr id="4" name="Shape 0"/>
          <p:cNvSpPr/>
          <p:nvPr/>
        </p:nvSpPr>
        <p:spPr>
          <a:xfrm>
            <a:off x="6583680" y="-274320"/>
            <a:ext cx="3200400" cy="3200400"/>
          </a:xfrm>
          <a:prstGeom prst="ellipse">
            <a:avLst/>
          </a:prstGeom>
          <a:solidFill>
            <a:srgbClr val="8B5CF6">
              <a:alpha val="6000"/>
            </a:srgbClr>
          </a:solidFill>
          <a:ln/>
        </p:spPr>
      </p:sp>
      <p:sp>
        <p:nvSpPr>
          <p:cNvPr id="5" name="Shape 1"/>
          <p:cNvSpPr/>
          <p:nvPr/>
        </p:nvSpPr>
        <p:spPr>
          <a:xfrm>
            <a:off x="731520" y="914400"/>
            <a:ext cx="45720" cy="2194560"/>
          </a:xfrm>
          <a:prstGeom prst="rect">
            <a:avLst/>
          </a:prstGeom>
          <a:solidFill>
            <a:srgbClr val="8B5CF6"/>
          </a:solidFill>
          <a:ln/>
        </p:spPr>
      </p:sp>
      <p:sp>
        <p:nvSpPr>
          <p:cNvPr id="6" name="Text 2"/>
          <p:cNvSpPr txBox="1"/>
          <p:nvPr/>
        </p:nvSpPr>
        <p:spPr>
          <a:xfrm>
            <a:off x="960120" y="914400"/>
            <a:ext cx="2743200" cy="365760"/>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Leçon 1 / 4</a:t>
            </a:r>
            <a:endParaRPr lang="en-US" sz="1200" dirty="0"/>
          </a:p>
        </p:txBody>
      </p:sp>
      <p:sp>
        <p:nvSpPr>
          <p:cNvPr id="7" name="Text 3"/>
          <p:cNvSpPr txBox="1"/>
          <p:nvPr/>
        </p:nvSpPr>
        <p:spPr>
          <a:xfrm>
            <a:off x="960120" y="137160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Types de portefeuilles crypto</a:t>
            </a:r>
            <a:endParaRPr lang="en-US" sz="2800" dirty="0"/>
          </a:p>
        </p:txBody>
      </p:sp>
      <p:sp>
        <p:nvSpPr>
          <p:cNvPr id="8" name="Text 4"/>
          <p:cNvSpPr txBox="1"/>
          <p:nvPr/>
        </p:nvSpPr>
        <p:spPr>
          <a:xfrm>
            <a:off x="960120" y="411480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Sécurité et portefeuilles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8B5CF6">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Pour stocker vos cryptomonnaies, vous avez besoin d'un portefeuille (wallet). Il en existe plusieurs types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PORTEFEUILLES CHAUDS (Hot Wallets) — Connectés à Internet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Applications mobiles : Trust Wallet, MetaMask, Coinbase Wallet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Avantages : pratiques, accès rapide, gratuits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Inconvénients : vulnérables aux piratages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PORTEFEUILLES FROIDS (Cold Wallets) — Déconnectés d'Internet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Hardware wallets : Ledger, Trezor</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2 — Leçon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45720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Avantages : très sécurisés, vos clés restent hors ligne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Inconvénients : coût initial (50-200€), moins pratiques</a:t>
            </a:r>
            <a:endParaRPr lang="en-US" sz="1300" dirty="0"/>
          </a:p>
        </p:txBody>
      </p:sp>
      <p:sp>
        <p:nvSpPr>
          <p:cNvPr id="3" name="Shape 1"/>
          <p:cNvSpPr/>
          <p:nvPr/>
        </p:nvSpPr>
        <p:spPr>
          <a:xfrm>
            <a:off x="5120640" y="457200"/>
            <a:ext cx="3474720" cy="640080"/>
          </a:xfrm>
          <a:prstGeom prst="roundRect">
            <a:avLst>
              <a:gd name="adj" fmla="val 14286"/>
            </a:avLst>
          </a:prstGeom>
          <a:solidFill>
            <a:srgbClr val="1A2332"/>
          </a:solidFill>
          <a:ln/>
        </p:spPr>
      </p:sp>
      <p:pic>
        <p:nvPicPr>
          <p:cNvPr id="4" name="Image 0" descr="preencoded.png">    </p:cNvPr>
          <p:cNvPicPr>
            <a:picLocks noChangeAspect="1"/>
          </p:cNvPicPr>
          <p:nvPr/>
        </p:nvPicPr>
        <p:blipFill>
          <a:blip r:embed="rId1"/>
          <a:stretch>
            <a:fillRect/>
          </a:stretch>
        </p:blipFill>
        <p:spPr>
          <a:xfrm>
            <a:off x="5257800" y="557784"/>
            <a:ext cx="438912" cy="438912"/>
          </a:xfrm>
          <a:prstGeom prst="rect">
            <a:avLst/>
          </a:prstGeom>
        </p:spPr>
      </p:pic>
      <p:sp>
        <p:nvSpPr>
          <p:cNvPr id="5" name="Text 2"/>
          <p:cNvSpPr txBox="1"/>
          <p:nvPr/>
        </p:nvSpPr>
        <p:spPr>
          <a:xfrm>
            <a:off x="5806440" y="45720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RÈGLE D'OR : Ne laissez jamais de grandes quantités de crypto sur un exchange...</a:t>
            </a:r>
            <a:endParaRPr lang="en-US" sz="1200" dirty="0"/>
          </a:p>
        </p:txBody>
      </p:sp>
      <p:sp>
        <p:nvSpPr>
          <p:cNvPr id="6" name="Shape 3"/>
          <p:cNvSpPr/>
          <p:nvPr/>
        </p:nvSpPr>
        <p:spPr>
          <a:xfrm>
            <a:off x="5120640" y="1188720"/>
            <a:ext cx="3474720" cy="640080"/>
          </a:xfrm>
          <a:prstGeom prst="roundRect">
            <a:avLst>
              <a:gd name="adj" fmla="val 14286"/>
            </a:avLst>
          </a:prstGeom>
          <a:solidFill>
            <a:srgbClr val="1A2332"/>
          </a:solidFill>
          <a:ln/>
        </p:spPr>
      </p:sp>
      <p:pic>
        <p:nvPicPr>
          <p:cNvPr id="7" name="Image 1" descr="preencoded.png">    </p:cNvPr>
          <p:cNvPicPr>
            <a:picLocks noChangeAspect="1"/>
          </p:cNvPicPr>
          <p:nvPr/>
        </p:nvPicPr>
        <p:blipFill>
          <a:blip r:embed="rId2"/>
          <a:stretch>
            <a:fillRect/>
          </a:stretch>
        </p:blipFill>
        <p:spPr>
          <a:xfrm>
            <a:off x="5257800" y="1289304"/>
            <a:ext cx="438912" cy="438912"/>
          </a:xfrm>
          <a:prstGeom prst="rect">
            <a:avLst/>
          </a:prstGeom>
        </p:spPr>
      </p:pic>
      <p:sp>
        <p:nvSpPr>
          <p:cNvPr id="8" name="Text 4"/>
          <p:cNvSpPr txBox="1"/>
          <p:nvPr/>
        </p:nvSpPr>
        <p:spPr>
          <a:xfrm>
            <a:off x="5806440" y="118872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La SEED PHRASE (phrase de récupération) est la clé de votre portefeuille. 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20040"/>
            <a:ext cx="457200" cy="457200"/>
          </a:xfrm>
          <a:prstGeom prst="rect">
            <a:avLst/>
          </a:prstGeom>
        </p:spPr>
      </p:pic>
      <p:sp>
        <p:nvSpPr>
          <p:cNvPr id="3" name="Text 0"/>
          <p:cNvSpPr txBox="1"/>
          <p:nvPr/>
        </p:nvSpPr>
        <p:spPr>
          <a:xfrm>
            <a:off x="1280160" y="365760"/>
            <a:ext cx="2743200" cy="32004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4" name="Text 1"/>
          <p:cNvSpPr txBox="1"/>
          <p:nvPr/>
        </p:nvSpPr>
        <p:spPr>
          <a:xfrm>
            <a:off x="731520" y="822960"/>
            <a:ext cx="768096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Types de portefeuilles crypto</a:t>
            </a:r>
            <a:endParaRPr lang="en-US" sz="2000" dirty="0"/>
          </a:p>
        </p:txBody>
      </p:sp>
      <p:sp>
        <p:nvSpPr>
          <p:cNvPr id="5" name="Shape 2"/>
          <p:cNvSpPr/>
          <p:nvPr/>
        </p:nvSpPr>
        <p:spPr>
          <a:xfrm>
            <a:off x="731520" y="1463040"/>
            <a:ext cx="7680960" cy="548640"/>
          </a:xfrm>
          <a:prstGeom prst="roundRect">
            <a:avLst>
              <a:gd name="adj" fmla="val 13333"/>
            </a:avLst>
          </a:prstGeom>
          <a:solidFill>
            <a:srgbClr val="0F1419"/>
          </a:solidFill>
          <a:ln/>
        </p:spPr>
      </p:sp>
      <p:sp>
        <p:nvSpPr>
          <p:cNvPr id="6" name="Text 3"/>
          <p:cNvSpPr txBox="1"/>
          <p:nvPr/>
        </p:nvSpPr>
        <p:spPr>
          <a:xfrm>
            <a:off x="914400" y="146304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508760" y="146304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Applications mobiles : Trust Wallet, MetaMask, Coinbase Wallet</a:t>
            </a:r>
            <a:endParaRPr lang="en-US" sz="1300" dirty="0"/>
          </a:p>
        </p:txBody>
      </p:sp>
      <p:sp>
        <p:nvSpPr>
          <p:cNvPr id="8" name="Shape 5"/>
          <p:cNvSpPr/>
          <p:nvPr/>
        </p:nvSpPr>
        <p:spPr>
          <a:xfrm>
            <a:off x="731520" y="2103120"/>
            <a:ext cx="7680960" cy="548640"/>
          </a:xfrm>
          <a:prstGeom prst="roundRect">
            <a:avLst>
              <a:gd name="adj" fmla="val 13333"/>
            </a:avLst>
          </a:prstGeom>
          <a:solidFill>
            <a:srgbClr val="0F1419"/>
          </a:solidFill>
          <a:ln/>
        </p:spPr>
      </p:sp>
      <p:sp>
        <p:nvSpPr>
          <p:cNvPr id="9" name="Text 6"/>
          <p:cNvSpPr txBox="1"/>
          <p:nvPr/>
        </p:nvSpPr>
        <p:spPr>
          <a:xfrm>
            <a:off x="914400" y="210312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2</a:t>
            </a:r>
            <a:endParaRPr lang="en-US" sz="1500" dirty="0"/>
          </a:p>
        </p:txBody>
      </p:sp>
      <p:sp>
        <p:nvSpPr>
          <p:cNvPr id="10" name="Text 7"/>
          <p:cNvSpPr txBox="1"/>
          <p:nvPr/>
        </p:nvSpPr>
        <p:spPr>
          <a:xfrm>
            <a:off x="1508760" y="210312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Avantages : pratiques, accès rapide, gratuits</a:t>
            </a:r>
            <a:endParaRPr lang="en-US" sz="1300" dirty="0"/>
          </a:p>
        </p:txBody>
      </p:sp>
      <p:sp>
        <p:nvSpPr>
          <p:cNvPr id="11" name="Shape 8"/>
          <p:cNvSpPr/>
          <p:nvPr/>
        </p:nvSpPr>
        <p:spPr>
          <a:xfrm>
            <a:off x="731520" y="2743200"/>
            <a:ext cx="7680960" cy="548640"/>
          </a:xfrm>
          <a:prstGeom prst="roundRect">
            <a:avLst>
              <a:gd name="adj" fmla="val 13333"/>
            </a:avLst>
          </a:prstGeom>
          <a:solidFill>
            <a:srgbClr val="0F1419"/>
          </a:solidFill>
          <a:ln/>
        </p:spPr>
      </p:sp>
      <p:sp>
        <p:nvSpPr>
          <p:cNvPr id="12" name="Text 9"/>
          <p:cNvSpPr txBox="1"/>
          <p:nvPr/>
        </p:nvSpPr>
        <p:spPr>
          <a:xfrm>
            <a:off x="914400" y="274320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3</a:t>
            </a:r>
            <a:endParaRPr lang="en-US" sz="1500" dirty="0"/>
          </a:p>
        </p:txBody>
      </p:sp>
      <p:sp>
        <p:nvSpPr>
          <p:cNvPr id="13" name="Text 10"/>
          <p:cNvSpPr txBox="1"/>
          <p:nvPr/>
        </p:nvSpPr>
        <p:spPr>
          <a:xfrm>
            <a:off x="1508760" y="274320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Inconvénients : vulnérables aux piratages</a:t>
            </a:r>
            <a:endParaRPr lang="en-US" sz="1300" dirty="0"/>
          </a:p>
        </p:txBody>
      </p:sp>
      <p:sp>
        <p:nvSpPr>
          <p:cNvPr id="14" name="Shape 11"/>
          <p:cNvSpPr/>
          <p:nvPr/>
        </p:nvSpPr>
        <p:spPr>
          <a:xfrm>
            <a:off x="731520" y="3383280"/>
            <a:ext cx="7680960" cy="548640"/>
          </a:xfrm>
          <a:prstGeom prst="roundRect">
            <a:avLst>
              <a:gd name="adj" fmla="val 13333"/>
            </a:avLst>
          </a:prstGeom>
          <a:solidFill>
            <a:srgbClr val="0F1419"/>
          </a:solidFill>
          <a:ln/>
        </p:spPr>
      </p:sp>
      <p:sp>
        <p:nvSpPr>
          <p:cNvPr id="15" name="Text 12"/>
          <p:cNvSpPr txBox="1"/>
          <p:nvPr/>
        </p:nvSpPr>
        <p:spPr>
          <a:xfrm>
            <a:off x="914400" y="338328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4</a:t>
            </a:r>
            <a:endParaRPr lang="en-US" sz="1500" dirty="0"/>
          </a:p>
        </p:txBody>
      </p:sp>
      <p:sp>
        <p:nvSpPr>
          <p:cNvPr id="16" name="Text 13"/>
          <p:cNvSpPr txBox="1"/>
          <p:nvPr/>
        </p:nvSpPr>
        <p:spPr>
          <a:xfrm>
            <a:off x="1508760" y="338328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Hardware wallets : Ledger, Trezor</a:t>
            </a:r>
            <a:endParaRPr lang="en-US" sz="1300" dirty="0"/>
          </a:p>
        </p:txBody>
      </p:sp>
      <p:sp>
        <p:nvSpPr>
          <p:cNvPr id="17" name="Shape 14"/>
          <p:cNvSpPr/>
          <p:nvPr/>
        </p:nvSpPr>
        <p:spPr>
          <a:xfrm>
            <a:off x="731520" y="4023360"/>
            <a:ext cx="7680960" cy="548640"/>
          </a:xfrm>
          <a:prstGeom prst="roundRect">
            <a:avLst>
              <a:gd name="adj" fmla="val 13333"/>
            </a:avLst>
          </a:prstGeom>
          <a:solidFill>
            <a:srgbClr val="0F1419"/>
          </a:solidFill>
          <a:ln/>
        </p:spPr>
      </p:sp>
      <p:sp>
        <p:nvSpPr>
          <p:cNvPr id="18" name="Text 15"/>
          <p:cNvSpPr txBox="1"/>
          <p:nvPr/>
        </p:nvSpPr>
        <p:spPr>
          <a:xfrm>
            <a:off x="914400" y="402336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5</a:t>
            </a:r>
            <a:endParaRPr lang="en-US" sz="1500" dirty="0"/>
          </a:p>
        </p:txBody>
      </p:sp>
      <p:sp>
        <p:nvSpPr>
          <p:cNvPr id="19" name="Text 16"/>
          <p:cNvSpPr txBox="1"/>
          <p:nvPr/>
        </p:nvSpPr>
        <p:spPr>
          <a:xfrm>
            <a:off x="1508760" y="402336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Avantages : très sécurisés, vos clés restent hors ligne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1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548640"/>
            <a:ext cx="1280160" cy="1280160"/>
          </a:xfrm>
          <a:prstGeom prst="rect">
            <a:avLst/>
          </a:prstGeom>
        </p:spPr>
      </p:pic>
      <p:pic>
        <p:nvPicPr>
          <p:cNvPr id="3" name="Image 1" descr="preencoded.png">    </p:cNvPr>
          <p:cNvPicPr>
            <a:picLocks noChangeAspect="1"/>
          </p:cNvPicPr>
          <p:nvPr/>
        </p:nvPicPr>
        <p:blipFill>
          <a:blip r:embed="rId2"/>
          <a:stretch>
            <a:fillRect/>
          </a:stretch>
        </p:blipFill>
        <p:spPr>
          <a:xfrm>
            <a:off x="7772400" y="2011680"/>
            <a:ext cx="822960" cy="822960"/>
          </a:xfrm>
          <a:prstGeom prst="rect">
            <a:avLst/>
          </a:prstGeom>
        </p:spPr>
      </p:pic>
      <p:sp>
        <p:nvSpPr>
          <p:cNvPr id="4" name="Shape 0"/>
          <p:cNvSpPr/>
          <p:nvPr/>
        </p:nvSpPr>
        <p:spPr>
          <a:xfrm>
            <a:off x="6583680" y="-274320"/>
            <a:ext cx="3200400" cy="3200400"/>
          </a:xfrm>
          <a:prstGeom prst="ellipse">
            <a:avLst/>
          </a:prstGeom>
          <a:solidFill>
            <a:srgbClr val="8B5CF6">
              <a:alpha val="6000"/>
            </a:srgbClr>
          </a:solidFill>
          <a:ln/>
        </p:spPr>
      </p:sp>
      <p:sp>
        <p:nvSpPr>
          <p:cNvPr id="5" name="Shape 1"/>
          <p:cNvSpPr/>
          <p:nvPr/>
        </p:nvSpPr>
        <p:spPr>
          <a:xfrm>
            <a:off x="731520" y="914400"/>
            <a:ext cx="45720" cy="2194560"/>
          </a:xfrm>
          <a:prstGeom prst="rect">
            <a:avLst/>
          </a:prstGeom>
          <a:solidFill>
            <a:srgbClr val="8B5CF6"/>
          </a:solidFill>
          <a:ln/>
        </p:spPr>
      </p:sp>
      <p:sp>
        <p:nvSpPr>
          <p:cNvPr id="6" name="Text 2"/>
          <p:cNvSpPr txBox="1"/>
          <p:nvPr/>
        </p:nvSpPr>
        <p:spPr>
          <a:xfrm>
            <a:off x="960120" y="914400"/>
            <a:ext cx="2743200" cy="365760"/>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Leçon 2 / 4</a:t>
            </a:r>
            <a:endParaRPr lang="en-US" sz="1200" dirty="0"/>
          </a:p>
        </p:txBody>
      </p:sp>
      <p:sp>
        <p:nvSpPr>
          <p:cNvPr id="7" name="Text 3"/>
          <p:cNvSpPr txBox="1"/>
          <p:nvPr/>
        </p:nvSpPr>
        <p:spPr>
          <a:xfrm>
            <a:off x="960120" y="137160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Éviter les arnaques crypto</a:t>
            </a:r>
            <a:endParaRPr lang="en-US" sz="2800" dirty="0"/>
          </a:p>
        </p:txBody>
      </p:sp>
      <p:sp>
        <p:nvSpPr>
          <p:cNvPr id="8" name="Text 4"/>
          <p:cNvSpPr txBox="1"/>
          <p:nvPr/>
        </p:nvSpPr>
        <p:spPr>
          <a:xfrm>
            <a:off x="960120" y="411480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Sécurité et portefeuilles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8B5CF6">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monde de la crypto attire malheureusement beaucoup d'escrocs. Voici les arnaques courantes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FAUX GIVEAWAYS — "Envoyez 1 BTC, recevez 2 BTC" → TOUJOURS une arnaque.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PHISHING — Faux sites qui imitent des exchanges. Vérifiez TOUJOURS l'URL.</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PUMP AND DUMP — Un groupe fait monter artificiellement le prix puis vend tout.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RUG PULLS — Un projet promet des rendements incroyables puis les créateurs disparaissent.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ARNAQUES PAR MESSAGE — "Votre compte est bloqué, envoyez vos identifiants" → Faux.</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2 — Leçon 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8B5CF6"/>
                </a:solidFill>
                <a:latin typeface="Calibri" pitchFamily="34" charset="0"/>
                <a:ea typeface="Calibri" pitchFamily="34" charset="-122"/>
                <a:cs typeface="Calibri" pitchFamily="34" charset="-120"/>
              </a:rPr>
              <a:t>RÈGLES DE SÉCURITÉ :</a:t>
            </a:r>
            <a:endParaRPr lang="en-US" sz="2000" dirty="0"/>
          </a:p>
        </p:txBody>
      </p:sp>
      <p:sp>
        <p:nvSpPr>
          <p:cNvPr id="3" name="Text 1"/>
          <p:cNvSpPr txBox="1"/>
          <p:nvPr/>
        </p:nvSpPr>
        <p:spPr>
          <a:xfrm>
            <a:off x="731520" y="100584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Activez toujours l'authentification à 2 facteurs (2FA)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 partagez jamais votre seed phrase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Utilisez des mots de passe uniques et forts</a:t>
            </a:r>
            <a:endParaRPr lang="en-US" sz="1300" dirty="0"/>
          </a:p>
        </p:txBody>
      </p:sp>
      <p:sp>
        <p:nvSpPr>
          <p:cNvPr id="4" name="Shape 2"/>
          <p:cNvSpPr/>
          <p:nvPr/>
        </p:nvSpPr>
        <p:spPr>
          <a:xfrm>
            <a:off x="5120640" y="1005840"/>
            <a:ext cx="3474720" cy="640080"/>
          </a:xfrm>
          <a:prstGeom prst="roundRect">
            <a:avLst>
              <a:gd name="adj" fmla="val 14286"/>
            </a:avLst>
          </a:prstGeom>
          <a:solidFill>
            <a:srgbClr val="1A2332"/>
          </a:solidFill>
          <a:ln/>
        </p:spPr>
      </p:sp>
      <p:pic>
        <p:nvPicPr>
          <p:cNvPr id="5" name="Image 0" descr="preencoded.png">    </p:cNvPr>
          <p:cNvPicPr>
            <a:picLocks noChangeAspect="1"/>
          </p:cNvPicPr>
          <p:nvPr/>
        </p:nvPicPr>
        <p:blipFill>
          <a:blip r:embed="rId1"/>
          <a:stretch>
            <a:fillRect/>
          </a:stretch>
        </p:blipFill>
        <p:spPr>
          <a:xfrm>
            <a:off x="5257800" y="1106424"/>
            <a:ext cx="438912" cy="438912"/>
          </a:xfrm>
          <a:prstGeom prst="rect">
            <a:avLst/>
          </a:prstGeom>
        </p:spPr>
      </p:pic>
      <p:sp>
        <p:nvSpPr>
          <p:cNvPr id="6" name="Text 3"/>
          <p:cNvSpPr txBox="1"/>
          <p:nvPr/>
        </p:nvSpPr>
        <p:spPr>
          <a:xfrm>
            <a:off x="5806440" y="100584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Méfiez-vous des rendements "garantis"</a:t>
            </a:r>
            <a:endParaRPr lang="en-US" sz="1200" dirty="0"/>
          </a:p>
        </p:txBody>
      </p:sp>
      <p:sp>
        <p:nvSpPr>
          <p:cNvPr id="7" name="Shape 4"/>
          <p:cNvSpPr/>
          <p:nvPr/>
        </p:nvSpPr>
        <p:spPr>
          <a:xfrm>
            <a:off x="5120640" y="1737360"/>
            <a:ext cx="3474720" cy="640080"/>
          </a:xfrm>
          <a:prstGeom prst="roundRect">
            <a:avLst>
              <a:gd name="adj" fmla="val 14286"/>
            </a:avLst>
          </a:prstGeom>
          <a:solidFill>
            <a:srgbClr val="1A2332"/>
          </a:solidFill>
          <a:ln/>
        </p:spPr>
      </p:sp>
      <p:pic>
        <p:nvPicPr>
          <p:cNvPr id="8" name="Image 1" descr="preencoded.png">    </p:cNvPr>
          <p:cNvPicPr>
            <a:picLocks noChangeAspect="1"/>
          </p:cNvPicPr>
          <p:nvPr/>
        </p:nvPicPr>
        <p:blipFill>
          <a:blip r:embed="rId2"/>
          <a:stretch>
            <a:fillRect/>
          </a:stretch>
        </p:blipFill>
        <p:spPr>
          <a:xfrm>
            <a:off x="5257800" y="1837944"/>
            <a:ext cx="438912" cy="438912"/>
          </a:xfrm>
          <a:prstGeom prst="rect">
            <a:avLst/>
          </a:prstGeom>
        </p:spPr>
      </p:pic>
      <p:sp>
        <p:nvSpPr>
          <p:cNvPr id="9" name="Text 5"/>
          <p:cNvSpPr txBox="1"/>
          <p:nvPr/>
        </p:nvSpPr>
        <p:spPr>
          <a:xfrm>
            <a:off x="5806440" y="173736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Faites vos propres recherches (DYOR)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3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20040"/>
            <a:ext cx="457200" cy="457200"/>
          </a:xfrm>
          <a:prstGeom prst="rect">
            <a:avLst/>
          </a:prstGeom>
        </p:spPr>
      </p:pic>
      <p:sp>
        <p:nvSpPr>
          <p:cNvPr id="3" name="Text 0"/>
          <p:cNvSpPr txBox="1"/>
          <p:nvPr/>
        </p:nvSpPr>
        <p:spPr>
          <a:xfrm>
            <a:off x="1280160" y="365760"/>
            <a:ext cx="2743200" cy="32004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4" name="Text 1"/>
          <p:cNvSpPr txBox="1"/>
          <p:nvPr/>
        </p:nvSpPr>
        <p:spPr>
          <a:xfrm>
            <a:off x="731520" y="822960"/>
            <a:ext cx="768096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Éviter les arnaques crypto</a:t>
            </a:r>
            <a:endParaRPr lang="en-US" sz="2000" dirty="0"/>
          </a:p>
        </p:txBody>
      </p:sp>
      <p:sp>
        <p:nvSpPr>
          <p:cNvPr id="5" name="Shape 2"/>
          <p:cNvSpPr/>
          <p:nvPr/>
        </p:nvSpPr>
        <p:spPr>
          <a:xfrm>
            <a:off x="731520" y="1463040"/>
            <a:ext cx="7680960" cy="548640"/>
          </a:xfrm>
          <a:prstGeom prst="roundRect">
            <a:avLst>
              <a:gd name="adj" fmla="val 13333"/>
            </a:avLst>
          </a:prstGeom>
          <a:solidFill>
            <a:srgbClr val="0F1419"/>
          </a:solidFill>
          <a:ln/>
        </p:spPr>
      </p:sp>
      <p:sp>
        <p:nvSpPr>
          <p:cNvPr id="6" name="Text 3"/>
          <p:cNvSpPr txBox="1"/>
          <p:nvPr/>
        </p:nvSpPr>
        <p:spPr>
          <a:xfrm>
            <a:off x="914400" y="146304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508760" y="146304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FAUX GIVEAWAYS — "Envoyez 1 BTC, recevez 2 BTC" → TOUJOURS une arnaque.</a:t>
            </a:r>
            <a:endParaRPr lang="en-US" sz="1300" dirty="0"/>
          </a:p>
        </p:txBody>
      </p:sp>
      <p:sp>
        <p:nvSpPr>
          <p:cNvPr id="8" name="Shape 5"/>
          <p:cNvSpPr/>
          <p:nvPr/>
        </p:nvSpPr>
        <p:spPr>
          <a:xfrm>
            <a:off x="731520" y="2103120"/>
            <a:ext cx="7680960" cy="548640"/>
          </a:xfrm>
          <a:prstGeom prst="roundRect">
            <a:avLst>
              <a:gd name="adj" fmla="val 13333"/>
            </a:avLst>
          </a:prstGeom>
          <a:solidFill>
            <a:srgbClr val="0F1419"/>
          </a:solidFill>
          <a:ln/>
        </p:spPr>
      </p:sp>
      <p:sp>
        <p:nvSpPr>
          <p:cNvPr id="9" name="Text 6"/>
          <p:cNvSpPr txBox="1"/>
          <p:nvPr/>
        </p:nvSpPr>
        <p:spPr>
          <a:xfrm>
            <a:off x="914400" y="210312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2</a:t>
            </a:r>
            <a:endParaRPr lang="en-US" sz="1500" dirty="0"/>
          </a:p>
        </p:txBody>
      </p:sp>
      <p:sp>
        <p:nvSpPr>
          <p:cNvPr id="10" name="Text 7"/>
          <p:cNvSpPr txBox="1"/>
          <p:nvPr/>
        </p:nvSpPr>
        <p:spPr>
          <a:xfrm>
            <a:off x="1508760" y="210312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PHISHING — Faux sites qui imitent des exchanges. Vérifiez TOUJOURS l'URL.</a:t>
            </a:r>
            <a:endParaRPr lang="en-US" sz="1300" dirty="0"/>
          </a:p>
        </p:txBody>
      </p:sp>
      <p:sp>
        <p:nvSpPr>
          <p:cNvPr id="11" name="Shape 8"/>
          <p:cNvSpPr/>
          <p:nvPr/>
        </p:nvSpPr>
        <p:spPr>
          <a:xfrm>
            <a:off x="731520" y="2743200"/>
            <a:ext cx="7680960" cy="548640"/>
          </a:xfrm>
          <a:prstGeom prst="roundRect">
            <a:avLst>
              <a:gd name="adj" fmla="val 13333"/>
            </a:avLst>
          </a:prstGeom>
          <a:solidFill>
            <a:srgbClr val="0F1419"/>
          </a:solidFill>
          <a:ln/>
        </p:spPr>
      </p:sp>
      <p:sp>
        <p:nvSpPr>
          <p:cNvPr id="12" name="Text 9"/>
          <p:cNvSpPr txBox="1"/>
          <p:nvPr/>
        </p:nvSpPr>
        <p:spPr>
          <a:xfrm>
            <a:off x="914400" y="274320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3</a:t>
            </a:r>
            <a:endParaRPr lang="en-US" sz="1500" dirty="0"/>
          </a:p>
        </p:txBody>
      </p:sp>
      <p:sp>
        <p:nvSpPr>
          <p:cNvPr id="13" name="Text 10"/>
          <p:cNvSpPr txBox="1"/>
          <p:nvPr/>
        </p:nvSpPr>
        <p:spPr>
          <a:xfrm>
            <a:off x="1508760" y="274320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PUMP AND DUMP — Un groupe fait monter artificiellement le prix puis vend tout.</a:t>
            </a:r>
            <a:endParaRPr lang="en-US" sz="1300" dirty="0"/>
          </a:p>
        </p:txBody>
      </p:sp>
      <p:sp>
        <p:nvSpPr>
          <p:cNvPr id="14" name="Shape 11"/>
          <p:cNvSpPr/>
          <p:nvPr/>
        </p:nvSpPr>
        <p:spPr>
          <a:xfrm>
            <a:off x="731520" y="3383280"/>
            <a:ext cx="7680960" cy="548640"/>
          </a:xfrm>
          <a:prstGeom prst="roundRect">
            <a:avLst>
              <a:gd name="adj" fmla="val 13333"/>
            </a:avLst>
          </a:prstGeom>
          <a:solidFill>
            <a:srgbClr val="0F1419"/>
          </a:solidFill>
          <a:ln/>
        </p:spPr>
      </p:sp>
      <p:sp>
        <p:nvSpPr>
          <p:cNvPr id="15" name="Text 12"/>
          <p:cNvSpPr txBox="1"/>
          <p:nvPr/>
        </p:nvSpPr>
        <p:spPr>
          <a:xfrm>
            <a:off x="914400" y="338328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4</a:t>
            </a:r>
            <a:endParaRPr lang="en-US" sz="1500" dirty="0"/>
          </a:p>
        </p:txBody>
      </p:sp>
      <p:sp>
        <p:nvSpPr>
          <p:cNvPr id="16" name="Text 13"/>
          <p:cNvSpPr txBox="1"/>
          <p:nvPr/>
        </p:nvSpPr>
        <p:spPr>
          <a:xfrm>
            <a:off x="1508760" y="338328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RUG PULLS — Un projet promet des rendements incroyables puis les créateurs disparaissent.</a:t>
            </a:r>
            <a:endParaRPr lang="en-US" sz="1300" dirty="0"/>
          </a:p>
        </p:txBody>
      </p:sp>
      <p:sp>
        <p:nvSpPr>
          <p:cNvPr id="17" name="Shape 14"/>
          <p:cNvSpPr/>
          <p:nvPr/>
        </p:nvSpPr>
        <p:spPr>
          <a:xfrm>
            <a:off x="731520" y="4023360"/>
            <a:ext cx="7680960" cy="548640"/>
          </a:xfrm>
          <a:prstGeom prst="roundRect">
            <a:avLst>
              <a:gd name="adj" fmla="val 13333"/>
            </a:avLst>
          </a:prstGeom>
          <a:solidFill>
            <a:srgbClr val="0F1419"/>
          </a:solidFill>
          <a:ln/>
        </p:spPr>
      </p:sp>
      <p:sp>
        <p:nvSpPr>
          <p:cNvPr id="18" name="Text 15"/>
          <p:cNvSpPr txBox="1"/>
          <p:nvPr/>
        </p:nvSpPr>
        <p:spPr>
          <a:xfrm>
            <a:off x="914400" y="402336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5</a:t>
            </a:r>
            <a:endParaRPr lang="en-US" sz="1500" dirty="0"/>
          </a:p>
        </p:txBody>
      </p:sp>
      <p:sp>
        <p:nvSpPr>
          <p:cNvPr id="19" name="Text 16"/>
          <p:cNvSpPr txBox="1"/>
          <p:nvPr/>
        </p:nvSpPr>
        <p:spPr>
          <a:xfrm>
            <a:off x="1508760" y="402336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ARNAQUES PAR MESSAGE — "Votre compte est bloqué, envoyez vos identifiants" → Faux.</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1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548640"/>
            <a:ext cx="1280160" cy="1280160"/>
          </a:xfrm>
          <a:prstGeom prst="rect">
            <a:avLst/>
          </a:prstGeom>
        </p:spPr>
      </p:pic>
      <p:pic>
        <p:nvPicPr>
          <p:cNvPr id="3" name="Image 1" descr="preencoded.png">    </p:cNvPr>
          <p:cNvPicPr>
            <a:picLocks noChangeAspect="1"/>
          </p:cNvPicPr>
          <p:nvPr/>
        </p:nvPicPr>
        <p:blipFill>
          <a:blip r:embed="rId2"/>
          <a:stretch>
            <a:fillRect/>
          </a:stretch>
        </p:blipFill>
        <p:spPr>
          <a:xfrm>
            <a:off x="7772400" y="2011680"/>
            <a:ext cx="822960" cy="822960"/>
          </a:xfrm>
          <a:prstGeom prst="rect">
            <a:avLst/>
          </a:prstGeom>
        </p:spPr>
      </p:pic>
      <p:sp>
        <p:nvSpPr>
          <p:cNvPr id="4" name="Shape 0"/>
          <p:cNvSpPr/>
          <p:nvPr/>
        </p:nvSpPr>
        <p:spPr>
          <a:xfrm>
            <a:off x="6583680" y="-274320"/>
            <a:ext cx="3200400" cy="3200400"/>
          </a:xfrm>
          <a:prstGeom prst="ellipse">
            <a:avLst/>
          </a:prstGeom>
          <a:solidFill>
            <a:srgbClr val="8B5CF6">
              <a:alpha val="6000"/>
            </a:srgbClr>
          </a:solidFill>
          <a:ln/>
        </p:spPr>
      </p:sp>
      <p:sp>
        <p:nvSpPr>
          <p:cNvPr id="5" name="Shape 1"/>
          <p:cNvSpPr/>
          <p:nvPr/>
        </p:nvSpPr>
        <p:spPr>
          <a:xfrm>
            <a:off x="731520" y="914400"/>
            <a:ext cx="45720" cy="2194560"/>
          </a:xfrm>
          <a:prstGeom prst="rect">
            <a:avLst/>
          </a:prstGeom>
          <a:solidFill>
            <a:srgbClr val="8B5CF6"/>
          </a:solidFill>
          <a:ln/>
        </p:spPr>
      </p:sp>
      <p:sp>
        <p:nvSpPr>
          <p:cNvPr id="6" name="Text 2"/>
          <p:cNvSpPr txBox="1"/>
          <p:nvPr/>
        </p:nvSpPr>
        <p:spPr>
          <a:xfrm>
            <a:off x="960120" y="914400"/>
            <a:ext cx="2743200" cy="365760"/>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Leçon 3 / 4</a:t>
            </a:r>
            <a:endParaRPr lang="en-US" sz="1200" dirty="0"/>
          </a:p>
        </p:txBody>
      </p:sp>
      <p:sp>
        <p:nvSpPr>
          <p:cNvPr id="7" name="Text 3"/>
          <p:cNvSpPr txBox="1"/>
          <p:nvPr/>
        </p:nvSpPr>
        <p:spPr>
          <a:xfrm>
            <a:off x="960120" y="137160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Pourquoi apprendre la crypto en 2026 ?</a:t>
            </a:r>
            <a:endParaRPr lang="en-US" sz="2800" dirty="0"/>
          </a:p>
        </p:txBody>
      </p:sp>
      <p:sp>
        <p:nvSpPr>
          <p:cNvPr id="8" name="Text 4"/>
          <p:cNvSpPr txBox="1"/>
          <p:nvPr/>
        </p:nvSpPr>
        <p:spPr>
          <a:xfrm>
            <a:off x="960120" y="411480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Sécurité et portefeuilles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8B5CF6">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 crypto n'est plus une curiosité de geek. En 2026, plus de 500 millions de personnes détiennent au moins un actif numérique dans le monde, et l'Afrique de l'Ouest est l'une de...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Pourquoi ? Parce que la crypto résout des problèmes concrets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Envoyer de l'argent à l'étranger en quelques minutes, pour quelques centimes de frais.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Se protéger contre l'inflation en détenant un actif stable (USDT est adossé au dollar).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Recevoir des paiements internationaux sans passer par une banque.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Épargner sur des protocoles qui rapportent 5 à 10% par an.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 cours est votre point de départ. Vous n'avez besoin d'AUCUN prérequis technique. Nous allons construire votre compréhension brique par brique, avec des exemples concrets tiré...</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2 — Leçon 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45720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À la fin du parcours, vous saurez :</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Ce qu'est vraiment une blockchain, en langage simple.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La différence entre Bitcoin, Ethereum et les stablecoins.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Comment créer et sécuriser votre premier portefeuille.</a:t>
            </a:r>
            <a:endParaRPr lang="en-US" sz="1300" dirty="0"/>
          </a:p>
        </p:txBody>
      </p:sp>
      <p:sp>
        <p:nvSpPr>
          <p:cNvPr id="3" name="Shape 1"/>
          <p:cNvSpPr/>
          <p:nvPr/>
        </p:nvSpPr>
        <p:spPr>
          <a:xfrm>
            <a:off x="5120640" y="457200"/>
            <a:ext cx="3474720" cy="640080"/>
          </a:xfrm>
          <a:prstGeom prst="roundRect">
            <a:avLst>
              <a:gd name="adj" fmla="val 14286"/>
            </a:avLst>
          </a:prstGeom>
          <a:solidFill>
            <a:srgbClr val="1A2332"/>
          </a:solidFill>
          <a:ln/>
        </p:spPr>
      </p:sp>
      <p:pic>
        <p:nvPicPr>
          <p:cNvPr id="4" name="Image 0" descr="preencoded.png">    </p:cNvPr>
          <p:cNvPicPr>
            <a:picLocks noChangeAspect="1"/>
          </p:cNvPicPr>
          <p:nvPr/>
        </p:nvPicPr>
        <p:blipFill>
          <a:blip r:embed="rId1"/>
          <a:stretch>
            <a:fillRect/>
          </a:stretch>
        </p:blipFill>
        <p:spPr>
          <a:xfrm>
            <a:off x="5257800" y="557784"/>
            <a:ext cx="438912" cy="438912"/>
          </a:xfrm>
          <a:prstGeom prst="rect">
            <a:avLst/>
          </a:prstGeom>
        </p:spPr>
      </p:pic>
      <p:sp>
        <p:nvSpPr>
          <p:cNvPr id="5" name="Text 2"/>
          <p:cNvSpPr txBox="1"/>
          <p:nvPr/>
        </p:nvSpPr>
        <p:spPr>
          <a:xfrm>
            <a:off x="5806440" y="45720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Comment acheter, envoyer et recevoir des USDT en toute sécurité.</a:t>
            </a:r>
            <a:endParaRPr lang="en-US" sz="1200" dirty="0"/>
          </a:p>
        </p:txBody>
      </p:sp>
      <p:sp>
        <p:nvSpPr>
          <p:cNvPr id="6" name="Shape 3"/>
          <p:cNvSpPr/>
          <p:nvPr/>
        </p:nvSpPr>
        <p:spPr>
          <a:xfrm>
            <a:off x="5120640" y="1188720"/>
            <a:ext cx="3474720" cy="640080"/>
          </a:xfrm>
          <a:prstGeom prst="roundRect">
            <a:avLst>
              <a:gd name="adj" fmla="val 14286"/>
            </a:avLst>
          </a:prstGeom>
          <a:solidFill>
            <a:srgbClr val="1A2332"/>
          </a:solidFill>
          <a:ln/>
        </p:spPr>
      </p:sp>
      <p:pic>
        <p:nvPicPr>
          <p:cNvPr id="7" name="Image 1" descr="preencoded.png">    </p:cNvPr>
          <p:cNvPicPr>
            <a:picLocks noChangeAspect="1"/>
          </p:cNvPicPr>
          <p:nvPr/>
        </p:nvPicPr>
        <p:blipFill>
          <a:blip r:embed="rId2"/>
          <a:stretch>
            <a:fillRect/>
          </a:stretch>
        </p:blipFill>
        <p:spPr>
          <a:xfrm>
            <a:off x="5257800" y="1289304"/>
            <a:ext cx="438912" cy="438912"/>
          </a:xfrm>
          <a:prstGeom prst="rect">
            <a:avLst/>
          </a:prstGeom>
        </p:spPr>
      </p:pic>
      <p:sp>
        <p:nvSpPr>
          <p:cNvPr id="8" name="Text 4"/>
          <p:cNvSpPr txBox="1"/>
          <p:nvPr/>
        </p:nvSpPr>
        <p:spPr>
          <a:xfrm>
            <a:off x="5806440" y="118872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Comment repérer les arnaques et protéger votre argent.</a:t>
            </a:r>
            <a:endParaRPr lang="en-US" sz="1200" dirty="0"/>
          </a:p>
        </p:txBody>
      </p:sp>
      <p:sp>
        <p:nvSpPr>
          <p:cNvPr id="9" name="Shape 5"/>
          <p:cNvSpPr/>
          <p:nvPr/>
        </p:nvSpPr>
        <p:spPr>
          <a:xfrm>
            <a:off x="5120640" y="1920240"/>
            <a:ext cx="3474720" cy="640080"/>
          </a:xfrm>
          <a:prstGeom prst="roundRect">
            <a:avLst>
              <a:gd name="adj" fmla="val 14286"/>
            </a:avLst>
          </a:prstGeom>
          <a:solidFill>
            <a:srgbClr val="1A2332"/>
          </a:solidFill>
          <a:ln/>
        </p:spPr>
      </p:sp>
      <p:pic>
        <p:nvPicPr>
          <p:cNvPr id="10" name="Image 2" descr="preencoded.png">    </p:cNvPr>
          <p:cNvPicPr>
            <a:picLocks noChangeAspect="1"/>
          </p:cNvPicPr>
          <p:nvPr/>
        </p:nvPicPr>
        <p:blipFill>
          <a:blip r:embed="rId3"/>
          <a:stretch>
            <a:fillRect/>
          </a:stretch>
        </p:blipFill>
        <p:spPr>
          <a:xfrm>
            <a:off x="5257800" y="2020824"/>
            <a:ext cx="438912" cy="438912"/>
          </a:xfrm>
          <a:prstGeom prst="rect">
            <a:avLst/>
          </a:prstGeom>
        </p:spPr>
      </p:pic>
      <p:sp>
        <p:nvSpPr>
          <p:cNvPr id="11" name="Text 6"/>
          <p:cNvSpPr txBox="1"/>
          <p:nvPr/>
        </p:nvSpPr>
        <p:spPr>
          <a:xfrm>
            <a:off x="5806440" y="192024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Prêt ? On y va.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3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20040"/>
            <a:ext cx="457200" cy="457200"/>
          </a:xfrm>
          <a:prstGeom prst="rect">
            <a:avLst/>
          </a:prstGeom>
        </p:spPr>
      </p:pic>
      <p:sp>
        <p:nvSpPr>
          <p:cNvPr id="3" name="Text 0"/>
          <p:cNvSpPr txBox="1"/>
          <p:nvPr/>
        </p:nvSpPr>
        <p:spPr>
          <a:xfrm>
            <a:off x="1280160" y="365760"/>
            <a:ext cx="2743200" cy="32004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4" name="Text 1"/>
          <p:cNvSpPr txBox="1"/>
          <p:nvPr/>
        </p:nvSpPr>
        <p:spPr>
          <a:xfrm>
            <a:off x="731520" y="822960"/>
            <a:ext cx="768096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Pourquoi apprendre la crypto en 2026 ?</a:t>
            </a:r>
            <a:endParaRPr lang="en-US" sz="2000" dirty="0"/>
          </a:p>
        </p:txBody>
      </p:sp>
      <p:sp>
        <p:nvSpPr>
          <p:cNvPr id="5" name="Shape 2"/>
          <p:cNvSpPr/>
          <p:nvPr/>
        </p:nvSpPr>
        <p:spPr>
          <a:xfrm>
            <a:off x="731520" y="1463040"/>
            <a:ext cx="7680960" cy="548640"/>
          </a:xfrm>
          <a:prstGeom prst="roundRect">
            <a:avLst>
              <a:gd name="adj" fmla="val 13333"/>
            </a:avLst>
          </a:prstGeom>
          <a:solidFill>
            <a:srgbClr val="0F1419"/>
          </a:solidFill>
          <a:ln/>
        </p:spPr>
      </p:sp>
      <p:sp>
        <p:nvSpPr>
          <p:cNvPr id="6" name="Text 3"/>
          <p:cNvSpPr txBox="1"/>
          <p:nvPr/>
        </p:nvSpPr>
        <p:spPr>
          <a:xfrm>
            <a:off x="914400" y="146304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508760" y="146304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Envoyer de l'argent à l'étranger en quelques minutes, pour quelques centimes de frais.</a:t>
            </a:r>
            <a:endParaRPr lang="en-US" sz="1300" dirty="0"/>
          </a:p>
        </p:txBody>
      </p:sp>
      <p:sp>
        <p:nvSpPr>
          <p:cNvPr id="8" name="Shape 5"/>
          <p:cNvSpPr/>
          <p:nvPr/>
        </p:nvSpPr>
        <p:spPr>
          <a:xfrm>
            <a:off x="731520" y="2103120"/>
            <a:ext cx="7680960" cy="548640"/>
          </a:xfrm>
          <a:prstGeom prst="roundRect">
            <a:avLst>
              <a:gd name="adj" fmla="val 13333"/>
            </a:avLst>
          </a:prstGeom>
          <a:solidFill>
            <a:srgbClr val="0F1419"/>
          </a:solidFill>
          <a:ln/>
        </p:spPr>
      </p:sp>
      <p:sp>
        <p:nvSpPr>
          <p:cNvPr id="9" name="Text 6"/>
          <p:cNvSpPr txBox="1"/>
          <p:nvPr/>
        </p:nvSpPr>
        <p:spPr>
          <a:xfrm>
            <a:off x="914400" y="210312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2</a:t>
            </a:r>
            <a:endParaRPr lang="en-US" sz="1500" dirty="0"/>
          </a:p>
        </p:txBody>
      </p:sp>
      <p:sp>
        <p:nvSpPr>
          <p:cNvPr id="10" name="Text 7"/>
          <p:cNvSpPr txBox="1"/>
          <p:nvPr/>
        </p:nvSpPr>
        <p:spPr>
          <a:xfrm>
            <a:off x="1508760" y="210312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 protéger contre l'inflation en détenant un actif stable (USDT est adossé au dollar).</a:t>
            </a:r>
            <a:endParaRPr lang="en-US" sz="1300" dirty="0"/>
          </a:p>
        </p:txBody>
      </p:sp>
      <p:sp>
        <p:nvSpPr>
          <p:cNvPr id="11" name="Shape 8"/>
          <p:cNvSpPr/>
          <p:nvPr/>
        </p:nvSpPr>
        <p:spPr>
          <a:xfrm>
            <a:off x="731520" y="2743200"/>
            <a:ext cx="7680960" cy="548640"/>
          </a:xfrm>
          <a:prstGeom prst="roundRect">
            <a:avLst>
              <a:gd name="adj" fmla="val 13333"/>
            </a:avLst>
          </a:prstGeom>
          <a:solidFill>
            <a:srgbClr val="0F1419"/>
          </a:solidFill>
          <a:ln/>
        </p:spPr>
      </p:sp>
      <p:sp>
        <p:nvSpPr>
          <p:cNvPr id="12" name="Text 9"/>
          <p:cNvSpPr txBox="1"/>
          <p:nvPr/>
        </p:nvSpPr>
        <p:spPr>
          <a:xfrm>
            <a:off x="914400" y="274320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3</a:t>
            </a:r>
            <a:endParaRPr lang="en-US" sz="1500" dirty="0"/>
          </a:p>
        </p:txBody>
      </p:sp>
      <p:sp>
        <p:nvSpPr>
          <p:cNvPr id="13" name="Text 10"/>
          <p:cNvSpPr txBox="1"/>
          <p:nvPr/>
        </p:nvSpPr>
        <p:spPr>
          <a:xfrm>
            <a:off x="1508760" y="274320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Recevoir des paiements internationaux sans passer par une banque.</a:t>
            </a:r>
            <a:endParaRPr lang="en-US" sz="1300" dirty="0"/>
          </a:p>
        </p:txBody>
      </p:sp>
      <p:sp>
        <p:nvSpPr>
          <p:cNvPr id="14" name="Shape 11"/>
          <p:cNvSpPr/>
          <p:nvPr/>
        </p:nvSpPr>
        <p:spPr>
          <a:xfrm>
            <a:off x="731520" y="3383280"/>
            <a:ext cx="7680960" cy="548640"/>
          </a:xfrm>
          <a:prstGeom prst="roundRect">
            <a:avLst>
              <a:gd name="adj" fmla="val 13333"/>
            </a:avLst>
          </a:prstGeom>
          <a:solidFill>
            <a:srgbClr val="0F1419"/>
          </a:solidFill>
          <a:ln/>
        </p:spPr>
      </p:sp>
      <p:sp>
        <p:nvSpPr>
          <p:cNvPr id="15" name="Text 12"/>
          <p:cNvSpPr txBox="1"/>
          <p:nvPr/>
        </p:nvSpPr>
        <p:spPr>
          <a:xfrm>
            <a:off x="914400" y="338328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4</a:t>
            </a:r>
            <a:endParaRPr lang="en-US" sz="1500" dirty="0"/>
          </a:p>
        </p:txBody>
      </p:sp>
      <p:sp>
        <p:nvSpPr>
          <p:cNvPr id="16" name="Text 13"/>
          <p:cNvSpPr txBox="1"/>
          <p:nvPr/>
        </p:nvSpPr>
        <p:spPr>
          <a:xfrm>
            <a:off x="1508760" y="338328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Épargner sur des protocoles qui rapportent 5 à 10% par an.</a:t>
            </a:r>
            <a:endParaRPr lang="en-US" sz="1300" dirty="0"/>
          </a:p>
        </p:txBody>
      </p:sp>
      <p:sp>
        <p:nvSpPr>
          <p:cNvPr id="17" name="Shape 14"/>
          <p:cNvSpPr/>
          <p:nvPr/>
        </p:nvSpPr>
        <p:spPr>
          <a:xfrm>
            <a:off x="731520" y="4023360"/>
            <a:ext cx="7680960" cy="548640"/>
          </a:xfrm>
          <a:prstGeom prst="roundRect">
            <a:avLst>
              <a:gd name="adj" fmla="val 13333"/>
            </a:avLst>
          </a:prstGeom>
          <a:solidFill>
            <a:srgbClr val="0F1419"/>
          </a:solidFill>
          <a:ln/>
        </p:spPr>
      </p:sp>
      <p:sp>
        <p:nvSpPr>
          <p:cNvPr id="18" name="Text 15"/>
          <p:cNvSpPr txBox="1"/>
          <p:nvPr/>
        </p:nvSpPr>
        <p:spPr>
          <a:xfrm>
            <a:off x="914400" y="4023360"/>
            <a:ext cx="411480" cy="548640"/>
          </a:xfrm>
          <a:prstGeom prst="roundRect">
            <a:avLst>
              <a:gd name="adj" fmla="val 48889"/>
            </a:avLst>
          </a:prstGeom>
          <a:solidFill>
            <a:srgbClr val="8B5CF6"/>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5</a:t>
            </a:r>
            <a:endParaRPr lang="en-US" sz="1500" dirty="0"/>
          </a:p>
        </p:txBody>
      </p:sp>
      <p:sp>
        <p:nvSpPr>
          <p:cNvPr id="19" name="Text 16"/>
          <p:cNvSpPr txBox="1"/>
          <p:nvPr/>
        </p:nvSpPr>
        <p:spPr>
          <a:xfrm>
            <a:off x="1508760" y="402336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Ce qu'est vraiment une blockchain, en langage simple.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1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548640"/>
            <a:ext cx="1280160" cy="1280160"/>
          </a:xfrm>
          <a:prstGeom prst="rect">
            <a:avLst/>
          </a:prstGeom>
        </p:spPr>
      </p:pic>
      <p:pic>
        <p:nvPicPr>
          <p:cNvPr id="3" name="Image 1" descr="preencoded.png">    </p:cNvPr>
          <p:cNvPicPr>
            <a:picLocks noChangeAspect="1"/>
          </p:cNvPicPr>
          <p:nvPr/>
        </p:nvPicPr>
        <p:blipFill>
          <a:blip r:embed="rId2"/>
          <a:stretch>
            <a:fillRect/>
          </a:stretch>
        </p:blipFill>
        <p:spPr>
          <a:xfrm>
            <a:off x="7772400" y="2011680"/>
            <a:ext cx="822960" cy="822960"/>
          </a:xfrm>
          <a:prstGeom prst="rect">
            <a:avLst/>
          </a:prstGeom>
        </p:spPr>
      </p:pic>
      <p:sp>
        <p:nvSpPr>
          <p:cNvPr id="4" name="Shape 0"/>
          <p:cNvSpPr/>
          <p:nvPr/>
        </p:nvSpPr>
        <p:spPr>
          <a:xfrm>
            <a:off x="6583680" y="-274320"/>
            <a:ext cx="3200400" cy="3200400"/>
          </a:xfrm>
          <a:prstGeom prst="ellipse">
            <a:avLst/>
          </a:prstGeom>
          <a:solidFill>
            <a:srgbClr val="8B5CF6">
              <a:alpha val="6000"/>
            </a:srgbClr>
          </a:solidFill>
          <a:ln/>
        </p:spPr>
      </p:sp>
      <p:sp>
        <p:nvSpPr>
          <p:cNvPr id="5" name="Shape 1"/>
          <p:cNvSpPr/>
          <p:nvPr/>
        </p:nvSpPr>
        <p:spPr>
          <a:xfrm>
            <a:off x="731520" y="914400"/>
            <a:ext cx="45720" cy="2194560"/>
          </a:xfrm>
          <a:prstGeom prst="rect">
            <a:avLst/>
          </a:prstGeom>
          <a:solidFill>
            <a:srgbClr val="8B5CF6"/>
          </a:solidFill>
          <a:ln/>
        </p:spPr>
      </p:sp>
      <p:sp>
        <p:nvSpPr>
          <p:cNvPr id="6" name="Text 2"/>
          <p:cNvSpPr txBox="1"/>
          <p:nvPr/>
        </p:nvSpPr>
        <p:spPr>
          <a:xfrm>
            <a:off x="960120" y="914400"/>
            <a:ext cx="2743200" cy="365760"/>
          </a:xfrm>
          <a:prstGeom prst="rect">
            <a:avLst/>
          </a:prstGeom>
          <a:noFill/>
          <a:ln/>
        </p:spPr>
        <p:txBody>
          <a:bodyPr wrap="square" lIns="0" tIns="0" rIns="0" bIns="0" rtlCol="0" anchor="ctr"/>
          <a:lstStyle/>
          <a:p>
            <a:pPr indent="0" marL="0">
              <a:buNone/>
            </a:pPr>
            <a:r>
              <a:rPr lang="en-US" sz="1200" b="1" spc="200" kern="0" dirty="0">
                <a:solidFill>
                  <a:srgbClr val="8B5CF6"/>
                </a:solidFill>
                <a:latin typeface="Calibri" pitchFamily="34" charset="0"/>
                <a:ea typeface="Calibri" pitchFamily="34" charset="-122"/>
                <a:cs typeface="Calibri" pitchFamily="34" charset="-120"/>
              </a:rPr>
              <a:t>Leçon 4 / 4</a:t>
            </a:r>
            <a:endParaRPr lang="en-US" sz="1200" dirty="0"/>
          </a:p>
        </p:txBody>
      </p:sp>
      <p:sp>
        <p:nvSpPr>
          <p:cNvPr id="7" name="Text 3"/>
          <p:cNvSpPr txBox="1"/>
          <p:nvPr/>
        </p:nvSpPr>
        <p:spPr>
          <a:xfrm>
            <a:off x="960120" y="137160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Ce que vous allez maîtriser</a:t>
            </a:r>
            <a:endParaRPr lang="en-US" sz="2800" dirty="0"/>
          </a:p>
        </p:txBody>
      </p:sp>
      <p:sp>
        <p:nvSpPr>
          <p:cNvPr id="8" name="Text 4"/>
          <p:cNvSpPr txBox="1"/>
          <p:nvPr/>
        </p:nvSpPr>
        <p:spPr>
          <a:xfrm>
            <a:off x="960120" y="411480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Sécurité et portefeuilles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8B5CF6">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 parcours est structuré en 10 modules progressifs.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Chaque module s'appuie sur le précédent, alors nous vous conseillons de le suivre dans l'ordre.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Module 1 — Bienvenue : le contexte, ce qui vous attend.</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Module 2 — Histoire : comprendre d'où vient la crypto pour mieux saisir sa force.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Module 3 — Blockchain : la technologie derrière, expliquée sans jargon.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Module 4 — Les grandes cryptos : Bitcoin, Ethereum, BNB, Solana… qui fait quoi.</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Module 5 — Les stablecoins : USDT, USDC, et pourquoi ils sont si utiles en Afrique.</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2 — Leçon 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45720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Module 6 — Votre portefeuille : créer un wallet, sécuriser sa phrase secrète.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Module 7 — Achat sur Terex : votre premier achat de USDT, pas à pas.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Module 8 — Envoyer et recevoir : maîtriser les réseaux (TRC20, ERC20, BEP20).</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Module 9 — Sécurité : reconnaître les arnaques, protéger vos comptes.</a:t>
            </a:r>
            <a:endParaRPr lang="en-US" sz="1300" dirty="0"/>
          </a:p>
        </p:txBody>
      </p:sp>
      <p:sp>
        <p:nvSpPr>
          <p:cNvPr id="3" name="Shape 1"/>
          <p:cNvSpPr/>
          <p:nvPr/>
        </p:nvSpPr>
        <p:spPr>
          <a:xfrm>
            <a:off x="5120640" y="457200"/>
            <a:ext cx="3474720" cy="640080"/>
          </a:xfrm>
          <a:prstGeom prst="roundRect">
            <a:avLst>
              <a:gd name="adj" fmla="val 14286"/>
            </a:avLst>
          </a:prstGeom>
          <a:solidFill>
            <a:srgbClr val="1A2332"/>
          </a:solidFill>
          <a:ln/>
        </p:spPr>
      </p:sp>
      <p:pic>
        <p:nvPicPr>
          <p:cNvPr id="4" name="Image 0" descr="preencoded.png">    </p:cNvPr>
          <p:cNvPicPr>
            <a:picLocks noChangeAspect="1"/>
          </p:cNvPicPr>
          <p:nvPr/>
        </p:nvPicPr>
        <p:blipFill>
          <a:blip r:embed="rId1"/>
          <a:stretch>
            <a:fillRect/>
          </a:stretch>
        </p:blipFill>
        <p:spPr>
          <a:xfrm>
            <a:off x="5257800" y="557784"/>
            <a:ext cx="438912" cy="438912"/>
          </a:xfrm>
          <a:prstGeom prst="rect">
            <a:avLst/>
          </a:prstGeom>
        </p:spPr>
      </p:pic>
      <p:sp>
        <p:nvSpPr>
          <p:cNvPr id="5" name="Text 2"/>
          <p:cNvSpPr txBox="1"/>
          <p:nvPr/>
        </p:nvSpPr>
        <p:spPr>
          <a:xfrm>
            <a:off x="5806440" y="45720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Module 10 — Aller plus loin : DeFi, staking, NFT, et sessions Zoom mensuelles...</a:t>
            </a:r>
            <a:endParaRPr lang="en-US" sz="1200" dirty="0"/>
          </a:p>
        </p:txBody>
      </p:sp>
      <p:sp>
        <p:nvSpPr>
          <p:cNvPr id="6" name="Shape 3"/>
          <p:cNvSpPr/>
          <p:nvPr/>
        </p:nvSpPr>
        <p:spPr>
          <a:xfrm>
            <a:off x="5120640" y="1188720"/>
            <a:ext cx="3474720" cy="640080"/>
          </a:xfrm>
          <a:prstGeom prst="roundRect">
            <a:avLst>
              <a:gd name="adj" fmla="val 14286"/>
            </a:avLst>
          </a:prstGeom>
          <a:solidFill>
            <a:srgbClr val="1A2332"/>
          </a:solidFill>
          <a:ln/>
        </p:spPr>
      </p:sp>
      <p:pic>
        <p:nvPicPr>
          <p:cNvPr id="7" name="Image 1" descr="preencoded.png">    </p:cNvPr>
          <p:cNvPicPr>
            <a:picLocks noChangeAspect="1"/>
          </p:cNvPicPr>
          <p:nvPr/>
        </p:nvPicPr>
        <p:blipFill>
          <a:blip r:embed="rId2"/>
          <a:stretch>
            <a:fillRect/>
          </a:stretch>
        </p:blipFill>
        <p:spPr>
          <a:xfrm>
            <a:off x="5257800" y="1289304"/>
            <a:ext cx="438912" cy="438912"/>
          </a:xfrm>
          <a:prstGeom prst="rect">
            <a:avLst/>
          </a:prstGeom>
        </p:spPr>
      </p:pic>
      <p:sp>
        <p:nvSpPr>
          <p:cNvPr id="8" name="Text 4"/>
          <p:cNvSpPr txBox="1"/>
          <p:nvPr/>
        </p:nvSpPr>
        <p:spPr>
          <a:xfrm>
            <a:off x="5806440" y="118872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Comptez environ 8 heures au total, en avançant à votre rythme.</a:t>
            </a:r>
            <a:endParaRPr lang="en-US" sz="1200" dirty="0"/>
          </a:p>
        </p:txBody>
      </p:sp>
      <p:sp>
        <p:nvSpPr>
          <p:cNvPr id="9" name="Shape 5"/>
          <p:cNvSpPr/>
          <p:nvPr/>
        </p:nvSpPr>
        <p:spPr>
          <a:xfrm>
            <a:off x="5120640" y="1920240"/>
            <a:ext cx="3474720" cy="640080"/>
          </a:xfrm>
          <a:prstGeom prst="roundRect">
            <a:avLst>
              <a:gd name="adj" fmla="val 14286"/>
            </a:avLst>
          </a:prstGeom>
          <a:solidFill>
            <a:srgbClr val="1A2332"/>
          </a:solidFill>
          <a:ln/>
        </p:spPr>
      </p:sp>
      <p:pic>
        <p:nvPicPr>
          <p:cNvPr id="10" name="Image 2" descr="preencoded.png">    </p:cNvPr>
          <p:cNvPicPr>
            <a:picLocks noChangeAspect="1"/>
          </p:cNvPicPr>
          <p:nvPr/>
        </p:nvPicPr>
        <p:blipFill>
          <a:blip r:embed="rId3"/>
          <a:stretch>
            <a:fillRect/>
          </a:stretch>
        </p:blipFill>
        <p:spPr>
          <a:xfrm>
            <a:off x="5257800" y="2020824"/>
            <a:ext cx="438912" cy="438912"/>
          </a:xfrm>
          <a:prstGeom prst="rect">
            <a:avLst/>
          </a:prstGeom>
        </p:spPr>
      </p:pic>
      <p:sp>
        <p:nvSpPr>
          <p:cNvPr id="11" name="Text 6"/>
          <p:cNvSpPr txBox="1"/>
          <p:nvPr/>
        </p:nvSpPr>
        <p:spPr>
          <a:xfrm>
            <a:off x="5806440" y="192024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Chaque leçon fait moins de 10 minutes.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8B5CF6">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Marquez-les comme « terminées » au fur et à mesure — vous verrez votre progression avancer.</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2 — Leçon 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0" y="457200"/>
            <a:ext cx="3657600" cy="3657600"/>
          </a:xfrm>
          <a:prstGeom prst="ellipse">
            <a:avLst/>
          </a:prstGeom>
          <a:solidFill>
            <a:srgbClr val="8B5CF6">
              <a:alpha val="6000"/>
            </a:srgbClr>
          </a:solidFill>
          <a:ln/>
        </p:spPr>
      </p:sp>
      <p:pic>
        <p:nvPicPr>
          <p:cNvPr id="3" name="Image 0" descr="preencoded.png">    </p:cNvPr>
          <p:cNvPicPr>
            <a:picLocks noChangeAspect="1"/>
          </p:cNvPicPr>
          <p:nvPr/>
        </p:nvPicPr>
        <p:blipFill>
          <a:blip r:embed="rId1"/>
          <a:stretch>
            <a:fillRect/>
          </a:stretch>
        </p:blipFill>
        <p:spPr>
          <a:xfrm>
            <a:off x="3931920" y="914400"/>
            <a:ext cx="1280160" cy="1280160"/>
          </a:xfrm>
          <a:prstGeom prst="rect">
            <a:avLst/>
          </a:prstGeom>
        </p:spPr>
      </p:pic>
      <p:sp>
        <p:nvSpPr>
          <p:cNvPr id="4" name="Text 1"/>
          <p:cNvSpPr txBox="1"/>
          <p:nvPr/>
        </p:nvSpPr>
        <p:spPr>
          <a:xfrm>
            <a:off x="731520" y="2377440"/>
            <a:ext cx="768096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Module 2 termine</a:t>
            </a:r>
            <a:endParaRPr lang="en-US" sz="2800" dirty="0"/>
          </a:p>
        </p:txBody>
      </p:sp>
      <p:sp>
        <p:nvSpPr>
          <p:cNvPr id="5" name="Text 2"/>
          <p:cNvSpPr txBox="1"/>
          <p:nvPr/>
        </p:nvSpPr>
        <p:spPr>
          <a:xfrm>
            <a:off x="1371600" y="3017520"/>
            <a:ext cx="6400800" cy="36576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Passez au module suivant pour continuer votre apprentissage.</a:t>
            </a:r>
            <a:endParaRPr lang="en-US" sz="1300" dirty="0"/>
          </a:p>
        </p:txBody>
      </p:sp>
      <p:sp>
        <p:nvSpPr>
          <p:cNvPr id="6" name="Shape 3"/>
          <p:cNvSpPr/>
          <p:nvPr/>
        </p:nvSpPr>
        <p:spPr>
          <a:xfrm>
            <a:off x="3200400" y="3657600"/>
            <a:ext cx="2743200" cy="36576"/>
          </a:xfrm>
          <a:prstGeom prst="rect">
            <a:avLst/>
          </a:prstGeom>
          <a:solidFill>
            <a:srgbClr val="8B5CF6"/>
          </a:solidFill>
          <a:ln/>
        </p:spPr>
      </p:sp>
      <p:sp>
        <p:nvSpPr>
          <p:cNvPr id="7" name="Text 4"/>
          <p:cNvSpPr txBox="1"/>
          <p:nvPr/>
        </p:nvSpPr>
        <p:spPr>
          <a:xfrm>
            <a:off x="2286000" y="3931920"/>
            <a:ext cx="4572000" cy="320040"/>
          </a:xfrm>
          <a:prstGeom prst="rect">
            <a:avLst/>
          </a:prstGeom>
          <a:noFill/>
          <a:ln/>
        </p:spPr>
        <p:txBody>
          <a:bodyPr wrap="square" lIns="0" tIns="0" rIns="0" bIns="0" rtlCol="0" anchor="ctr"/>
          <a:lstStyle/>
          <a:p>
            <a:pPr algn="ctr" indent="0" marL="0">
              <a:buNone/>
            </a:pPr>
            <a:r>
              <a:rPr lang="en-US" sz="1100" spc="300" kern="0" dirty="0">
                <a:solidFill>
                  <a:srgbClr val="64748B"/>
                </a:solidFill>
                <a:latin typeface="Calibri" pitchFamily="34" charset="0"/>
                <a:ea typeface="Calibri" pitchFamily="34" charset="-122"/>
                <a:cs typeface="Calibri" pitchFamily="34" charset="-120"/>
              </a:rPr>
              <a:t>TEREX ACADEMY</a:t>
            </a:r>
            <a:endParaRPr lang="en-US" sz="1100" dirty="0"/>
          </a:p>
        </p:txBody>
      </p:sp>
      <p:sp>
        <p:nvSpPr>
          <p:cNvPr id="8" name="Text 5"/>
          <p:cNvSpPr txBox="1"/>
          <p:nvPr/>
        </p:nvSpPr>
        <p:spPr>
          <a:xfrm>
            <a:off x="2286000" y="4251960"/>
            <a:ext cx="4572000" cy="274320"/>
          </a:xfrm>
          <a:prstGeom prst="rect">
            <a:avLst/>
          </a:prstGeom>
          <a:noFill/>
          <a:ln/>
        </p:spPr>
        <p:txBody>
          <a:bodyPr wrap="square" lIns="0" tIns="0" rIns="0" bIns="0" rtlCol="0" anchor="ctr"/>
          <a:lstStyle/>
          <a:p>
            <a:pPr algn="ctr" indent="0" marL="0">
              <a:buNone/>
            </a:pPr>
            <a:r>
              <a:rPr lang="en-US" sz="1100" dirty="0">
                <a:solidFill>
                  <a:srgbClr val="009E8B"/>
                </a:solidFill>
                <a:latin typeface="Calibri" pitchFamily="34" charset="0"/>
                <a:ea typeface="Calibri" pitchFamily="34" charset="-122"/>
                <a:cs typeface="Calibri" pitchFamily="34" charset="-120"/>
              </a:rPr>
              <a:t>terangaexchange.com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Terex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 Sécurité et portefeuilles</dc:title>
  <dc:subject>Sécurité et portefeuilles</dc:subject>
  <dc:creator>Terex Academy</dc:creator>
  <cp:lastModifiedBy>Terex Academy</cp:lastModifiedBy>
  <cp:revision>1</cp:revision>
  <dcterms:created xsi:type="dcterms:W3CDTF">2026-09-07T01:22:29Z</dcterms:created>
  <dcterms:modified xsi:type="dcterms:W3CDTF">2026-09-07T01:22:29Z</dcterms:modified>
</cp:coreProperties>
</file>