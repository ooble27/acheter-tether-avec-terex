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214"/>
        </a:solidFill>
      </p:bgPr>
    </p:bg>
    <p:spTree>
      <p:nvGrpSpPr>
        <p:cNvPr id="1" name=""/>
        <p:cNvGrpSpPr/>
        <p:nvPr/>
      </p:nvGrpSpPr>
      <p:grpSpPr>
        <a:xfrm>
          <a:off x="0" y="0"/>
          <a:ext cx="0" cy="0"/>
          <a:chOff x="0" y="0"/>
          <a:chExt cx="0" cy="0"/>
        </a:xfrm>
      </p:grpSpPr>
      <p:sp>
        <p:nvSpPr>
          <p:cNvPr id="2" name="Shape 0"/>
          <p:cNvSpPr/>
          <p:nvPr/>
        </p:nvSpPr>
        <p:spPr>
          <a:xfrm>
            <a:off x="6400800" y="-457200"/>
            <a:ext cx="3657600" cy="3657600"/>
          </a:xfrm>
          <a:prstGeom prst="ellipse">
            <a:avLst/>
          </a:prstGeom>
          <a:solidFill>
            <a:srgbClr val="3B968F">
              <a:alpha val="8000"/>
            </a:srgbClr>
          </a:solidFill>
          <a:ln/>
        </p:spPr>
      </p:sp>
      <p:sp>
        <p:nvSpPr>
          <p:cNvPr id="3" name="Shape 1"/>
          <p:cNvSpPr/>
          <p:nvPr/>
        </p:nvSpPr>
        <p:spPr>
          <a:xfrm>
            <a:off x="7315200" y="2286000"/>
            <a:ext cx="2743200" cy="2743200"/>
          </a:xfrm>
          <a:prstGeom prst="ellipse">
            <a:avLst/>
          </a:prstGeom>
          <a:solidFill>
            <a:srgbClr val="3B968F">
              <a:alpha val="5000"/>
            </a:srgbClr>
          </a:solidFill>
          <a:ln/>
        </p:spPr>
      </p:sp>
      <p:sp>
        <p:nvSpPr>
          <p:cNvPr id="4" name="Shape 2"/>
          <p:cNvSpPr/>
          <p:nvPr/>
        </p:nvSpPr>
        <p:spPr>
          <a:xfrm>
            <a:off x="0" y="0"/>
            <a:ext cx="9144000" cy="45720"/>
          </a:xfrm>
          <a:prstGeom prst="rect">
            <a:avLst/>
          </a:prstGeom>
          <a:solidFill>
            <a:srgbClr val="3B968F"/>
          </a:solidFill>
          <a:ln/>
        </p:spPr>
      </p:sp>
      <p:pic>
        <p:nvPicPr>
          <p:cNvPr id="5" name="Image 0" descr="preencoded.png">    </p:cNvPr>
          <p:cNvPicPr>
            <a:picLocks noChangeAspect="1"/>
          </p:cNvPicPr>
          <p:nvPr/>
        </p:nvPicPr>
        <p:blipFill>
          <a:blip r:embed="rId1"/>
          <a:stretch>
            <a:fillRect/>
          </a:stretch>
        </p:blipFill>
        <p:spPr>
          <a:xfrm>
            <a:off x="7132320" y="1097280"/>
            <a:ext cx="1463040" cy="1463040"/>
          </a:xfrm>
          <a:prstGeom prst="rect">
            <a:avLst/>
          </a:prstGeom>
        </p:spPr>
      </p:pic>
      <p:sp>
        <p:nvSpPr>
          <p:cNvPr id="6" name="Text 3"/>
          <p:cNvSpPr txBox="1"/>
          <p:nvPr/>
        </p:nvSpPr>
        <p:spPr>
          <a:xfrm>
            <a:off x="731520" y="914400"/>
            <a:ext cx="2286000" cy="365760"/>
          </a:xfrm>
          <a:prstGeom prst="rect">
            <a:avLst/>
          </a:prstGeom>
          <a:noFill/>
          <a:ln/>
        </p:spPr>
        <p:txBody>
          <a:bodyPr wrap="square" lIns="0" tIns="0" rIns="0" bIns="0" rtlCol="0" anchor="ctr"/>
          <a:lstStyle/>
          <a:p>
            <a:pPr indent="0" marL="0">
              <a:buNone/>
            </a:pPr>
            <a:r>
              <a:rPr lang="en-US" sz="1300" b="1" spc="400" kern="0" dirty="0">
                <a:solidFill>
                  <a:srgbClr val="3B968F"/>
                </a:solidFill>
                <a:latin typeface="Calibri" pitchFamily="34" charset="0"/>
                <a:ea typeface="Calibri" pitchFamily="34" charset="-122"/>
                <a:cs typeface="Calibri" pitchFamily="34" charset="-120"/>
              </a:rPr>
              <a:t>MODULE 2</a:t>
            </a:r>
            <a:endParaRPr lang="en-US" sz="1300" dirty="0"/>
          </a:p>
        </p:txBody>
      </p:sp>
      <p:sp>
        <p:nvSpPr>
          <p:cNvPr id="7" name="Text 4"/>
          <p:cNvSpPr txBox="1"/>
          <p:nvPr/>
        </p:nvSpPr>
        <p:spPr>
          <a:xfrm>
            <a:off x="731520" y="1371600"/>
            <a:ext cx="5943600" cy="1645920"/>
          </a:xfrm>
          <a:prstGeom prst="rect">
            <a:avLst/>
          </a:prstGeom>
          <a:noFill/>
          <a:ln/>
        </p:spPr>
        <p:txBody>
          <a:bodyPr wrap="square" lIns="0" tIns="0" rIns="0" bIns="0" rtlCol="0" anchor="t"/>
          <a:lstStyle/>
          <a:p>
            <a:pPr indent="0" marL="0">
              <a:buNone/>
            </a:pPr>
            <a:r>
              <a:rPr lang="en-US" sz="3600" b="1" dirty="0">
                <a:solidFill>
                  <a:srgbClr val="FFFFFF"/>
                </a:solidFill>
                <a:latin typeface="Calibri" pitchFamily="34" charset="0"/>
                <a:ea typeface="Calibri" pitchFamily="34" charset="-122"/>
                <a:cs typeface="Calibri" pitchFamily="34" charset="-120"/>
              </a:rPr>
              <a:t>Sécurité et portefeuilles</a:t>
            </a:r>
            <a:endParaRPr lang="en-US" sz="3600" dirty="0"/>
          </a:p>
        </p:txBody>
      </p:sp>
      <p:sp>
        <p:nvSpPr>
          <p:cNvPr id="8" name="Shape 5"/>
          <p:cNvSpPr/>
          <p:nvPr/>
        </p:nvSpPr>
        <p:spPr>
          <a:xfrm>
            <a:off x="731520" y="3291840"/>
            <a:ext cx="1828800" cy="36576"/>
          </a:xfrm>
          <a:prstGeom prst="rect">
            <a:avLst/>
          </a:prstGeom>
          <a:solidFill>
            <a:srgbClr val="3B968F"/>
          </a:solidFill>
          <a:ln/>
        </p:spPr>
      </p:sp>
      <p:sp>
        <p:nvSpPr>
          <p:cNvPr id="9" name="Text 6"/>
          <p:cNvSpPr txBox="1"/>
          <p:nvPr/>
        </p:nvSpPr>
        <p:spPr>
          <a:xfrm>
            <a:off x="731520" y="3566160"/>
            <a:ext cx="2743200" cy="320040"/>
          </a:xfrm>
          <a:prstGeom prst="rect">
            <a:avLst/>
          </a:prstGeom>
          <a:noFill/>
          <a:ln/>
        </p:spPr>
        <p:txBody>
          <a:bodyPr wrap="square" lIns="0" tIns="0" rIns="0" bIns="0" rtlCol="0" anchor="ctr"/>
          <a:lstStyle/>
          <a:p>
            <a:pPr indent="0" marL="0">
              <a:buNone/>
            </a:pPr>
            <a:r>
              <a:rPr lang="en-US" sz="1100" spc="300" kern="0" dirty="0">
                <a:solidFill>
                  <a:srgbClr val="5B6672"/>
                </a:solidFill>
                <a:latin typeface="Calibri" pitchFamily="34" charset="0"/>
                <a:ea typeface="Calibri" pitchFamily="34" charset="-122"/>
                <a:cs typeface="Calibri" pitchFamily="34" charset="-120"/>
              </a:rPr>
              <a:t>TEREX ACADEMY</a:t>
            </a:r>
            <a:endParaRPr lang="en-US" sz="1100" dirty="0"/>
          </a:p>
        </p:txBody>
      </p:sp>
      <p:sp>
        <p:nvSpPr>
          <p:cNvPr id="10" name="Text 7"/>
          <p:cNvSpPr txBox="1"/>
          <p:nvPr/>
        </p:nvSpPr>
        <p:spPr>
          <a:xfrm>
            <a:off x="731520" y="3931920"/>
            <a:ext cx="3657600" cy="274320"/>
          </a:xfrm>
          <a:prstGeom prst="rect">
            <a:avLst/>
          </a:prstGeom>
          <a:noFill/>
          <a:ln/>
        </p:spPr>
        <p:txBody>
          <a:bodyPr wrap="square" lIns="0" tIns="0" rIns="0" bIns="0" rtlCol="0" anchor="ctr"/>
          <a:lstStyle/>
          <a:p>
            <a:pPr indent="0" marL="0">
              <a:buNone/>
            </a:pPr>
            <a:r>
              <a:rPr lang="en-US" sz="1100" dirty="0">
                <a:solidFill>
                  <a:srgbClr val="8994A0"/>
                </a:solidFill>
                <a:latin typeface="Calibri" pitchFamily="34" charset="0"/>
                <a:ea typeface="Calibri" pitchFamily="34" charset="-122"/>
                <a:cs typeface="Calibri" pitchFamily="34" charset="-120"/>
              </a:rPr>
              <a:t>Formation Crypto &amp; Blockchain</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F1214"/>
        </a:solidFill>
      </p:bgPr>
    </p:bg>
    <p:spTree>
      <p:nvGrpSpPr>
        <p:cNvPr id="1" name=""/>
        <p:cNvGrpSpPr/>
        <p:nvPr/>
      </p:nvGrpSpPr>
      <p:grpSpPr>
        <a:xfrm>
          <a:off x="0" y="0"/>
          <a:ext cx="0" cy="0"/>
          <a:chOff x="0" y="0"/>
          <a:chExt cx="0" cy="0"/>
        </a:xfrm>
      </p:grpSpPr>
      <p:sp>
        <p:nvSpPr>
          <p:cNvPr id="2" name="Text 0"/>
          <p:cNvSpPr txBox="1"/>
          <p:nvPr/>
        </p:nvSpPr>
        <p:spPr>
          <a:xfrm>
            <a:off x="731520" y="365760"/>
            <a:ext cx="2743200" cy="320040"/>
          </a:xfrm>
          <a:prstGeom prst="rect">
            <a:avLst/>
          </a:prstGeom>
          <a:noFill/>
          <a:ln/>
        </p:spPr>
        <p:txBody>
          <a:bodyPr wrap="square" lIns="0" tIns="0" rIns="0" bIns="0" rtlCol="0" anchor="ctr"/>
          <a:lstStyle/>
          <a:p>
            <a:pPr indent="0" marL="0">
              <a:buNone/>
            </a:pPr>
            <a:r>
              <a:rPr lang="en-US" sz="1200" b="1" spc="300" kern="0" dirty="0">
                <a:solidFill>
                  <a:srgbClr val="3B968F"/>
                </a:solidFill>
                <a:latin typeface="Calibri" pitchFamily="34" charset="0"/>
                <a:ea typeface="Calibri" pitchFamily="34" charset="-122"/>
                <a:cs typeface="Calibri" pitchFamily="34" charset="-120"/>
              </a:rPr>
              <a:t>SOMMAIRE</a:t>
            </a:r>
            <a:endParaRPr lang="en-US" sz="1200" dirty="0"/>
          </a:p>
        </p:txBody>
      </p:sp>
      <p:sp>
        <p:nvSpPr>
          <p:cNvPr id="3" name="Text 1"/>
          <p:cNvSpPr txBox="1"/>
          <p:nvPr/>
        </p:nvSpPr>
        <p:spPr>
          <a:xfrm>
            <a:off x="731520" y="731520"/>
            <a:ext cx="457200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Module 2</a:t>
            </a:r>
            <a:endParaRPr lang="en-US" sz="2200" dirty="0"/>
          </a:p>
        </p:txBody>
      </p:sp>
      <p:sp>
        <p:nvSpPr>
          <p:cNvPr id="4" name="Shape 2"/>
          <p:cNvSpPr/>
          <p:nvPr/>
        </p:nvSpPr>
        <p:spPr>
          <a:xfrm>
            <a:off x="731520" y="1371600"/>
            <a:ext cx="7680960" cy="475488"/>
          </a:xfrm>
          <a:prstGeom prst="roundRect">
            <a:avLst>
              <a:gd name="adj" fmla="val 15385"/>
            </a:avLst>
          </a:prstGeom>
          <a:solidFill>
            <a:srgbClr val="1A2026"/>
          </a:solidFill>
          <a:ln/>
        </p:spPr>
      </p:sp>
      <p:sp>
        <p:nvSpPr>
          <p:cNvPr id="5" name="Text 3"/>
          <p:cNvSpPr txBox="1"/>
          <p:nvPr/>
        </p:nvSpPr>
        <p:spPr>
          <a:xfrm>
            <a:off x="868680" y="1371600"/>
            <a:ext cx="320040" cy="475488"/>
          </a:xfrm>
          <a:prstGeom prst="rect">
            <a:avLst/>
          </a:prstGeom>
          <a:noFill/>
          <a:ln/>
        </p:spPr>
        <p:txBody>
          <a:bodyPr wrap="square" lIns="0" tIns="0" rIns="0" bIns="0" rtlCol="0" anchor="ctr"/>
          <a:lstStyle/>
          <a:p>
            <a:pPr algn="ctr" indent="0" marL="0">
              <a:buNone/>
            </a:pPr>
            <a:r>
              <a:rPr lang="en-US" sz="1300" b="1" dirty="0">
                <a:solidFill>
                  <a:srgbClr val="3B968F"/>
                </a:solidFill>
                <a:latin typeface="Calibri" pitchFamily="34" charset="0"/>
                <a:ea typeface="Calibri" pitchFamily="34" charset="-122"/>
                <a:cs typeface="Calibri" pitchFamily="34" charset="-120"/>
              </a:rPr>
              <a:t>1</a:t>
            </a:r>
            <a:endParaRPr lang="en-US" sz="1300" dirty="0"/>
          </a:p>
        </p:txBody>
      </p:sp>
      <p:pic>
        <p:nvPicPr>
          <p:cNvPr id="6" name="Image 0" descr="preencoded.png">    </p:cNvPr>
          <p:cNvPicPr>
            <a:picLocks noChangeAspect="1"/>
          </p:cNvPicPr>
          <p:nvPr/>
        </p:nvPicPr>
        <p:blipFill>
          <a:blip r:embed="rId1"/>
          <a:stretch>
            <a:fillRect/>
          </a:stretch>
        </p:blipFill>
        <p:spPr>
          <a:xfrm>
            <a:off x="1280160" y="1444752"/>
            <a:ext cx="329184" cy="329184"/>
          </a:xfrm>
          <a:prstGeom prst="rect">
            <a:avLst/>
          </a:prstGeom>
        </p:spPr>
      </p:pic>
      <p:sp>
        <p:nvSpPr>
          <p:cNvPr id="7" name="Text 4"/>
          <p:cNvSpPr txBox="1"/>
          <p:nvPr/>
        </p:nvSpPr>
        <p:spPr>
          <a:xfrm>
            <a:off x="1737360" y="1371600"/>
            <a:ext cx="6492240" cy="475488"/>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Types de portefeuilles crypto</a:t>
            </a:r>
            <a:endParaRPr lang="en-US" sz="1300" dirty="0"/>
          </a:p>
        </p:txBody>
      </p:sp>
      <p:sp>
        <p:nvSpPr>
          <p:cNvPr id="8" name="Shape 5"/>
          <p:cNvSpPr/>
          <p:nvPr/>
        </p:nvSpPr>
        <p:spPr>
          <a:xfrm>
            <a:off x="731520" y="1920240"/>
            <a:ext cx="7680960" cy="475488"/>
          </a:xfrm>
          <a:prstGeom prst="roundRect">
            <a:avLst>
              <a:gd name="adj" fmla="val 15385"/>
            </a:avLst>
          </a:prstGeom>
          <a:solidFill>
            <a:srgbClr val="1A2026"/>
          </a:solidFill>
          <a:ln/>
        </p:spPr>
      </p:sp>
      <p:sp>
        <p:nvSpPr>
          <p:cNvPr id="9" name="Text 6"/>
          <p:cNvSpPr txBox="1"/>
          <p:nvPr/>
        </p:nvSpPr>
        <p:spPr>
          <a:xfrm>
            <a:off x="868680" y="1920240"/>
            <a:ext cx="320040" cy="475488"/>
          </a:xfrm>
          <a:prstGeom prst="rect">
            <a:avLst/>
          </a:prstGeom>
          <a:noFill/>
          <a:ln/>
        </p:spPr>
        <p:txBody>
          <a:bodyPr wrap="square" lIns="0" tIns="0" rIns="0" bIns="0" rtlCol="0" anchor="ctr"/>
          <a:lstStyle/>
          <a:p>
            <a:pPr algn="ctr" indent="0" marL="0">
              <a:buNone/>
            </a:pPr>
            <a:r>
              <a:rPr lang="en-US" sz="1300" b="1" dirty="0">
                <a:solidFill>
                  <a:srgbClr val="3B968F"/>
                </a:solidFill>
                <a:latin typeface="Calibri" pitchFamily="34" charset="0"/>
                <a:ea typeface="Calibri" pitchFamily="34" charset="-122"/>
                <a:cs typeface="Calibri" pitchFamily="34" charset="-120"/>
              </a:rPr>
              <a:t>2</a:t>
            </a:r>
            <a:endParaRPr lang="en-US" sz="1300" dirty="0"/>
          </a:p>
        </p:txBody>
      </p:sp>
      <p:pic>
        <p:nvPicPr>
          <p:cNvPr id="10" name="Image 1" descr="preencoded.png">    </p:cNvPr>
          <p:cNvPicPr>
            <a:picLocks noChangeAspect="1"/>
          </p:cNvPicPr>
          <p:nvPr/>
        </p:nvPicPr>
        <p:blipFill>
          <a:blip r:embed="rId2"/>
          <a:stretch>
            <a:fillRect/>
          </a:stretch>
        </p:blipFill>
        <p:spPr>
          <a:xfrm>
            <a:off x="1280160" y="1993392"/>
            <a:ext cx="329184" cy="329184"/>
          </a:xfrm>
          <a:prstGeom prst="rect">
            <a:avLst/>
          </a:prstGeom>
        </p:spPr>
      </p:pic>
      <p:sp>
        <p:nvSpPr>
          <p:cNvPr id="11" name="Text 7"/>
          <p:cNvSpPr txBox="1"/>
          <p:nvPr/>
        </p:nvSpPr>
        <p:spPr>
          <a:xfrm>
            <a:off x="1737360" y="1920240"/>
            <a:ext cx="6492240" cy="475488"/>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Éviter les arnaques crypto</a:t>
            </a:r>
            <a:endParaRPr lang="en-US" sz="1300" dirty="0"/>
          </a:p>
        </p:txBody>
      </p:sp>
      <p:sp>
        <p:nvSpPr>
          <p:cNvPr id="12" name="Shape 8"/>
          <p:cNvSpPr/>
          <p:nvPr/>
        </p:nvSpPr>
        <p:spPr>
          <a:xfrm>
            <a:off x="731520" y="2468880"/>
            <a:ext cx="7680960" cy="475488"/>
          </a:xfrm>
          <a:prstGeom prst="roundRect">
            <a:avLst>
              <a:gd name="adj" fmla="val 15385"/>
            </a:avLst>
          </a:prstGeom>
          <a:solidFill>
            <a:srgbClr val="1A2026"/>
          </a:solidFill>
          <a:ln/>
        </p:spPr>
      </p:sp>
      <p:sp>
        <p:nvSpPr>
          <p:cNvPr id="13" name="Text 9"/>
          <p:cNvSpPr txBox="1"/>
          <p:nvPr/>
        </p:nvSpPr>
        <p:spPr>
          <a:xfrm>
            <a:off x="868680" y="2468880"/>
            <a:ext cx="320040" cy="475488"/>
          </a:xfrm>
          <a:prstGeom prst="rect">
            <a:avLst/>
          </a:prstGeom>
          <a:noFill/>
          <a:ln/>
        </p:spPr>
        <p:txBody>
          <a:bodyPr wrap="square" lIns="0" tIns="0" rIns="0" bIns="0" rtlCol="0" anchor="ctr"/>
          <a:lstStyle/>
          <a:p>
            <a:pPr algn="ctr" indent="0" marL="0">
              <a:buNone/>
            </a:pPr>
            <a:r>
              <a:rPr lang="en-US" sz="1300" b="1" dirty="0">
                <a:solidFill>
                  <a:srgbClr val="3B968F"/>
                </a:solidFill>
                <a:latin typeface="Calibri" pitchFamily="34" charset="0"/>
                <a:ea typeface="Calibri" pitchFamily="34" charset="-122"/>
                <a:cs typeface="Calibri" pitchFamily="34" charset="-120"/>
              </a:rPr>
              <a:t>3</a:t>
            </a:r>
            <a:endParaRPr lang="en-US" sz="1300" dirty="0"/>
          </a:p>
        </p:txBody>
      </p:sp>
      <p:pic>
        <p:nvPicPr>
          <p:cNvPr id="14" name="Image 2" descr="preencoded.png">    </p:cNvPr>
          <p:cNvPicPr>
            <a:picLocks noChangeAspect="1"/>
          </p:cNvPicPr>
          <p:nvPr/>
        </p:nvPicPr>
        <p:blipFill>
          <a:blip r:embed="rId3"/>
          <a:stretch>
            <a:fillRect/>
          </a:stretch>
        </p:blipFill>
        <p:spPr>
          <a:xfrm>
            <a:off x="1280160" y="2542032"/>
            <a:ext cx="329184" cy="329184"/>
          </a:xfrm>
          <a:prstGeom prst="rect">
            <a:avLst/>
          </a:prstGeom>
        </p:spPr>
      </p:pic>
      <p:sp>
        <p:nvSpPr>
          <p:cNvPr id="15" name="Text 10"/>
          <p:cNvSpPr txBox="1"/>
          <p:nvPr/>
        </p:nvSpPr>
        <p:spPr>
          <a:xfrm>
            <a:off x="1737360" y="2468880"/>
            <a:ext cx="6492240" cy="475488"/>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Pourquoi apprendre la crypto en 2026 ?</a:t>
            </a:r>
            <a:endParaRPr lang="en-US" sz="1300" dirty="0"/>
          </a:p>
        </p:txBody>
      </p:sp>
      <p:sp>
        <p:nvSpPr>
          <p:cNvPr id="16" name="Shape 11"/>
          <p:cNvSpPr/>
          <p:nvPr/>
        </p:nvSpPr>
        <p:spPr>
          <a:xfrm>
            <a:off x="731520" y="3017520"/>
            <a:ext cx="7680960" cy="475488"/>
          </a:xfrm>
          <a:prstGeom prst="roundRect">
            <a:avLst>
              <a:gd name="adj" fmla="val 15385"/>
            </a:avLst>
          </a:prstGeom>
          <a:solidFill>
            <a:srgbClr val="1A2026"/>
          </a:solidFill>
          <a:ln/>
        </p:spPr>
      </p:sp>
      <p:sp>
        <p:nvSpPr>
          <p:cNvPr id="17" name="Text 12"/>
          <p:cNvSpPr txBox="1"/>
          <p:nvPr/>
        </p:nvSpPr>
        <p:spPr>
          <a:xfrm>
            <a:off x="868680" y="3017520"/>
            <a:ext cx="320040" cy="475488"/>
          </a:xfrm>
          <a:prstGeom prst="rect">
            <a:avLst/>
          </a:prstGeom>
          <a:noFill/>
          <a:ln/>
        </p:spPr>
        <p:txBody>
          <a:bodyPr wrap="square" lIns="0" tIns="0" rIns="0" bIns="0" rtlCol="0" anchor="ctr"/>
          <a:lstStyle/>
          <a:p>
            <a:pPr algn="ctr" indent="0" marL="0">
              <a:buNone/>
            </a:pPr>
            <a:r>
              <a:rPr lang="en-US" sz="1300" b="1" dirty="0">
                <a:solidFill>
                  <a:srgbClr val="3B968F"/>
                </a:solidFill>
                <a:latin typeface="Calibri" pitchFamily="34" charset="0"/>
                <a:ea typeface="Calibri" pitchFamily="34" charset="-122"/>
                <a:cs typeface="Calibri" pitchFamily="34" charset="-120"/>
              </a:rPr>
              <a:t>4</a:t>
            </a:r>
            <a:endParaRPr lang="en-US" sz="1300" dirty="0"/>
          </a:p>
        </p:txBody>
      </p:sp>
      <p:pic>
        <p:nvPicPr>
          <p:cNvPr id="18" name="Image 3" descr="preencoded.png">    </p:cNvPr>
          <p:cNvPicPr>
            <a:picLocks noChangeAspect="1"/>
          </p:cNvPicPr>
          <p:nvPr/>
        </p:nvPicPr>
        <p:blipFill>
          <a:blip r:embed="rId4"/>
          <a:stretch>
            <a:fillRect/>
          </a:stretch>
        </p:blipFill>
        <p:spPr>
          <a:xfrm>
            <a:off x="1280160" y="3090672"/>
            <a:ext cx="329184" cy="329184"/>
          </a:xfrm>
          <a:prstGeom prst="rect">
            <a:avLst/>
          </a:prstGeom>
        </p:spPr>
      </p:pic>
      <p:sp>
        <p:nvSpPr>
          <p:cNvPr id="19" name="Text 13"/>
          <p:cNvSpPr txBox="1"/>
          <p:nvPr/>
        </p:nvSpPr>
        <p:spPr>
          <a:xfrm>
            <a:off x="1737360" y="3017520"/>
            <a:ext cx="6492240" cy="475488"/>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Ce que vous allez maîtriser</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2181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0" y="548640"/>
            <a:ext cx="1280160" cy="1280160"/>
          </a:xfrm>
          <a:prstGeom prst="rect">
            <a:avLst/>
          </a:prstGeom>
        </p:spPr>
      </p:pic>
      <p:pic>
        <p:nvPicPr>
          <p:cNvPr id="3" name="Image 1" descr="preencoded.png">    </p:cNvPr>
          <p:cNvPicPr>
            <a:picLocks noChangeAspect="1"/>
          </p:cNvPicPr>
          <p:nvPr/>
        </p:nvPicPr>
        <p:blipFill>
          <a:blip r:embed="rId2"/>
          <a:stretch>
            <a:fillRect/>
          </a:stretch>
        </p:blipFill>
        <p:spPr>
          <a:xfrm>
            <a:off x="7772400" y="2011680"/>
            <a:ext cx="822960" cy="822960"/>
          </a:xfrm>
          <a:prstGeom prst="rect">
            <a:avLst/>
          </a:prstGeom>
        </p:spPr>
      </p:pic>
      <p:sp>
        <p:nvSpPr>
          <p:cNvPr id="4" name="Shape 0"/>
          <p:cNvSpPr/>
          <p:nvPr/>
        </p:nvSpPr>
        <p:spPr>
          <a:xfrm>
            <a:off x="6583680" y="-274320"/>
            <a:ext cx="3200400" cy="3200400"/>
          </a:xfrm>
          <a:prstGeom prst="ellipse">
            <a:avLst/>
          </a:prstGeom>
          <a:solidFill>
            <a:srgbClr val="3B968F">
              <a:alpha val="6000"/>
            </a:srgbClr>
          </a:solidFill>
          <a:ln/>
        </p:spPr>
      </p:sp>
      <p:sp>
        <p:nvSpPr>
          <p:cNvPr id="5" name="Shape 1"/>
          <p:cNvSpPr/>
          <p:nvPr/>
        </p:nvSpPr>
        <p:spPr>
          <a:xfrm>
            <a:off x="731520" y="914400"/>
            <a:ext cx="45720" cy="2194560"/>
          </a:xfrm>
          <a:prstGeom prst="rect">
            <a:avLst/>
          </a:prstGeom>
          <a:solidFill>
            <a:srgbClr val="3B968F"/>
          </a:solidFill>
          <a:ln/>
        </p:spPr>
      </p:sp>
      <p:sp>
        <p:nvSpPr>
          <p:cNvPr id="6" name="Text 2"/>
          <p:cNvSpPr txBox="1"/>
          <p:nvPr/>
        </p:nvSpPr>
        <p:spPr>
          <a:xfrm>
            <a:off x="960120" y="914400"/>
            <a:ext cx="2743200" cy="365760"/>
          </a:xfrm>
          <a:prstGeom prst="rect">
            <a:avLst/>
          </a:prstGeom>
          <a:noFill/>
          <a:ln/>
        </p:spPr>
        <p:txBody>
          <a:bodyPr wrap="square" lIns="0" tIns="0" rIns="0" bIns="0" rtlCol="0" anchor="ctr"/>
          <a:lstStyle/>
          <a:p>
            <a:pPr indent="0" marL="0">
              <a:buNone/>
            </a:pPr>
            <a:r>
              <a:rPr lang="en-US" sz="1200" b="1" spc="200" kern="0" dirty="0">
                <a:solidFill>
                  <a:srgbClr val="3B968F"/>
                </a:solidFill>
                <a:latin typeface="Calibri" pitchFamily="34" charset="0"/>
                <a:ea typeface="Calibri" pitchFamily="34" charset="-122"/>
                <a:cs typeface="Calibri" pitchFamily="34" charset="-120"/>
              </a:rPr>
              <a:t>Leçon 1 / 4</a:t>
            </a:r>
            <a:endParaRPr lang="en-US" sz="1200" dirty="0"/>
          </a:p>
        </p:txBody>
      </p:sp>
      <p:sp>
        <p:nvSpPr>
          <p:cNvPr id="7" name="Text 3"/>
          <p:cNvSpPr txBox="1"/>
          <p:nvPr/>
        </p:nvSpPr>
        <p:spPr>
          <a:xfrm>
            <a:off x="960120" y="1371600"/>
            <a:ext cx="6217920" cy="146304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Types de portefeuilles crypto</a:t>
            </a:r>
            <a:endParaRPr lang="en-US" sz="2800" dirty="0"/>
          </a:p>
        </p:txBody>
      </p:sp>
      <p:sp>
        <p:nvSpPr>
          <p:cNvPr id="8" name="Text 4"/>
          <p:cNvSpPr txBox="1"/>
          <p:nvPr/>
        </p:nvSpPr>
        <p:spPr>
          <a:xfrm>
            <a:off x="960120" y="4114800"/>
            <a:ext cx="5486400" cy="320040"/>
          </a:xfrm>
          <a:prstGeom prst="rect">
            <a:avLst/>
          </a:prstGeom>
          <a:noFill/>
          <a:ln/>
        </p:spPr>
        <p:txBody>
          <a:bodyPr wrap="square" lIns="0" tIns="0" rIns="0" bIns="0" rtlCol="0" anchor="ctr"/>
          <a:lstStyle/>
          <a:p>
            <a:pPr indent="0" marL="0">
              <a:buNone/>
            </a:pPr>
            <a:r>
              <a:rPr lang="en-US" sz="1100" dirty="0">
                <a:solidFill>
                  <a:srgbClr val="5B6672"/>
                </a:solidFill>
                <a:latin typeface="Calibri" pitchFamily="34" charset="0"/>
                <a:ea typeface="Calibri" pitchFamily="34" charset="-122"/>
                <a:cs typeface="Calibri" pitchFamily="34" charset="-120"/>
              </a:rPr>
              <a:t>Sécurité et portefeuilles</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F1214"/>
        </a:solidFill>
      </p:bgPr>
    </p:bg>
    <p:spTree>
      <p:nvGrpSpPr>
        <p:cNvPr id="1" name=""/>
        <p:cNvGrpSpPr/>
        <p:nvPr/>
      </p:nvGrpSpPr>
      <p:grpSpPr>
        <a:xfrm>
          <a:off x="0" y="0"/>
          <a:ext cx="0" cy="0"/>
          <a:chOff x="0" y="0"/>
          <a:chExt cx="0" cy="0"/>
        </a:xfrm>
      </p:grpSpPr>
      <p:sp>
        <p:nvSpPr>
          <p:cNvPr id="2" name="Shape 0"/>
          <p:cNvSpPr/>
          <p:nvPr/>
        </p:nvSpPr>
        <p:spPr>
          <a:xfrm>
            <a:off x="7955280" y="182880"/>
            <a:ext cx="640080" cy="640080"/>
          </a:xfrm>
          <a:prstGeom prst="ellipse">
            <a:avLst/>
          </a:prstGeom>
          <a:solidFill>
            <a:srgbClr val="3B968F">
              <a:alpha val="12000"/>
            </a:srgbClr>
          </a:solidFill>
          <a:ln/>
        </p:spPr>
      </p:sp>
      <p:pic>
        <p:nvPicPr>
          <p:cNvPr id="3" name="Image 0" descr="preencoded.png">    </p:cNvPr>
          <p:cNvPicPr>
            <a:picLocks noChangeAspect="1"/>
          </p:cNvPicPr>
          <p:nvPr/>
        </p:nvPicPr>
        <p:blipFill>
          <a:blip r:embed="rId1"/>
          <a:stretch>
            <a:fillRect/>
          </a:stretch>
        </p:blipFill>
        <p:spPr>
          <a:xfrm>
            <a:off x="8028432" y="256032"/>
            <a:ext cx="493776" cy="493776"/>
          </a:xfrm>
          <a:prstGeom prst="rect">
            <a:avLst/>
          </a:prstGeom>
        </p:spPr>
      </p:pic>
      <p:sp>
        <p:nvSpPr>
          <p:cNvPr id="4" name="Text 1"/>
          <p:cNvSpPr txBox="1"/>
          <p:nvPr/>
        </p:nvSpPr>
        <p:spPr>
          <a:xfrm>
            <a:off x="731520" y="457200"/>
            <a:ext cx="7680960" cy="36576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Pour stocker vos cryptomonnaies, vous avez besoin d'un portefeuille (wallet). Il en existe plusieurs types :</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PORTEFEUILLES CHAUDS (Hot Wallets) — Connectés à Internet</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Applications mobiles : Trust Wallet, MetaMask, Coinbase Wallet</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Avantages : pratiques, accès rapide, gratuits</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Inconvénients : vulnérables aux piratages</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PORTEFEUILLES FROIDS (Cold Wallets) — Déconnectés d'Internet</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Hardware wallets : Ledger, Trezor</a:t>
            </a:r>
            <a:endParaRPr lang="en-US" sz="1400" dirty="0"/>
          </a:p>
        </p:txBody>
      </p:sp>
      <p:sp>
        <p:nvSpPr>
          <p:cNvPr id="5" name="Text 2"/>
          <p:cNvSpPr txBox="1"/>
          <p:nvPr/>
        </p:nvSpPr>
        <p:spPr>
          <a:xfrm>
            <a:off x="731520" y="4709160"/>
            <a:ext cx="7680960" cy="274320"/>
          </a:xfrm>
          <a:prstGeom prst="rect">
            <a:avLst/>
          </a:prstGeom>
          <a:noFill/>
          <a:ln/>
        </p:spPr>
        <p:txBody>
          <a:bodyPr wrap="square" lIns="0" tIns="0" rIns="0" bIns="0" rtlCol="0" anchor="ctr"/>
          <a:lstStyle/>
          <a:p>
            <a:pPr algn="r" indent="0" marL="0">
              <a:buNone/>
            </a:pPr>
            <a:r>
              <a:rPr lang="en-US" sz="900" dirty="0">
                <a:solidFill>
                  <a:srgbClr val="5B6672"/>
                </a:solidFill>
                <a:latin typeface="Calibri" pitchFamily="34" charset="0"/>
                <a:ea typeface="Calibri" pitchFamily="34" charset="-122"/>
                <a:cs typeface="Calibri" pitchFamily="34" charset="-120"/>
              </a:rPr>
              <a:t>Module 2 — Leçon 1</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1214"/>
        </a:solidFill>
      </p:bgPr>
    </p:bg>
    <p:spTree>
      <p:nvGrpSpPr>
        <p:cNvPr id="1" name=""/>
        <p:cNvGrpSpPr/>
        <p:nvPr/>
      </p:nvGrpSpPr>
      <p:grpSpPr>
        <a:xfrm>
          <a:off x="0" y="0"/>
          <a:ext cx="0" cy="0"/>
          <a:chOff x="0" y="0"/>
          <a:chExt cx="0" cy="0"/>
        </a:xfrm>
      </p:grpSpPr>
      <p:sp>
        <p:nvSpPr>
          <p:cNvPr id="2" name="Text 0"/>
          <p:cNvSpPr txBox="1"/>
          <p:nvPr/>
        </p:nvSpPr>
        <p:spPr>
          <a:xfrm>
            <a:off x="731520" y="457200"/>
            <a:ext cx="4206240" cy="34747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Avantages : très sécurisés, vos clés restent hors ligne</a:t>
            </a:r>
            <a:endParaRPr lang="en-US" sz="1300" dirty="0"/>
          </a:p>
          <a:p>
            <a:pPr marL="342900" indent="-342900">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Inconvénients : coût initial (50-200€), moins pratiques</a:t>
            </a:r>
            <a:endParaRPr lang="en-US" sz="1300" dirty="0"/>
          </a:p>
        </p:txBody>
      </p:sp>
      <p:sp>
        <p:nvSpPr>
          <p:cNvPr id="3" name="Shape 1"/>
          <p:cNvSpPr/>
          <p:nvPr/>
        </p:nvSpPr>
        <p:spPr>
          <a:xfrm>
            <a:off x="5120640" y="457200"/>
            <a:ext cx="3474720" cy="640080"/>
          </a:xfrm>
          <a:prstGeom prst="roundRect">
            <a:avLst>
              <a:gd name="adj" fmla="val 14286"/>
            </a:avLst>
          </a:prstGeom>
          <a:solidFill>
            <a:srgbClr val="1A2026"/>
          </a:solidFill>
          <a:ln/>
        </p:spPr>
      </p:sp>
      <p:pic>
        <p:nvPicPr>
          <p:cNvPr id="4" name="Image 0" descr="preencoded.png">    </p:cNvPr>
          <p:cNvPicPr>
            <a:picLocks noChangeAspect="1"/>
          </p:cNvPicPr>
          <p:nvPr/>
        </p:nvPicPr>
        <p:blipFill>
          <a:blip r:embed="rId1"/>
          <a:stretch>
            <a:fillRect/>
          </a:stretch>
        </p:blipFill>
        <p:spPr>
          <a:xfrm>
            <a:off x="5257800" y="557784"/>
            <a:ext cx="438912" cy="438912"/>
          </a:xfrm>
          <a:prstGeom prst="rect">
            <a:avLst/>
          </a:prstGeom>
        </p:spPr>
      </p:pic>
      <p:sp>
        <p:nvSpPr>
          <p:cNvPr id="5" name="Text 2"/>
          <p:cNvSpPr txBox="1"/>
          <p:nvPr/>
        </p:nvSpPr>
        <p:spPr>
          <a:xfrm>
            <a:off x="5806440" y="457200"/>
            <a:ext cx="2651760" cy="640080"/>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RÈGLE D'OR : Ne laissez jamais de grandes quantités de crypto sur un exchange...</a:t>
            </a:r>
            <a:endParaRPr lang="en-US" sz="1200" dirty="0"/>
          </a:p>
        </p:txBody>
      </p:sp>
      <p:sp>
        <p:nvSpPr>
          <p:cNvPr id="6" name="Shape 3"/>
          <p:cNvSpPr/>
          <p:nvPr/>
        </p:nvSpPr>
        <p:spPr>
          <a:xfrm>
            <a:off x="5120640" y="1188720"/>
            <a:ext cx="3474720" cy="640080"/>
          </a:xfrm>
          <a:prstGeom prst="roundRect">
            <a:avLst>
              <a:gd name="adj" fmla="val 14286"/>
            </a:avLst>
          </a:prstGeom>
          <a:solidFill>
            <a:srgbClr val="1A2026"/>
          </a:solidFill>
          <a:ln/>
        </p:spPr>
      </p:sp>
      <p:pic>
        <p:nvPicPr>
          <p:cNvPr id="7" name="Image 1" descr="preencoded.png">    </p:cNvPr>
          <p:cNvPicPr>
            <a:picLocks noChangeAspect="1"/>
          </p:cNvPicPr>
          <p:nvPr/>
        </p:nvPicPr>
        <p:blipFill>
          <a:blip r:embed="rId2"/>
          <a:stretch>
            <a:fillRect/>
          </a:stretch>
        </p:blipFill>
        <p:spPr>
          <a:xfrm>
            <a:off x="5257800" y="1289304"/>
            <a:ext cx="438912" cy="438912"/>
          </a:xfrm>
          <a:prstGeom prst="rect">
            <a:avLst/>
          </a:prstGeom>
        </p:spPr>
      </p:pic>
      <p:sp>
        <p:nvSpPr>
          <p:cNvPr id="8" name="Text 4"/>
          <p:cNvSpPr txBox="1"/>
          <p:nvPr/>
        </p:nvSpPr>
        <p:spPr>
          <a:xfrm>
            <a:off x="5806440" y="1188720"/>
            <a:ext cx="2651760" cy="640080"/>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La SEED PHRASE (phrase de récupération) est la clé de votre portefeuille. C'e...</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A2026"/>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20040"/>
            <a:ext cx="457200" cy="457200"/>
          </a:xfrm>
          <a:prstGeom prst="rect">
            <a:avLst/>
          </a:prstGeom>
        </p:spPr>
      </p:pic>
      <p:sp>
        <p:nvSpPr>
          <p:cNvPr id="3" name="Text 0"/>
          <p:cNvSpPr txBox="1"/>
          <p:nvPr/>
        </p:nvSpPr>
        <p:spPr>
          <a:xfrm>
            <a:off x="1280160" y="365760"/>
            <a:ext cx="2743200" cy="320040"/>
          </a:xfrm>
          <a:prstGeom prst="rect">
            <a:avLst/>
          </a:prstGeom>
          <a:noFill/>
          <a:ln/>
        </p:spPr>
        <p:txBody>
          <a:bodyPr wrap="square" lIns="0" tIns="0" rIns="0" bIns="0" rtlCol="0" anchor="ctr"/>
          <a:lstStyle/>
          <a:p>
            <a:pPr indent="0" marL="0">
              <a:buNone/>
            </a:pPr>
            <a:r>
              <a:rPr lang="en-US" sz="1200" b="1" spc="300" kern="0" dirty="0">
                <a:solidFill>
                  <a:srgbClr val="5BC1B8"/>
                </a:solidFill>
                <a:latin typeface="Calibri" pitchFamily="34" charset="0"/>
                <a:ea typeface="Calibri" pitchFamily="34" charset="-122"/>
                <a:cs typeface="Calibri" pitchFamily="34" charset="-120"/>
              </a:rPr>
              <a:t>A RETENIR</a:t>
            </a:r>
            <a:endParaRPr lang="en-US" sz="1200" dirty="0"/>
          </a:p>
        </p:txBody>
      </p:sp>
      <p:sp>
        <p:nvSpPr>
          <p:cNvPr id="4" name="Text 1"/>
          <p:cNvSpPr txBox="1"/>
          <p:nvPr/>
        </p:nvSpPr>
        <p:spPr>
          <a:xfrm>
            <a:off x="731520" y="822960"/>
            <a:ext cx="7680960" cy="45720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Types de portefeuilles crypto</a:t>
            </a:r>
            <a:endParaRPr lang="en-US" sz="2000" dirty="0"/>
          </a:p>
        </p:txBody>
      </p:sp>
      <p:sp>
        <p:nvSpPr>
          <p:cNvPr id="5" name="Shape 2"/>
          <p:cNvSpPr/>
          <p:nvPr/>
        </p:nvSpPr>
        <p:spPr>
          <a:xfrm>
            <a:off x="731520" y="1463040"/>
            <a:ext cx="7680960" cy="548640"/>
          </a:xfrm>
          <a:prstGeom prst="roundRect">
            <a:avLst>
              <a:gd name="adj" fmla="val 13333"/>
            </a:avLst>
          </a:prstGeom>
          <a:solidFill>
            <a:srgbClr val="0F1214"/>
          </a:solidFill>
          <a:ln/>
        </p:spPr>
      </p:sp>
      <p:sp>
        <p:nvSpPr>
          <p:cNvPr id="6" name="Text 3"/>
          <p:cNvSpPr txBox="1"/>
          <p:nvPr/>
        </p:nvSpPr>
        <p:spPr>
          <a:xfrm>
            <a:off x="914400" y="1463040"/>
            <a:ext cx="411480" cy="548640"/>
          </a:xfrm>
          <a:prstGeom prst="roundRect">
            <a:avLst>
              <a:gd name="adj" fmla="val 48889"/>
            </a:avLst>
          </a:prstGeom>
          <a:solidFill>
            <a:srgbClr val="3B968F"/>
          </a:solidFill>
          <a:ln/>
        </p:spPr>
        <p:txBody>
          <a:bodyPr wrap="square" lIns="0" tIns="0" rIns="0" bIns="0" rtlCol="0" anchor="ctr"/>
          <a:lstStyle/>
          <a:p>
            <a:pPr algn="ctr" indent="0" marL="0">
              <a:buNone/>
            </a:pPr>
            <a:r>
              <a:rPr lang="en-US" sz="1500" b="1" dirty="0">
                <a:solidFill>
                  <a:srgbClr val="0F1214"/>
                </a:solidFill>
                <a:latin typeface="Calibri" pitchFamily="34" charset="0"/>
                <a:ea typeface="Calibri" pitchFamily="34" charset="-122"/>
                <a:cs typeface="Calibri" pitchFamily="34" charset="-120"/>
              </a:rPr>
              <a:t>1</a:t>
            </a:r>
            <a:endParaRPr lang="en-US" sz="1500" dirty="0"/>
          </a:p>
        </p:txBody>
      </p:sp>
      <p:sp>
        <p:nvSpPr>
          <p:cNvPr id="7" name="Text 4"/>
          <p:cNvSpPr txBox="1"/>
          <p:nvPr/>
        </p:nvSpPr>
        <p:spPr>
          <a:xfrm>
            <a:off x="1508760" y="1463040"/>
            <a:ext cx="6766560" cy="54864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Applications mobiles : Trust Wallet, MetaMask, Coinbase Wallet</a:t>
            </a:r>
            <a:endParaRPr lang="en-US" sz="1300" dirty="0"/>
          </a:p>
        </p:txBody>
      </p:sp>
      <p:sp>
        <p:nvSpPr>
          <p:cNvPr id="8" name="Shape 5"/>
          <p:cNvSpPr/>
          <p:nvPr/>
        </p:nvSpPr>
        <p:spPr>
          <a:xfrm>
            <a:off x="731520" y="2103120"/>
            <a:ext cx="7680960" cy="548640"/>
          </a:xfrm>
          <a:prstGeom prst="roundRect">
            <a:avLst>
              <a:gd name="adj" fmla="val 13333"/>
            </a:avLst>
          </a:prstGeom>
          <a:solidFill>
            <a:srgbClr val="0F1214"/>
          </a:solidFill>
          <a:ln/>
        </p:spPr>
      </p:sp>
      <p:sp>
        <p:nvSpPr>
          <p:cNvPr id="9" name="Text 6"/>
          <p:cNvSpPr txBox="1"/>
          <p:nvPr/>
        </p:nvSpPr>
        <p:spPr>
          <a:xfrm>
            <a:off x="914400" y="2103120"/>
            <a:ext cx="411480" cy="548640"/>
          </a:xfrm>
          <a:prstGeom prst="roundRect">
            <a:avLst>
              <a:gd name="adj" fmla="val 48889"/>
            </a:avLst>
          </a:prstGeom>
          <a:solidFill>
            <a:srgbClr val="3B968F"/>
          </a:solidFill>
          <a:ln/>
        </p:spPr>
        <p:txBody>
          <a:bodyPr wrap="square" lIns="0" tIns="0" rIns="0" bIns="0" rtlCol="0" anchor="ctr"/>
          <a:lstStyle/>
          <a:p>
            <a:pPr algn="ctr" indent="0" marL="0">
              <a:buNone/>
            </a:pPr>
            <a:r>
              <a:rPr lang="en-US" sz="1500" b="1" dirty="0">
                <a:solidFill>
                  <a:srgbClr val="0F1214"/>
                </a:solidFill>
                <a:latin typeface="Calibri" pitchFamily="34" charset="0"/>
                <a:ea typeface="Calibri" pitchFamily="34" charset="-122"/>
                <a:cs typeface="Calibri" pitchFamily="34" charset="-120"/>
              </a:rPr>
              <a:t>2</a:t>
            </a:r>
            <a:endParaRPr lang="en-US" sz="1500" dirty="0"/>
          </a:p>
        </p:txBody>
      </p:sp>
      <p:sp>
        <p:nvSpPr>
          <p:cNvPr id="10" name="Text 7"/>
          <p:cNvSpPr txBox="1"/>
          <p:nvPr/>
        </p:nvSpPr>
        <p:spPr>
          <a:xfrm>
            <a:off x="1508760" y="2103120"/>
            <a:ext cx="6766560" cy="54864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Avantages : pratiques, accès rapide, gratuits</a:t>
            </a:r>
            <a:endParaRPr lang="en-US" sz="1300" dirty="0"/>
          </a:p>
        </p:txBody>
      </p:sp>
      <p:sp>
        <p:nvSpPr>
          <p:cNvPr id="11" name="Shape 8"/>
          <p:cNvSpPr/>
          <p:nvPr/>
        </p:nvSpPr>
        <p:spPr>
          <a:xfrm>
            <a:off x="731520" y="2743200"/>
            <a:ext cx="7680960" cy="548640"/>
          </a:xfrm>
          <a:prstGeom prst="roundRect">
            <a:avLst>
              <a:gd name="adj" fmla="val 13333"/>
            </a:avLst>
          </a:prstGeom>
          <a:solidFill>
            <a:srgbClr val="0F1214"/>
          </a:solidFill>
          <a:ln/>
        </p:spPr>
      </p:sp>
      <p:sp>
        <p:nvSpPr>
          <p:cNvPr id="12" name="Text 9"/>
          <p:cNvSpPr txBox="1"/>
          <p:nvPr/>
        </p:nvSpPr>
        <p:spPr>
          <a:xfrm>
            <a:off x="914400" y="2743200"/>
            <a:ext cx="411480" cy="548640"/>
          </a:xfrm>
          <a:prstGeom prst="roundRect">
            <a:avLst>
              <a:gd name="adj" fmla="val 48889"/>
            </a:avLst>
          </a:prstGeom>
          <a:solidFill>
            <a:srgbClr val="3B968F"/>
          </a:solidFill>
          <a:ln/>
        </p:spPr>
        <p:txBody>
          <a:bodyPr wrap="square" lIns="0" tIns="0" rIns="0" bIns="0" rtlCol="0" anchor="ctr"/>
          <a:lstStyle/>
          <a:p>
            <a:pPr algn="ctr" indent="0" marL="0">
              <a:buNone/>
            </a:pPr>
            <a:r>
              <a:rPr lang="en-US" sz="1500" b="1" dirty="0">
                <a:solidFill>
                  <a:srgbClr val="0F1214"/>
                </a:solidFill>
                <a:latin typeface="Calibri" pitchFamily="34" charset="0"/>
                <a:ea typeface="Calibri" pitchFamily="34" charset="-122"/>
                <a:cs typeface="Calibri" pitchFamily="34" charset="-120"/>
              </a:rPr>
              <a:t>3</a:t>
            </a:r>
            <a:endParaRPr lang="en-US" sz="1500" dirty="0"/>
          </a:p>
        </p:txBody>
      </p:sp>
      <p:sp>
        <p:nvSpPr>
          <p:cNvPr id="13" name="Text 10"/>
          <p:cNvSpPr txBox="1"/>
          <p:nvPr/>
        </p:nvSpPr>
        <p:spPr>
          <a:xfrm>
            <a:off x="1508760" y="2743200"/>
            <a:ext cx="6766560" cy="54864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Inconvénients : vulnérables aux piratages</a:t>
            </a:r>
            <a:endParaRPr lang="en-US" sz="1300" dirty="0"/>
          </a:p>
        </p:txBody>
      </p:sp>
      <p:sp>
        <p:nvSpPr>
          <p:cNvPr id="14" name="Shape 11"/>
          <p:cNvSpPr/>
          <p:nvPr/>
        </p:nvSpPr>
        <p:spPr>
          <a:xfrm>
            <a:off x="731520" y="3383280"/>
            <a:ext cx="7680960" cy="548640"/>
          </a:xfrm>
          <a:prstGeom prst="roundRect">
            <a:avLst>
              <a:gd name="adj" fmla="val 13333"/>
            </a:avLst>
          </a:prstGeom>
          <a:solidFill>
            <a:srgbClr val="0F1214"/>
          </a:solidFill>
          <a:ln/>
        </p:spPr>
      </p:sp>
      <p:sp>
        <p:nvSpPr>
          <p:cNvPr id="15" name="Text 12"/>
          <p:cNvSpPr txBox="1"/>
          <p:nvPr/>
        </p:nvSpPr>
        <p:spPr>
          <a:xfrm>
            <a:off x="914400" y="3383280"/>
            <a:ext cx="411480" cy="548640"/>
          </a:xfrm>
          <a:prstGeom prst="roundRect">
            <a:avLst>
              <a:gd name="adj" fmla="val 48889"/>
            </a:avLst>
          </a:prstGeom>
          <a:solidFill>
            <a:srgbClr val="3B968F"/>
          </a:solidFill>
          <a:ln/>
        </p:spPr>
        <p:txBody>
          <a:bodyPr wrap="square" lIns="0" tIns="0" rIns="0" bIns="0" rtlCol="0" anchor="ctr"/>
          <a:lstStyle/>
          <a:p>
            <a:pPr algn="ctr" indent="0" marL="0">
              <a:buNone/>
            </a:pPr>
            <a:r>
              <a:rPr lang="en-US" sz="1500" b="1" dirty="0">
                <a:solidFill>
                  <a:srgbClr val="0F1214"/>
                </a:solidFill>
                <a:latin typeface="Calibri" pitchFamily="34" charset="0"/>
                <a:ea typeface="Calibri" pitchFamily="34" charset="-122"/>
                <a:cs typeface="Calibri" pitchFamily="34" charset="-120"/>
              </a:rPr>
              <a:t>4</a:t>
            </a:r>
            <a:endParaRPr lang="en-US" sz="1500" dirty="0"/>
          </a:p>
        </p:txBody>
      </p:sp>
      <p:sp>
        <p:nvSpPr>
          <p:cNvPr id="16" name="Text 13"/>
          <p:cNvSpPr txBox="1"/>
          <p:nvPr/>
        </p:nvSpPr>
        <p:spPr>
          <a:xfrm>
            <a:off x="1508760" y="3383280"/>
            <a:ext cx="6766560" cy="54864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Hardware wallets : Ledger, Trezor</a:t>
            </a:r>
            <a:endParaRPr lang="en-US" sz="1300" dirty="0"/>
          </a:p>
        </p:txBody>
      </p:sp>
      <p:sp>
        <p:nvSpPr>
          <p:cNvPr id="17" name="Shape 14"/>
          <p:cNvSpPr/>
          <p:nvPr/>
        </p:nvSpPr>
        <p:spPr>
          <a:xfrm>
            <a:off x="731520" y="4023360"/>
            <a:ext cx="7680960" cy="548640"/>
          </a:xfrm>
          <a:prstGeom prst="roundRect">
            <a:avLst>
              <a:gd name="adj" fmla="val 13333"/>
            </a:avLst>
          </a:prstGeom>
          <a:solidFill>
            <a:srgbClr val="0F1214"/>
          </a:solidFill>
          <a:ln/>
        </p:spPr>
      </p:sp>
      <p:sp>
        <p:nvSpPr>
          <p:cNvPr id="18" name="Text 15"/>
          <p:cNvSpPr txBox="1"/>
          <p:nvPr/>
        </p:nvSpPr>
        <p:spPr>
          <a:xfrm>
            <a:off x="914400" y="4023360"/>
            <a:ext cx="411480" cy="548640"/>
          </a:xfrm>
          <a:prstGeom prst="roundRect">
            <a:avLst>
              <a:gd name="adj" fmla="val 48889"/>
            </a:avLst>
          </a:prstGeom>
          <a:solidFill>
            <a:srgbClr val="3B968F"/>
          </a:solidFill>
          <a:ln/>
        </p:spPr>
        <p:txBody>
          <a:bodyPr wrap="square" lIns="0" tIns="0" rIns="0" bIns="0" rtlCol="0" anchor="ctr"/>
          <a:lstStyle/>
          <a:p>
            <a:pPr algn="ctr" indent="0" marL="0">
              <a:buNone/>
            </a:pPr>
            <a:r>
              <a:rPr lang="en-US" sz="1500" b="1" dirty="0">
                <a:solidFill>
                  <a:srgbClr val="0F1214"/>
                </a:solidFill>
                <a:latin typeface="Calibri" pitchFamily="34" charset="0"/>
                <a:ea typeface="Calibri" pitchFamily="34" charset="-122"/>
                <a:cs typeface="Calibri" pitchFamily="34" charset="-120"/>
              </a:rPr>
              <a:t>5</a:t>
            </a:r>
            <a:endParaRPr lang="en-US" sz="1500" dirty="0"/>
          </a:p>
        </p:txBody>
      </p:sp>
      <p:sp>
        <p:nvSpPr>
          <p:cNvPr id="19" name="Text 16"/>
          <p:cNvSpPr txBox="1"/>
          <p:nvPr/>
        </p:nvSpPr>
        <p:spPr>
          <a:xfrm>
            <a:off x="1508760" y="4023360"/>
            <a:ext cx="6766560" cy="54864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Avantages : très sécurisés, vos clés restent hors ligne</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2181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0" y="548640"/>
            <a:ext cx="1280160" cy="1280160"/>
          </a:xfrm>
          <a:prstGeom prst="rect">
            <a:avLst/>
          </a:prstGeom>
        </p:spPr>
      </p:pic>
      <p:pic>
        <p:nvPicPr>
          <p:cNvPr id="3" name="Image 1" descr="preencoded.png">    </p:cNvPr>
          <p:cNvPicPr>
            <a:picLocks noChangeAspect="1"/>
          </p:cNvPicPr>
          <p:nvPr/>
        </p:nvPicPr>
        <p:blipFill>
          <a:blip r:embed="rId2"/>
          <a:stretch>
            <a:fillRect/>
          </a:stretch>
        </p:blipFill>
        <p:spPr>
          <a:xfrm>
            <a:off x="7772400" y="2011680"/>
            <a:ext cx="822960" cy="822960"/>
          </a:xfrm>
          <a:prstGeom prst="rect">
            <a:avLst/>
          </a:prstGeom>
        </p:spPr>
      </p:pic>
      <p:sp>
        <p:nvSpPr>
          <p:cNvPr id="4" name="Shape 0"/>
          <p:cNvSpPr/>
          <p:nvPr/>
        </p:nvSpPr>
        <p:spPr>
          <a:xfrm>
            <a:off x="6583680" y="-274320"/>
            <a:ext cx="3200400" cy="3200400"/>
          </a:xfrm>
          <a:prstGeom prst="ellipse">
            <a:avLst/>
          </a:prstGeom>
          <a:solidFill>
            <a:srgbClr val="3B968F">
              <a:alpha val="6000"/>
            </a:srgbClr>
          </a:solidFill>
          <a:ln/>
        </p:spPr>
      </p:sp>
      <p:sp>
        <p:nvSpPr>
          <p:cNvPr id="5" name="Shape 1"/>
          <p:cNvSpPr/>
          <p:nvPr/>
        </p:nvSpPr>
        <p:spPr>
          <a:xfrm>
            <a:off x="731520" y="914400"/>
            <a:ext cx="45720" cy="2194560"/>
          </a:xfrm>
          <a:prstGeom prst="rect">
            <a:avLst/>
          </a:prstGeom>
          <a:solidFill>
            <a:srgbClr val="3B968F"/>
          </a:solidFill>
          <a:ln/>
        </p:spPr>
      </p:sp>
      <p:sp>
        <p:nvSpPr>
          <p:cNvPr id="6" name="Text 2"/>
          <p:cNvSpPr txBox="1"/>
          <p:nvPr/>
        </p:nvSpPr>
        <p:spPr>
          <a:xfrm>
            <a:off x="960120" y="914400"/>
            <a:ext cx="2743200" cy="365760"/>
          </a:xfrm>
          <a:prstGeom prst="rect">
            <a:avLst/>
          </a:prstGeom>
          <a:noFill/>
          <a:ln/>
        </p:spPr>
        <p:txBody>
          <a:bodyPr wrap="square" lIns="0" tIns="0" rIns="0" bIns="0" rtlCol="0" anchor="ctr"/>
          <a:lstStyle/>
          <a:p>
            <a:pPr indent="0" marL="0">
              <a:buNone/>
            </a:pPr>
            <a:r>
              <a:rPr lang="en-US" sz="1200" b="1" spc="200" kern="0" dirty="0">
                <a:solidFill>
                  <a:srgbClr val="3B968F"/>
                </a:solidFill>
                <a:latin typeface="Calibri" pitchFamily="34" charset="0"/>
                <a:ea typeface="Calibri" pitchFamily="34" charset="-122"/>
                <a:cs typeface="Calibri" pitchFamily="34" charset="-120"/>
              </a:rPr>
              <a:t>Leçon 2 / 4</a:t>
            </a:r>
            <a:endParaRPr lang="en-US" sz="1200" dirty="0"/>
          </a:p>
        </p:txBody>
      </p:sp>
      <p:sp>
        <p:nvSpPr>
          <p:cNvPr id="7" name="Text 3"/>
          <p:cNvSpPr txBox="1"/>
          <p:nvPr/>
        </p:nvSpPr>
        <p:spPr>
          <a:xfrm>
            <a:off x="960120" y="1371600"/>
            <a:ext cx="6217920" cy="146304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Éviter les arnaques crypto</a:t>
            </a:r>
            <a:endParaRPr lang="en-US" sz="2800" dirty="0"/>
          </a:p>
        </p:txBody>
      </p:sp>
      <p:sp>
        <p:nvSpPr>
          <p:cNvPr id="8" name="Text 4"/>
          <p:cNvSpPr txBox="1"/>
          <p:nvPr/>
        </p:nvSpPr>
        <p:spPr>
          <a:xfrm>
            <a:off x="960120" y="4114800"/>
            <a:ext cx="5486400" cy="320040"/>
          </a:xfrm>
          <a:prstGeom prst="rect">
            <a:avLst/>
          </a:prstGeom>
          <a:noFill/>
          <a:ln/>
        </p:spPr>
        <p:txBody>
          <a:bodyPr wrap="square" lIns="0" tIns="0" rIns="0" bIns="0" rtlCol="0" anchor="ctr"/>
          <a:lstStyle/>
          <a:p>
            <a:pPr indent="0" marL="0">
              <a:buNone/>
            </a:pPr>
            <a:r>
              <a:rPr lang="en-US" sz="1100" dirty="0">
                <a:solidFill>
                  <a:srgbClr val="5B6672"/>
                </a:solidFill>
                <a:latin typeface="Calibri" pitchFamily="34" charset="0"/>
                <a:ea typeface="Calibri" pitchFamily="34" charset="-122"/>
                <a:cs typeface="Calibri" pitchFamily="34" charset="-120"/>
              </a:rPr>
              <a:t>Sécurité et portefeuilles</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1214"/>
        </a:solidFill>
      </p:bgPr>
    </p:bg>
    <p:spTree>
      <p:nvGrpSpPr>
        <p:cNvPr id="1" name=""/>
        <p:cNvGrpSpPr/>
        <p:nvPr/>
      </p:nvGrpSpPr>
      <p:grpSpPr>
        <a:xfrm>
          <a:off x="0" y="0"/>
          <a:ext cx="0" cy="0"/>
          <a:chOff x="0" y="0"/>
          <a:chExt cx="0" cy="0"/>
        </a:xfrm>
      </p:grpSpPr>
      <p:sp>
        <p:nvSpPr>
          <p:cNvPr id="2" name="Shape 0"/>
          <p:cNvSpPr/>
          <p:nvPr/>
        </p:nvSpPr>
        <p:spPr>
          <a:xfrm>
            <a:off x="7955280" y="182880"/>
            <a:ext cx="640080" cy="640080"/>
          </a:xfrm>
          <a:prstGeom prst="ellipse">
            <a:avLst/>
          </a:prstGeom>
          <a:solidFill>
            <a:srgbClr val="3B968F">
              <a:alpha val="12000"/>
            </a:srgbClr>
          </a:solidFill>
          <a:ln/>
        </p:spPr>
      </p:sp>
      <p:pic>
        <p:nvPicPr>
          <p:cNvPr id="3" name="Image 0" descr="preencoded.png">    </p:cNvPr>
          <p:cNvPicPr>
            <a:picLocks noChangeAspect="1"/>
          </p:cNvPicPr>
          <p:nvPr/>
        </p:nvPicPr>
        <p:blipFill>
          <a:blip r:embed="rId1"/>
          <a:stretch>
            <a:fillRect/>
          </a:stretch>
        </p:blipFill>
        <p:spPr>
          <a:xfrm>
            <a:off x="8028432" y="256032"/>
            <a:ext cx="493776" cy="493776"/>
          </a:xfrm>
          <a:prstGeom prst="rect">
            <a:avLst/>
          </a:prstGeom>
        </p:spPr>
      </p:pic>
      <p:sp>
        <p:nvSpPr>
          <p:cNvPr id="4" name="Text 1"/>
          <p:cNvSpPr txBox="1"/>
          <p:nvPr/>
        </p:nvSpPr>
        <p:spPr>
          <a:xfrm>
            <a:off x="731520" y="457200"/>
            <a:ext cx="7680960" cy="36576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Le monde de la crypto attire malheureusement beaucoup d'escrocs. Voici les arnaques courantes :</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FAUX GIVEAWAYS — "Envoyez 1 BTC, recevez 2 BTC" → TOUJOURS une arnaque.</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PHISHING — Faux sites qui imitent des exchanges. Vérifiez TOUJOURS l'URL.</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PUMP AND DUMP — Un groupe fait monter artificiellement le prix puis vend tout.</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RUG PULLS — Un projet promet des rendements incroyables puis les créateurs disparaissent.</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ARNAQUES PAR MESSAGE — "Votre compte est bloqué, envoyez vos identifiants" → Faux.</a:t>
            </a:r>
            <a:endParaRPr lang="en-US" sz="1400" dirty="0"/>
          </a:p>
        </p:txBody>
      </p:sp>
      <p:sp>
        <p:nvSpPr>
          <p:cNvPr id="5" name="Text 2"/>
          <p:cNvSpPr txBox="1"/>
          <p:nvPr/>
        </p:nvSpPr>
        <p:spPr>
          <a:xfrm>
            <a:off x="731520" y="4709160"/>
            <a:ext cx="7680960" cy="274320"/>
          </a:xfrm>
          <a:prstGeom prst="rect">
            <a:avLst/>
          </a:prstGeom>
          <a:noFill/>
          <a:ln/>
        </p:spPr>
        <p:txBody>
          <a:bodyPr wrap="square" lIns="0" tIns="0" rIns="0" bIns="0" rtlCol="0" anchor="ctr"/>
          <a:lstStyle/>
          <a:p>
            <a:pPr algn="r" indent="0" marL="0">
              <a:buNone/>
            </a:pPr>
            <a:r>
              <a:rPr lang="en-US" sz="900" dirty="0">
                <a:solidFill>
                  <a:srgbClr val="5B6672"/>
                </a:solidFill>
                <a:latin typeface="Calibri" pitchFamily="34" charset="0"/>
                <a:ea typeface="Calibri" pitchFamily="34" charset="-122"/>
                <a:cs typeface="Calibri" pitchFamily="34" charset="-120"/>
              </a:rPr>
              <a:t>Module 2 — Leçon 2</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F1214"/>
        </a:solidFill>
      </p:bgPr>
    </p:bg>
    <p:spTree>
      <p:nvGrpSpPr>
        <p:cNvPr id="1" name=""/>
        <p:cNvGrpSpPr/>
        <p:nvPr/>
      </p:nvGrpSpPr>
      <p:grpSpPr>
        <a:xfrm>
          <a:off x="0" y="0"/>
          <a:ext cx="0" cy="0"/>
          <a:chOff x="0" y="0"/>
          <a:chExt cx="0" cy="0"/>
        </a:xfrm>
      </p:grpSpPr>
      <p:sp>
        <p:nvSpPr>
          <p:cNvPr id="2" name="Text 0"/>
          <p:cNvSpPr txBox="1"/>
          <p:nvPr/>
        </p:nvSpPr>
        <p:spPr>
          <a:xfrm>
            <a:off x="731520" y="274320"/>
            <a:ext cx="7680960" cy="502920"/>
          </a:xfrm>
          <a:prstGeom prst="rect">
            <a:avLst/>
          </a:prstGeom>
          <a:noFill/>
          <a:ln/>
        </p:spPr>
        <p:txBody>
          <a:bodyPr wrap="square" lIns="0" tIns="0" rIns="0" bIns="0" rtlCol="0" anchor="ctr"/>
          <a:lstStyle/>
          <a:p>
            <a:pPr indent="0" marL="0">
              <a:buNone/>
            </a:pPr>
            <a:r>
              <a:rPr lang="en-US" sz="2000" b="1" dirty="0">
                <a:solidFill>
                  <a:srgbClr val="3B968F"/>
                </a:solidFill>
                <a:latin typeface="Calibri" pitchFamily="34" charset="0"/>
                <a:ea typeface="Calibri" pitchFamily="34" charset="-122"/>
                <a:cs typeface="Calibri" pitchFamily="34" charset="-120"/>
              </a:rPr>
              <a:t>RÈGLES DE SÉCURITÉ :</a:t>
            </a:r>
            <a:endParaRPr lang="en-US" sz="2000" dirty="0"/>
          </a:p>
        </p:txBody>
      </p:sp>
      <p:sp>
        <p:nvSpPr>
          <p:cNvPr id="3" name="Text 1"/>
          <p:cNvSpPr txBox="1"/>
          <p:nvPr/>
        </p:nvSpPr>
        <p:spPr>
          <a:xfrm>
            <a:off x="731520" y="1005840"/>
            <a:ext cx="4206240" cy="34747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Activez toujours l'authentification à 2 facteurs (2FA)</a:t>
            </a:r>
            <a:endParaRPr lang="en-US" sz="1300" dirty="0"/>
          </a:p>
          <a:p>
            <a:pPr marL="342900" indent="-342900">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Ne partagez jamais votre seed phrase</a:t>
            </a:r>
            <a:endParaRPr lang="en-US" sz="1300" dirty="0"/>
          </a:p>
          <a:p>
            <a:pPr marL="342900" indent="-342900">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Utilisez des mots de passe uniques et forts</a:t>
            </a:r>
            <a:endParaRPr lang="en-US" sz="1300" dirty="0"/>
          </a:p>
        </p:txBody>
      </p:sp>
      <p:sp>
        <p:nvSpPr>
          <p:cNvPr id="4" name="Shape 2"/>
          <p:cNvSpPr/>
          <p:nvPr/>
        </p:nvSpPr>
        <p:spPr>
          <a:xfrm>
            <a:off x="5120640" y="1005840"/>
            <a:ext cx="3474720" cy="640080"/>
          </a:xfrm>
          <a:prstGeom prst="roundRect">
            <a:avLst>
              <a:gd name="adj" fmla="val 14286"/>
            </a:avLst>
          </a:prstGeom>
          <a:solidFill>
            <a:srgbClr val="1A2026"/>
          </a:solidFill>
          <a:ln/>
        </p:spPr>
      </p:sp>
      <p:pic>
        <p:nvPicPr>
          <p:cNvPr id="5" name="Image 0" descr="preencoded.png">    </p:cNvPr>
          <p:cNvPicPr>
            <a:picLocks noChangeAspect="1"/>
          </p:cNvPicPr>
          <p:nvPr/>
        </p:nvPicPr>
        <p:blipFill>
          <a:blip r:embed="rId1"/>
          <a:stretch>
            <a:fillRect/>
          </a:stretch>
        </p:blipFill>
        <p:spPr>
          <a:xfrm>
            <a:off x="5257800" y="1106424"/>
            <a:ext cx="438912" cy="438912"/>
          </a:xfrm>
          <a:prstGeom prst="rect">
            <a:avLst/>
          </a:prstGeom>
        </p:spPr>
      </p:pic>
      <p:sp>
        <p:nvSpPr>
          <p:cNvPr id="6" name="Text 3"/>
          <p:cNvSpPr txBox="1"/>
          <p:nvPr/>
        </p:nvSpPr>
        <p:spPr>
          <a:xfrm>
            <a:off x="5806440" y="1005840"/>
            <a:ext cx="2651760" cy="640080"/>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Méfiez-vous des rendements "garantis"</a:t>
            </a:r>
            <a:endParaRPr lang="en-US" sz="1200" dirty="0"/>
          </a:p>
        </p:txBody>
      </p:sp>
      <p:sp>
        <p:nvSpPr>
          <p:cNvPr id="7" name="Shape 4"/>
          <p:cNvSpPr/>
          <p:nvPr/>
        </p:nvSpPr>
        <p:spPr>
          <a:xfrm>
            <a:off x="5120640" y="1737360"/>
            <a:ext cx="3474720" cy="640080"/>
          </a:xfrm>
          <a:prstGeom prst="roundRect">
            <a:avLst>
              <a:gd name="adj" fmla="val 14286"/>
            </a:avLst>
          </a:prstGeom>
          <a:solidFill>
            <a:srgbClr val="1A2026"/>
          </a:solidFill>
          <a:ln/>
        </p:spPr>
      </p:sp>
      <p:pic>
        <p:nvPicPr>
          <p:cNvPr id="8" name="Image 1" descr="preencoded.png">    </p:cNvPr>
          <p:cNvPicPr>
            <a:picLocks noChangeAspect="1"/>
          </p:cNvPicPr>
          <p:nvPr/>
        </p:nvPicPr>
        <p:blipFill>
          <a:blip r:embed="rId2"/>
          <a:stretch>
            <a:fillRect/>
          </a:stretch>
        </p:blipFill>
        <p:spPr>
          <a:xfrm>
            <a:off x="5257800" y="1837944"/>
            <a:ext cx="438912" cy="438912"/>
          </a:xfrm>
          <a:prstGeom prst="rect">
            <a:avLst/>
          </a:prstGeom>
        </p:spPr>
      </p:pic>
      <p:sp>
        <p:nvSpPr>
          <p:cNvPr id="9" name="Text 5"/>
          <p:cNvSpPr txBox="1"/>
          <p:nvPr/>
        </p:nvSpPr>
        <p:spPr>
          <a:xfrm>
            <a:off x="5806440" y="1737360"/>
            <a:ext cx="2651760" cy="640080"/>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Faites vos propres recherches (DYOR)</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A2026"/>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20040"/>
            <a:ext cx="457200" cy="457200"/>
          </a:xfrm>
          <a:prstGeom prst="rect">
            <a:avLst/>
          </a:prstGeom>
        </p:spPr>
      </p:pic>
      <p:sp>
        <p:nvSpPr>
          <p:cNvPr id="3" name="Text 0"/>
          <p:cNvSpPr txBox="1"/>
          <p:nvPr/>
        </p:nvSpPr>
        <p:spPr>
          <a:xfrm>
            <a:off x="1280160" y="365760"/>
            <a:ext cx="2743200" cy="320040"/>
          </a:xfrm>
          <a:prstGeom prst="rect">
            <a:avLst/>
          </a:prstGeom>
          <a:noFill/>
          <a:ln/>
        </p:spPr>
        <p:txBody>
          <a:bodyPr wrap="square" lIns="0" tIns="0" rIns="0" bIns="0" rtlCol="0" anchor="ctr"/>
          <a:lstStyle/>
          <a:p>
            <a:pPr indent="0" marL="0">
              <a:buNone/>
            </a:pPr>
            <a:r>
              <a:rPr lang="en-US" sz="1200" b="1" spc="300" kern="0" dirty="0">
                <a:solidFill>
                  <a:srgbClr val="5BC1B8"/>
                </a:solidFill>
                <a:latin typeface="Calibri" pitchFamily="34" charset="0"/>
                <a:ea typeface="Calibri" pitchFamily="34" charset="-122"/>
                <a:cs typeface="Calibri" pitchFamily="34" charset="-120"/>
              </a:rPr>
              <a:t>A RETENIR</a:t>
            </a:r>
            <a:endParaRPr lang="en-US" sz="1200" dirty="0"/>
          </a:p>
        </p:txBody>
      </p:sp>
      <p:sp>
        <p:nvSpPr>
          <p:cNvPr id="4" name="Text 1"/>
          <p:cNvSpPr txBox="1"/>
          <p:nvPr/>
        </p:nvSpPr>
        <p:spPr>
          <a:xfrm>
            <a:off x="731520" y="822960"/>
            <a:ext cx="7680960" cy="45720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Éviter les arnaques crypto</a:t>
            </a:r>
            <a:endParaRPr lang="en-US" sz="2000" dirty="0"/>
          </a:p>
        </p:txBody>
      </p:sp>
      <p:sp>
        <p:nvSpPr>
          <p:cNvPr id="5" name="Shape 2"/>
          <p:cNvSpPr/>
          <p:nvPr/>
        </p:nvSpPr>
        <p:spPr>
          <a:xfrm>
            <a:off x="731520" y="1463040"/>
            <a:ext cx="7680960" cy="548640"/>
          </a:xfrm>
          <a:prstGeom prst="roundRect">
            <a:avLst>
              <a:gd name="adj" fmla="val 13333"/>
            </a:avLst>
          </a:prstGeom>
          <a:solidFill>
            <a:srgbClr val="0F1214"/>
          </a:solidFill>
          <a:ln/>
        </p:spPr>
      </p:sp>
      <p:sp>
        <p:nvSpPr>
          <p:cNvPr id="6" name="Text 3"/>
          <p:cNvSpPr txBox="1"/>
          <p:nvPr/>
        </p:nvSpPr>
        <p:spPr>
          <a:xfrm>
            <a:off x="914400" y="1463040"/>
            <a:ext cx="411480" cy="548640"/>
          </a:xfrm>
          <a:prstGeom prst="roundRect">
            <a:avLst>
              <a:gd name="adj" fmla="val 48889"/>
            </a:avLst>
          </a:prstGeom>
          <a:solidFill>
            <a:srgbClr val="3B968F"/>
          </a:solidFill>
          <a:ln/>
        </p:spPr>
        <p:txBody>
          <a:bodyPr wrap="square" lIns="0" tIns="0" rIns="0" bIns="0" rtlCol="0" anchor="ctr"/>
          <a:lstStyle/>
          <a:p>
            <a:pPr algn="ctr" indent="0" marL="0">
              <a:buNone/>
            </a:pPr>
            <a:r>
              <a:rPr lang="en-US" sz="1500" b="1" dirty="0">
                <a:solidFill>
                  <a:srgbClr val="0F1214"/>
                </a:solidFill>
                <a:latin typeface="Calibri" pitchFamily="34" charset="0"/>
                <a:ea typeface="Calibri" pitchFamily="34" charset="-122"/>
                <a:cs typeface="Calibri" pitchFamily="34" charset="-120"/>
              </a:rPr>
              <a:t>1</a:t>
            </a:r>
            <a:endParaRPr lang="en-US" sz="1500" dirty="0"/>
          </a:p>
        </p:txBody>
      </p:sp>
      <p:sp>
        <p:nvSpPr>
          <p:cNvPr id="7" name="Text 4"/>
          <p:cNvSpPr txBox="1"/>
          <p:nvPr/>
        </p:nvSpPr>
        <p:spPr>
          <a:xfrm>
            <a:off x="1508760" y="1463040"/>
            <a:ext cx="6766560" cy="54864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FAUX GIVEAWAYS — "Envoyez 1 BTC, recevez 2 BTC" → TOUJOURS une arnaque.</a:t>
            </a:r>
            <a:endParaRPr lang="en-US" sz="1300" dirty="0"/>
          </a:p>
        </p:txBody>
      </p:sp>
      <p:sp>
        <p:nvSpPr>
          <p:cNvPr id="8" name="Shape 5"/>
          <p:cNvSpPr/>
          <p:nvPr/>
        </p:nvSpPr>
        <p:spPr>
          <a:xfrm>
            <a:off x="731520" y="2103120"/>
            <a:ext cx="7680960" cy="548640"/>
          </a:xfrm>
          <a:prstGeom prst="roundRect">
            <a:avLst>
              <a:gd name="adj" fmla="val 13333"/>
            </a:avLst>
          </a:prstGeom>
          <a:solidFill>
            <a:srgbClr val="0F1214"/>
          </a:solidFill>
          <a:ln/>
        </p:spPr>
      </p:sp>
      <p:sp>
        <p:nvSpPr>
          <p:cNvPr id="9" name="Text 6"/>
          <p:cNvSpPr txBox="1"/>
          <p:nvPr/>
        </p:nvSpPr>
        <p:spPr>
          <a:xfrm>
            <a:off x="914400" y="2103120"/>
            <a:ext cx="411480" cy="548640"/>
          </a:xfrm>
          <a:prstGeom prst="roundRect">
            <a:avLst>
              <a:gd name="adj" fmla="val 48889"/>
            </a:avLst>
          </a:prstGeom>
          <a:solidFill>
            <a:srgbClr val="3B968F"/>
          </a:solidFill>
          <a:ln/>
        </p:spPr>
        <p:txBody>
          <a:bodyPr wrap="square" lIns="0" tIns="0" rIns="0" bIns="0" rtlCol="0" anchor="ctr"/>
          <a:lstStyle/>
          <a:p>
            <a:pPr algn="ctr" indent="0" marL="0">
              <a:buNone/>
            </a:pPr>
            <a:r>
              <a:rPr lang="en-US" sz="1500" b="1" dirty="0">
                <a:solidFill>
                  <a:srgbClr val="0F1214"/>
                </a:solidFill>
                <a:latin typeface="Calibri" pitchFamily="34" charset="0"/>
                <a:ea typeface="Calibri" pitchFamily="34" charset="-122"/>
                <a:cs typeface="Calibri" pitchFamily="34" charset="-120"/>
              </a:rPr>
              <a:t>2</a:t>
            </a:r>
            <a:endParaRPr lang="en-US" sz="1500" dirty="0"/>
          </a:p>
        </p:txBody>
      </p:sp>
      <p:sp>
        <p:nvSpPr>
          <p:cNvPr id="10" name="Text 7"/>
          <p:cNvSpPr txBox="1"/>
          <p:nvPr/>
        </p:nvSpPr>
        <p:spPr>
          <a:xfrm>
            <a:off x="1508760" y="2103120"/>
            <a:ext cx="6766560" cy="54864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PHISHING — Faux sites qui imitent des exchanges. Vérifiez TOUJOURS l'URL.</a:t>
            </a:r>
            <a:endParaRPr lang="en-US" sz="1300" dirty="0"/>
          </a:p>
        </p:txBody>
      </p:sp>
      <p:sp>
        <p:nvSpPr>
          <p:cNvPr id="11" name="Shape 8"/>
          <p:cNvSpPr/>
          <p:nvPr/>
        </p:nvSpPr>
        <p:spPr>
          <a:xfrm>
            <a:off x="731520" y="2743200"/>
            <a:ext cx="7680960" cy="548640"/>
          </a:xfrm>
          <a:prstGeom prst="roundRect">
            <a:avLst>
              <a:gd name="adj" fmla="val 13333"/>
            </a:avLst>
          </a:prstGeom>
          <a:solidFill>
            <a:srgbClr val="0F1214"/>
          </a:solidFill>
          <a:ln/>
        </p:spPr>
      </p:sp>
      <p:sp>
        <p:nvSpPr>
          <p:cNvPr id="12" name="Text 9"/>
          <p:cNvSpPr txBox="1"/>
          <p:nvPr/>
        </p:nvSpPr>
        <p:spPr>
          <a:xfrm>
            <a:off x="914400" y="2743200"/>
            <a:ext cx="411480" cy="548640"/>
          </a:xfrm>
          <a:prstGeom prst="roundRect">
            <a:avLst>
              <a:gd name="adj" fmla="val 48889"/>
            </a:avLst>
          </a:prstGeom>
          <a:solidFill>
            <a:srgbClr val="3B968F"/>
          </a:solidFill>
          <a:ln/>
        </p:spPr>
        <p:txBody>
          <a:bodyPr wrap="square" lIns="0" tIns="0" rIns="0" bIns="0" rtlCol="0" anchor="ctr"/>
          <a:lstStyle/>
          <a:p>
            <a:pPr algn="ctr" indent="0" marL="0">
              <a:buNone/>
            </a:pPr>
            <a:r>
              <a:rPr lang="en-US" sz="1500" b="1" dirty="0">
                <a:solidFill>
                  <a:srgbClr val="0F1214"/>
                </a:solidFill>
                <a:latin typeface="Calibri" pitchFamily="34" charset="0"/>
                <a:ea typeface="Calibri" pitchFamily="34" charset="-122"/>
                <a:cs typeface="Calibri" pitchFamily="34" charset="-120"/>
              </a:rPr>
              <a:t>3</a:t>
            </a:r>
            <a:endParaRPr lang="en-US" sz="1500" dirty="0"/>
          </a:p>
        </p:txBody>
      </p:sp>
      <p:sp>
        <p:nvSpPr>
          <p:cNvPr id="13" name="Text 10"/>
          <p:cNvSpPr txBox="1"/>
          <p:nvPr/>
        </p:nvSpPr>
        <p:spPr>
          <a:xfrm>
            <a:off x="1508760" y="2743200"/>
            <a:ext cx="6766560" cy="54864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PUMP AND DUMP — Un groupe fait monter artificiellement le prix puis vend tout.</a:t>
            </a:r>
            <a:endParaRPr lang="en-US" sz="1300" dirty="0"/>
          </a:p>
        </p:txBody>
      </p:sp>
      <p:sp>
        <p:nvSpPr>
          <p:cNvPr id="14" name="Shape 11"/>
          <p:cNvSpPr/>
          <p:nvPr/>
        </p:nvSpPr>
        <p:spPr>
          <a:xfrm>
            <a:off x="731520" y="3383280"/>
            <a:ext cx="7680960" cy="548640"/>
          </a:xfrm>
          <a:prstGeom prst="roundRect">
            <a:avLst>
              <a:gd name="adj" fmla="val 13333"/>
            </a:avLst>
          </a:prstGeom>
          <a:solidFill>
            <a:srgbClr val="0F1214"/>
          </a:solidFill>
          <a:ln/>
        </p:spPr>
      </p:sp>
      <p:sp>
        <p:nvSpPr>
          <p:cNvPr id="15" name="Text 12"/>
          <p:cNvSpPr txBox="1"/>
          <p:nvPr/>
        </p:nvSpPr>
        <p:spPr>
          <a:xfrm>
            <a:off x="914400" y="3383280"/>
            <a:ext cx="411480" cy="548640"/>
          </a:xfrm>
          <a:prstGeom prst="roundRect">
            <a:avLst>
              <a:gd name="adj" fmla="val 48889"/>
            </a:avLst>
          </a:prstGeom>
          <a:solidFill>
            <a:srgbClr val="3B968F"/>
          </a:solidFill>
          <a:ln/>
        </p:spPr>
        <p:txBody>
          <a:bodyPr wrap="square" lIns="0" tIns="0" rIns="0" bIns="0" rtlCol="0" anchor="ctr"/>
          <a:lstStyle/>
          <a:p>
            <a:pPr algn="ctr" indent="0" marL="0">
              <a:buNone/>
            </a:pPr>
            <a:r>
              <a:rPr lang="en-US" sz="1500" b="1" dirty="0">
                <a:solidFill>
                  <a:srgbClr val="0F1214"/>
                </a:solidFill>
                <a:latin typeface="Calibri" pitchFamily="34" charset="0"/>
                <a:ea typeface="Calibri" pitchFamily="34" charset="-122"/>
                <a:cs typeface="Calibri" pitchFamily="34" charset="-120"/>
              </a:rPr>
              <a:t>4</a:t>
            </a:r>
            <a:endParaRPr lang="en-US" sz="1500" dirty="0"/>
          </a:p>
        </p:txBody>
      </p:sp>
      <p:sp>
        <p:nvSpPr>
          <p:cNvPr id="16" name="Text 13"/>
          <p:cNvSpPr txBox="1"/>
          <p:nvPr/>
        </p:nvSpPr>
        <p:spPr>
          <a:xfrm>
            <a:off x="1508760" y="3383280"/>
            <a:ext cx="6766560" cy="54864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RUG PULLS — Un projet promet des rendements incroyables puis les créateurs disparaissent.</a:t>
            </a:r>
            <a:endParaRPr lang="en-US" sz="1300" dirty="0"/>
          </a:p>
        </p:txBody>
      </p:sp>
      <p:sp>
        <p:nvSpPr>
          <p:cNvPr id="17" name="Shape 14"/>
          <p:cNvSpPr/>
          <p:nvPr/>
        </p:nvSpPr>
        <p:spPr>
          <a:xfrm>
            <a:off x="731520" y="4023360"/>
            <a:ext cx="7680960" cy="548640"/>
          </a:xfrm>
          <a:prstGeom prst="roundRect">
            <a:avLst>
              <a:gd name="adj" fmla="val 13333"/>
            </a:avLst>
          </a:prstGeom>
          <a:solidFill>
            <a:srgbClr val="0F1214"/>
          </a:solidFill>
          <a:ln/>
        </p:spPr>
      </p:sp>
      <p:sp>
        <p:nvSpPr>
          <p:cNvPr id="18" name="Text 15"/>
          <p:cNvSpPr txBox="1"/>
          <p:nvPr/>
        </p:nvSpPr>
        <p:spPr>
          <a:xfrm>
            <a:off x="914400" y="4023360"/>
            <a:ext cx="411480" cy="548640"/>
          </a:xfrm>
          <a:prstGeom prst="roundRect">
            <a:avLst>
              <a:gd name="adj" fmla="val 48889"/>
            </a:avLst>
          </a:prstGeom>
          <a:solidFill>
            <a:srgbClr val="3B968F"/>
          </a:solidFill>
          <a:ln/>
        </p:spPr>
        <p:txBody>
          <a:bodyPr wrap="square" lIns="0" tIns="0" rIns="0" bIns="0" rtlCol="0" anchor="ctr"/>
          <a:lstStyle/>
          <a:p>
            <a:pPr algn="ctr" indent="0" marL="0">
              <a:buNone/>
            </a:pPr>
            <a:r>
              <a:rPr lang="en-US" sz="1500" b="1" dirty="0">
                <a:solidFill>
                  <a:srgbClr val="0F1214"/>
                </a:solidFill>
                <a:latin typeface="Calibri" pitchFamily="34" charset="0"/>
                <a:ea typeface="Calibri" pitchFamily="34" charset="-122"/>
                <a:cs typeface="Calibri" pitchFamily="34" charset="-120"/>
              </a:rPr>
              <a:t>5</a:t>
            </a:r>
            <a:endParaRPr lang="en-US" sz="1500" dirty="0"/>
          </a:p>
        </p:txBody>
      </p:sp>
      <p:sp>
        <p:nvSpPr>
          <p:cNvPr id="19" name="Text 16"/>
          <p:cNvSpPr txBox="1"/>
          <p:nvPr/>
        </p:nvSpPr>
        <p:spPr>
          <a:xfrm>
            <a:off x="1508760" y="4023360"/>
            <a:ext cx="6766560" cy="54864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ARNAQUES PAR MESSAGE — "Votre compte est bloqué, envoyez vos identifiants" → Faux.</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2181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0" y="548640"/>
            <a:ext cx="1280160" cy="1280160"/>
          </a:xfrm>
          <a:prstGeom prst="rect">
            <a:avLst/>
          </a:prstGeom>
        </p:spPr>
      </p:pic>
      <p:pic>
        <p:nvPicPr>
          <p:cNvPr id="3" name="Image 1" descr="preencoded.png">    </p:cNvPr>
          <p:cNvPicPr>
            <a:picLocks noChangeAspect="1"/>
          </p:cNvPicPr>
          <p:nvPr/>
        </p:nvPicPr>
        <p:blipFill>
          <a:blip r:embed="rId2"/>
          <a:stretch>
            <a:fillRect/>
          </a:stretch>
        </p:blipFill>
        <p:spPr>
          <a:xfrm>
            <a:off x="7772400" y="2011680"/>
            <a:ext cx="822960" cy="822960"/>
          </a:xfrm>
          <a:prstGeom prst="rect">
            <a:avLst/>
          </a:prstGeom>
        </p:spPr>
      </p:pic>
      <p:sp>
        <p:nvSpPr>
          <p:cNvPr id="4" name="Shape 0"/>
          <p:cNvSpPr/>
          <p:nvPr/>
        </p:nvSpPr>
        <p:spPr>
          <a:xfrm>
            <a:off x="6583680" y="-274320"/>
            <a:ext cx="3200400" cy="3200400"/>
          </a:xfrm>
          <a:prstGeom prst="ellipse">
            <a:avLst/>
          </a:prstGeom>
          <a:solidFill>
            <a:srgbClr val="3B968F">
              <a:alpha val="6000"/>
            </a:srgbClr>
          </a:solidFill>
          <a:ln/>
        </p:spPr>
      </p:sp>
      <p:sp>
        <p:nvSpPr>
          <p:cNvPr id="5" name="Shape 1"/>
          <p:cNvSpPr/>
          <p:nvPr/>
        </p:nvSpPr>
        <p:spPr>
          <a:xfrm>
            <a:off x="731520" y="914400"/>
            <a:ext cx="45720" cy="2194560"/>
          </a:xfrm>
          <a:prstGeom prst="rect">
            <a:avLst/>
          </a:prstGeom>
          <a:solidFill>
            <a:srgbClr val="3B968F"/>
          </a:solidFill>
          <a:ln/>
        </p:spPr>
      </p:sp>
      <p:sp>
        <p:nvSpPr>
          <p:cNvPr id="6" name="Text 2"/>
          <p:cNvSpPr txBox="1"/>
          <p:nvPr/>
        </p:nvSpPr>
        <p:spPr>
          <a:xfrm>
            <a:off x="960120" y="914400"/>
            <a:ext cx="2743200" cy="365760"/>
          </a:xfrm>
          <a:prstGeom prst="rect">
            <a:avLst/>
          </a:prstGeom>
          <a:noFill/>
          <a:ln/>
        </p:spPr>
        <p:txBody>
          <a:bodyPr wrap="square" lIns="0" tIns="0" rIns="0" bIns="0" rtlCol="0" anchor="ctr"/>
          <a:lstStyle/>
          <a:p>
            <a:pPr indent="0" marL="0">
              <a:buNone/>
            </a:pPr>
            <a:r>
              <a:rPr lang="en-US" sz="1200" b="1" spc="200" kern="0" dirty="0">
                <a:solidFill>
                  <a:srgbClr val="3B968F"/>
                </a:solidFill>
                <a:latin typeface="Calibri" pitchFamily="34" charset="0"/>
                <a:ea typeface="Calibri" pitchFamily="34" charset="-122"/>
                <a:cs typeface="Calibri" pitchFamily="34" charset="-120"/>
              </a:rPr>
              <a:t>Leçon 3 / 4</a:t>
            </a:r>
            <a:endParaRPr lang="en-US" sz="1200" dirty="0"/>
          </a:p>
        </p:txBody>
      </p:sp>
      <p:sp>
        <p:nvSpPr>
          <p:cNvPr id="7" name="Text 3"/>
          <p:cNvSpPr txBox="1"/>
          <p:nvPr/>
        </p:nvSpPr>
        <p:spPr>
          <a:xfrm>
            <a:off x="960120" y="1371600"/>
            <a:ext cx="6217920" cy="146304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Pourquoi apprendre la crypto en 2026 ?</a:t>
            </a:r>
            <a:endParaRPr lang="en-US" sz="2800" dirty="0"/>
          </a:p>
        </p:txBody>
      </p:sp>
      <p:sp>
        <p:nvSpPr>
          <p:cNvPr id="8" name="Text 4"/>
          <p:cNvSpPr txBox="1"/>
          <p:nvPr/>
        </p:nvSpPr>
        <p:spPr>
          <a:xfrm>
            <a:off x="960120" y="4114800"/>
            <a:ext cx="5486400" cy="320040"/>
          </a:xfrm>
          <a:prstGeom prst="rect">
            <a:avLst/>
          </a:prstGeom>
          <a:noFill/>
          <a:ln/>
        </p:spPr>
        <p:txBody>
          <a:bodyPr wrap="square" lIns="0" tIns="0" rIns="0" bIns="0" rtlCol="0" anchor="ctr"/>
          <a:lstStyle/>
          <a:p>
            <a:pPr indent="0" marL="0">
              <a:buNone/>
            </a:pPr>
            <a:r>
              <a:rPr lang="en-US" sz="1100" dirty="0">
                <a:solidFill>
                  <a:srgbClr val="5B6672"/>
                </a:solidFill>
                <a:latin typeface="Calibri" pitchFamily="34" charset="0"/>
                <a:ea typeface="Calibri" pitchFamily="34" charset="-122"/>
                <a:cs typeface="Calibri" pitchFamily="34" charset="-120"/>
              </a:rPr>
              <a:t>Sécurité et portefeuilles</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1214"/>
        </a:solidFill>
      </p:bgPr>
    </p:bg>
    <p:spTree>
      <p:nvGrpSpPr>
        <p:cNvPr id="1" name=""/>
        <p:cNvGrpSpPr/>
        <p:nvPr/>
      </p:nvGrpSpPr>
      <p:grpSpPr>
        <a:xfrm>
          <a:off x="0" y="0"/>
          <a:ext cx="0" cy="0"/>
          <a:chOff x="0" y="0"/>
          <a:chExt cx="0" cy="0"/>
        </a:xfrm>
      </p:grpSpPr>
      <p:sp>
        <p:nvSpPr>
          <p:cNvPr id="2" name="Shape 0"/>
          <p:cNvSpPr/>
          <p:nvPr/>
        </p:nvSpPr>
        <p:spPr>
          <a:xfrm>
            <a:off x="7955280" y="182880"/>
            <a:ext cx="640080" cy="640080"/>
          </a:xfrm>
          <a:prstGeom prst="ellipse">
            <a:avLst/>
          </a:prstGeom>
          <a:solidFill>
            <a:srgbClr val="3B968F">
              <a:alpha val="12000"/>
            </a:srgbClr>
          </a:solidFill>
          <a:ln/>
        </p:spPr>
      </p:sp>
      <p:pic>
        <p:nvPicPr>
          <p:cNvPr id="3" name="Image 0" descr="preencoded.png">    </p:cNvPr>
          <p:cNvPicPr>
            <a:picLocks noChangeAspect="1"/>
          </p:cNvPicPr>
          <p:nvPr/>
        </p:nvPicPr>
        <p:blipFill>
          <a:blip r:embed="rId1"/>
          <a:stretch>
            <a:fillRect/>
          </a:stretch>
        </p:blipFill>
        <p:spPr>
          <a:xfrm>
            <a:off x="8028432" y="256032"/>
            <a:ext cx="493776" cy="493776"/>
          </a:xfrm>
          <a:prstGeom prst="rect">
            <a:avLst/>
          </a:prstGeom>
        </p:spPr>
      </p:pic>
      <p:sp>
        <p:nvSpPr>
          <p:cNvPr id="4" name="Text 1"/>
          <p:cNvSpPr txBox="1"/>
          <p:nvPr/>
        </p:nvSpPr>
        <p:spPr>
          <a:xfrm>
            <a:off x="731520" y="457200"/>
            <a:ext cx="7680960" cy="36576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La crypto n'est plus une curiosité de geek. En 2026, plus de 500 millions de personnes détiennent au moins un actif numérique dans le monde, et l'Afrique de l'Ouest est l'une de...</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Pourquoi ? Parce que la crypto résout des problèmes concrets :</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Envoyer de l'argent à l'étranger en quelques minutes, pour quelques centimes de frais.</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Se protéger contre l'inflation en détenant un actif stable (USDT est adossé au dollar).</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Recevoir des paiements internationaux sans passer par une banque.</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Épargner sur des protocoles qui rapportent 5 à 10% par an.</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Ce cours est votre point de départ. Vous n'avez besoin d'AUCUN prérequis technique. Nous allons construire votre compréhension brique par brique, avec des exemples concrets tiré...</a:t>
            </a:r>
            <a:endParaRPr lang="en-US" sz="1400" dirty="0"/>
          </a:p>
        </p:txBody>
      </p:sp>
      <p:sp>
        <p:nvSpPr>
          <p:cNvPr id="5" name="Text 2"/>
          <p:cNvSpPr txBox="1"/>
          <p:nvPr/>
        </p:nvSpPr>
        <p:spPr>
          <a:xfrm>
            <a:off x="731520" y="4709160"/>
            <a:ext cx="7680960" cy="274320"/>
          </a:xfrm>
          <a:prstGeom prst="rect">
            <a:avLst/>
          </a:prstGeom>
          <a:noFill/>
          <a:ln/>
        </p:spPr>
        <p:txBody>
          <a:bodyPr wrap="square" lIns="0" tIns="0" rIns="0" bIns="0" rtlCol="0" anchor="ctr"/>
          <a:lstStyle/>
          <a:p>
            <a:pPr algn="r" indent="0" marL="0">
              <a:buNone/>
            </a:pPr>
            <a:r>
              <a:rPr lang="en-US" sz="900" dirty="0">
                <a:solidFill>
                  <a:srgbClr val="5B6672"/>
                </a:solidFill>
                <a:latin typeface="Calibri" pitchFamily="34" charset="0"/>
                <a:ea typeface="Calibri" pitchFamily="34" charset="-122"/>
                <a:cs typeface="Calibri" pitchFamily="34" charset="-120"/>
              </a:rPr>
              <a:t>Module 2 — Leçon 3</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F1214"/>
        </a:solidFill>
      </p:bgPr>
    </p:bg>
    <p:spTree>
      <p:nvGrpSpPr>
        <p:cNvPr id="1" name=""/>
        <p:cNvGrpSpPr/>
        <p:nvPr/>
      </p:nvGrpSpPr>
      <p:grpSpPr>
        <a:xfrm>
          <a:off x="0" y="0"/>
          <a:ext cx="0" cy="0"/>
          <a:chOff x="0" y="0"/>
          <a:chExt cx="0" cy="0"/>
        </a:xfrm>
      </p:grpSpPr>
      <p:sp>
        <p:nvSpPr>
          <p:cNvPr id="2" name="Text 0"/>
          <p:cNvSpPr txBox="1"/>
          <p:nvPr/>
        </p:nvSpPr>
        <p:spPr>
          <a:xfrm>
            <a:off x="731520" y="457200"/>
            <a:ext cx="4206240" cy="34747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À la fin du parcours, vous saurez :</a:t>
            </a:r>
            <a:endParaRPr lang="en-US" sz="1300" dirty="0"/>
          </a:p>
          <a:p>
            <a:pPr marL="342900" indent="-342900">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Ce qu'est vraiment une blockchain, en langage simple.</a:t>
            </a:r>
            <a:endParaRPr lang="en-US" sz="1300" dirty="0"/>
          </a:p>
          <a:p>
            <a:pPr marL="342900" indent="-342900">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La différence entre Bitcoin, Ethereum et les stablecoins.</a:t>
            </a:r>
            <a:endParaRPr lang="en-US" sz="1300" dirty="0"/>
          </a:p>
          <a:p>
            <a:pPr marL="342900" indent="-342900">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Comment créer et sécuriser votre premier portefeuille.</a:t>
            </a:r>
            <a:endParaRPr lang="en-US" sz="1300" dirty="0"/>
          </a:p>
        </p:txBody>
      </p:sp>
      <p:sp>
        <p:nvSpPr>
          <p:cNvPr id="3" name="Shape 1"/>
          <p:cNvSpPr/>
          <p:nvPr/>
        </p:nvSpPr>
        <p:spPr>
          <a:xfrm>
            <a:off x="5120640" y="457200"/>
            <a:ext cx="3474720" cy="640080"/>
          </a:xfrm>
          <a:prstGeom prst="roundRect">
            <a:avLst>
              <a:gd name="adj" fmla="val 14286"/>
            </a:avLst>
          </a:prstGeom>
          <a:solidFill>
            <a:srgbClr val="1A2026"/>
          </a:solidFill>
          <a:ln/>
        </p:spPr>
      </p:sp>
      <p:pic>
        <p:nvPicPr>
          <p:cNvPr id="4" name="Image 0" descr="preencoded.png">    </p:cNvPr>
          <p:cNvPicPr>
            <a:picLocks noChangeAspect="1"/>
          </p:cNvPicPr>
          <p:nvPr/>
        </p:nvPicPr>
        <p:blipFill>
          <a:blip r:embed="rId1"/>
          <a:stretch>
            <a:fillRect/>
          </a:stretch>
        </p:blipFill>
        <p:spPr>
          <a:xfrm>
            <a:off x="5257800" y="557784"/>
            <a:ext cx="438912" cy="438912"/>
          </a:xfrm>
          <a:prstGeom prst="rect">
            <a:avLst/>
          </a:prstGeom>
        </p:spPr>
      </p:pic>
      <p:sp>
        <p:nvSpPr>
          <p:cNvPr id="5" name="Text 2"/>
          <p:cNvSpPr txBox="1"/>
          <p:nvPr/>
        </p:nvSpPr>
        <p:spPr>
          <a:xfrm>
            <a:off x="5806440" y="457200"/>
            <a:ext cx="2651760" cy="640080"/>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Comment acheter, envoyer et recevoir des USDT en toute sécurité.</a:t>
            </a:r>
            <a:endParaRPr lang="en-US" sz="1200" dirty="0"/>
          </a:p>
        </p:txBody>
      </p:sp>
      <p:sp>
        <p:nvSpPr>
          <p:cNvPr id="6" name="Shape 3"/>
          <p:cNvSpPr/>
          <p:nvPr/>
        </p:nvSpPr>
        <p:spPr>
          <a:xfrm>
            <a:off x="5120640" y="1188720"/>
            <a:ext cx="3474720" cy="640080"/>
          </a:xfrm>
          <a:prstGeom prst="roundRect">
            <a:avLst>
              <a:gd name="adj" fmla="val 14286"/>
            </a:avLst>
          </a:prstGeom>
          <a:solidFill>
            <a:srgbClr val="1A2026"/>
          </a:solidFill>
          <a:ln/>
        </p:spPr>
      </p:sp>
      <p:pic>
        <p:nvPicPr>
          <p:cNvPr id="7" name="Image 1" descr="preencoded.png">    </p:cNvPr>
          <p:cNvPicPr>
            <a:picLocks noChangeAspect="1"/>
          </p:cNvPicPr>
          <p:nvPr/>
        </p:nvPicPr>
        <p:blipFill>
          <a:blip r:embed="rId2"/>
          <a:stretch>
            <a:fillRect/>
          </a:stretch>
        </p:blipFill>
        <p:spPr>
          <a:xfrm>
            <a:off x="5257800" y="1289304"/>
            <a:ext cx="438912" cy="438912"/>
          </a:xfrm>
          <a:prstGeom prst="rect">
            <a:avLst/>
          </a:prstGeom>
        </p:spPr>
      </p:pic>
      <p:sp>
        <p:nvSpPr>
          <p:cNvPr id="8" name="Text 4"/>
          <p:cNvSpPr txBox="1"/>
          <p:nvPr/>
        </p:nvSpPr>
        <p:spPr>
          <a:xfrm>
            <a:off x="5806440" y="1188720"/>
            <a:ext cx="2651760" cy="640080"/>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Comment repérer les arnaques et protéger votre argent.</a:t>
            </a:r>
            <a:endParaRPr lang="en-US" sz="1200" dirty="0"/>
          </a:p>
        </p:txBody>
      </p:sp>
      <p:sp>
        <p:nvSpPr>
          <p:cNvPr id="9" name="Shape 5"/>
          <p:cNvSpPr/>
          <p:nvPr/>
        </p:nvSpPr>
        <p:spPr>
          <a:xfrm>
            <a:off x="5120640" y="1920240"/>
            <a:ext cx="3474720" cy="640080"/>
          </a:xfrm>
          <a:prstGeom prst="roundRect">
            <a:avLst>
              <a:gd name="adj" fmla="val 14286"/>
            </a:avLst>
          </a:prstGeom>
          <a:solidFill>
            <a:srgbClr val="1A2026"/>
          </a:solidFill>
          <a:ln/>
        </p:spPr>
      </p:sp>
      <p:pic>
        <p:nvPicPr>
          <p:cNvPr id="10" name="Image 2" descr="preencoded.png">    </p:cNvPr>
          <p:cNvPicPr>
            <a:picLocks noChangeAspect="1"/>
          </p:cNvPicPr>
          <p:nvPr/>
        </p:nvPicPr>
        <p:blipFill>
          <a:blip r:embed="rId3"/>
          <a:stretch>
            <a:fillRect/>
          </a:stretch>
        </p:blipFill>
        <p:spPr>
          <a:xfrm>
            <a:off x="5257800" y="2020824"/>
            <a:ext cx="438912" cy="438912"/>
          </a:xfrm>
          <a:prstGeom prst="rect">
            <a:avLst/>
          </a:prstGeom>
        </p:spPr>
      </p:pic>
      <p:sp>
        <p:nvSpPr>
          <p:cNvPr id="11" name="Text 6"/>
          <p:cNvSpPr txBox="1"/>
          <p:nvPr/>
        </p:nvSpPr>
        <p:spPr>
          <a:xfrm>
            <a:off x="5806440" y="1920240"/>
            <a:ext cx="2651760" cy="640080"/>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Prêt ? On y va.</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A2026"/>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20040"/>
            <a:ext cx="457200" cy="457200"/>
          </a:xfrm>
          <a:prstGeom prst="rect">
            <a:avLst/>
          </a:prstGeom>
        </p:spPr>
      </p:pic>
      <p:sp>
        <p:nvSpPr>
          <p:cNvPr id="3" name="Text 0"/>
          <p:cNvSpPr txBox="1"/>
          <p:nvPr/>
        </p:nvSpPr>
        <p:spPr>
          <a:xfrm>
            <a:off x="1280160" y="365760"/>
            <a:ext cx="2743200" cy="320040"/>
          </a:xfrm>
          <a:prstGeom prst="rect">
            <a:avLst/>
          </a:prstGeom>
          <a:noFill/>
          <a:ln/>
        </p:spPr>
        <p:txBody>
          <a:bodyPr wrap="square" lIns="0" tIns="0" rIns="0" bIns="0" rtlCol="0" anchor="ctr"/>
          <a:lstStyle/>
          <a:p>
            <a:pPr indent="0" marL="0">
              <a:buNone/>
            </a:pPr>
            <a:r>
              <a:rPr lang="en-US" sz="1200" b="1" spc="300" kern="0" dirty="0">
                <a:solidFill>
                  <a:srgbClr val="5BC1B8"/>
                </a:solidFill>
                <a:latin typeface="Calibri" pitchFamily="34" charset="0"/>
                <a:ea typeface="Calibri" pitchFamily="34" charset="-122"/>
                <a:cs typeface="Calibri" pitchFamily="34" charset="-120"/>
              </a:rPr>
              <a:t>A RETENIR</a:t>
            </a:r>
            <a:endParaRPr lang="en-US" sz="1200" dirty="0"/>
          </a:p>
        </p:txBody>
      </p:sp>
      <p:sp>
        <p:nvSpPr>
          <p:cNvPr id="4" name="Text 1"/>
          <p:cNvSpPr txBox="1"/>
          <p:nvPr/>
        </p:nvSpPr>
        <p:spPr>
          <a:xfrm>
            <a:off x="731520" y="822960"/>
            <a:ext cx="7680960" cy="45720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Pourquoi apprendre la crypto en 2026 ?</a:t>
            </a:r>
            <a:endParaRPr lang="en-US" sz="2000" dirty="0"/>
          </a:p>
        </p:txBody>
      </p:sp>
      <p:sp>
        <p:nvSpPr>
          <p:cNvPr id="5" name="Shape 2"/>
          <p:cNvSpPr/>
          <p:nvPr/>
        </p:nvSpPr>
        <p:spPr>
          <a:xfrm>
            <a:off x="731520" y="1463040"/>
            <a:ext cx="7680960" cy="548640"/>
          </a:xfrm>
          <a:prstGeom prst="roundRect">
            <a:avLst>
              <a:gd name="adj" fmla="val 13333"/>
            </a:avLst>
          </a:prstGeom>
          <a:solidFill>
            <a:srgbClr val="0F1214"/>
          </a:solidFill>
          <a:ln/>
        </p:spPr>
      </p:sp>
      <p:sp>
        <p:nvSpPr>
          <p:cNvPr id="6" name="Text 3"/>
          <p:cNvSpPr txBox="1"/>
          <p:nvPr/>
        </p:nvSpPr>
        <p:spPr>
          <a:xfrm>
            <a:off x="914400" y="1463040"/>
            <a:ext cx="411480" cy="548640"/>
          </a:xfrm>
          <a:prstGeom prst="roundRect">
            <a:avLst>
              <a:gd name="adj" fmla="val 48889"/>
            </a:avLst>
          </a:prstGeom>
          <a:solidFill>
            <a:srgbClr val="3B968F"/>
          </a:solidFill>
          <a:ln/>
        </p:spPr>
        <p:txBody>
          <a:bodyPr wrap="square" lIns="0" tIns="0" rIns="0" bIns="0" rtlCol="0" anchor="ctr"/>
          <a:lstStyle/>
          <a:p>
            <a:pPr algn="ctr" indent="0" marL="0">
              <a:buNone/>
            </a:pPr>
            <a:r>
              <a:rPr lang="en-US" sz="1500" b="1" dirty="0">
                <a:solidFill>
                  <a:srgbClr val="0F1214"/>
                </a:solidFill>
                <a:latin typeface="Calibri" pitchFamily="34" charset="0"/>
                <a:ea typeface="Calibri" pitchFamily="34" charset="-122"/>
                <a:cs typeface="Calibri" pitchFamily="34" charset="-120"/>
              </a:rPr>
              <a:t>1</a:t>
            </a:r>
            <a:endParaRPr lang="en-US" sz="1500" dirty="0"/>
          </a:p>
        </p:txBody>
      </p:sp>
      <p:sp>
        <p:nvSpPr>
          <p:cNvPr id="7" name="Text 4"/>
          <p:cNvSpPr txBox="1"/>
          <p:nvPr/>
        </p:nvSpPr>
        <p:spPr>
          <a:xfrm>
            <a:off x="1508760" y="1463040"/>
            <a:ext cx="6766560" cy="54864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Envoyer de l'argent à l'étranger en quelques minutes, pour quelques centimes de frais.</a:t>
            </a:r>
            <a:endParaRPr lang="en-US" sz="1300" dirty="0"/>
          </a:p>
        </p:txBody>
      </p:sp>
      <p:sp>
        <p:nvSpPr>
          <p:cNvPr id="8" name="Shape 5"/>
          <p:cNvSpPr/>
          <p:nvPr/>
        </p:nvSpPr>
        <p:spPr>
          <a:xfrm>
            <a:off x="731520" y="2103120"/>
            <a:ext cx="7680960" cy="548640"/>
          </a:xfrm>
          <a:prstGeom prst="roundRect">
            <a:avLst>
              <a:gd name="adj" fmla="val 13333"/>
            </a:avLst>
          </a:prstGeom>
          <a:solidFill>
            <a:srgbClr val="0F1214"/>
          </a:solidFill>
          <a:ln/>
        </p:spPr>
      </p:sp>
      <p:sp>
        <p:nvSpPr>
          <p:cNvPr id="9" name="Text 6"/>
          <p:cNvSpPr txBox="1"/>
          <p:nvPr/>
        </p:nvSpPr>
        <p:spPr>
          <a:xfrm>
            <a:off x="914400" y="2103120"/>
            <a:ext cx="411480" cy="548640"/>
          </a:xfrm>
          <a:prstGeom prst="roundRect">
            <a:avLst>
              <a:gd name="adj" fmla="val 48889"/>
            </a:avLst>
          </a:prstGeom>
          <a:solidFill>
            <a:srgbClr val="3B968F"/>
          </a:solidFill>
          <a:ln/>
        </p:spPr>
        <p:txBody>
          <a:bodyPr wrap="square" lIns="0" tIns="0" rIns="0" bIns="0" rtlCol="0" anchor="ctr"/>
          <a:lstStyle/>
          <a:p>
            <a:pPr algn="ctr" indent="0" marL="0">
              <a:buNone/>
            </a:pPr>
            <a:r>
              <a:rPr lang="en-US" sz="1500" b="1" dirty="0">
                <a:solidFill>
                  <a:srgbClr val="0F1214"/>
                </a:solidFill>
                <a:latin typeface="Calibri" pitchFamily="34" charset="0"/>
                <a:ea typeface="Calibri" pitchFamily="34" charset="-122"/>
                <a:cs typeface="Calibri" pitchFamily="34" charset="-120"/>
              </a:rPr>
              <a:t>2</a:t>
            </a:r>
            <a:endParaRPr lang="en-US" sz="1500" dirty="0"/>
          </a:p>
        </p:txBody>
      </p:sp>
      <p:sp>
        <p:nvSpPr>
          <p:cNvPr id="10" name="Text 7"/>
          <p:cNvSpPr txBox="1"/>
          <p:nvPr/>
        </p:nvSpPr>
        <p:spPr>
          <a:xfrm>
            <a:off x="1508760" y="2103120"/>
            <a:ext cx="6766560" cy="54864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Se protéger contre l'inflation en détenant un actif stable (USDT est adossé au dollar).</a:t>
            </a:r>
            <a:endParaRPr lang="en-US" sz="1300" dirty="0"/>
          </a:p>
        </p:txBody>
      </p:sp>
      <p:sp>
        <p:nvSpPr>
          <p:cNvPr id="11" name="Shape 8"/>
          <p:cNvSpPr/>
          <p:nvPr/>
        </p:nvSpPr>
        <p:spPr>
          <a:xfrm>
            <a:off x="731520" y="2743200"/>
            <a:ext cx="7680960" cy="548640"/>
          </a:xfrm>
          <a:prstGeom prst="roundRect">
            <a:avLst>
              <a:gd name="adj" fmla="val 13333"/>
            </a:avLst>
          </a:prstGeom>
          <a:solidFill>
            <a:srgbClr val="0F1214"/>
          </a:solidFill>
          <a:ln/>
        </p:spPr>
      </p:sp>
      <p:sp>
        <p:nvSpPr>
          <p:cNvPr id="12" name="Text 9"/>
          <p:cNvSpPr txBox="1"/>
          <p:nvPr/>
        </p:nvSpPr>
        <p:spPr>
          <a:xfrm>
            <a:off x="914400" y="2743200"/>
            <a:ext cx="411480" cy="548640"/>
          </a:xfrm>
          <a:prstGeom prst="roundRect">
            <a:avLst>
              <a:gd name="adj" fmla="val 48889"/>
            </a:avLst>
          </a:prstGeom>
          <a:solidFill>
            <a:srgbClr val="3B968F"/>
          </a:solidFill>
          <a:ln/>
        </p:spPr>
        <p:txBody>
          <a:bodyPr wrap="square" lIns="0" tIns="0" rIns="0" bIns="0" rtlCol="0" anchor="ctr"/>
          <a:lstStyle/>
          <a:p>
            <a:pPr algn="ctr" indent="0" marL="0">
              <a:buNone/>
            </a:pPr>
            <a:r>
              <a:rPr lang="en-US" sz="1500" b="1" dirty="0">
                <a:solidFill>
                  <a:srgbClr val="0F1214"/>
                </a:solidFill>
                <a:latin typeface="Calibri" pitchFamily="34" charset="0"/>
                <a:ea typeface="Calibri" pitchFamily="34" charset="-122"/>
                <a:cs typeface="Calibri" pitchFamily="34" charset="-120"/>
              </a:rPr>
              <a:t>3</a:t>
            </a:r>
            <a:endParaRPr lang="en-US" sz="1500" dirty="0"/>
          </a:p>
        </p:txBody>
      </p:sp>
      <p:sp>
        <p:nvSpPr>
          <p:cNvPr id="13" name="Text 10"/>
          <p:cNvSpPr txBox="1"/>
          <p:nvPr/>
        </p:nvSpPr>
        <p:spPr>
          <a:xfrm>
            <a:off x="1508760" y="2743200"/>
            <a:ext cx="6766560" cy="54864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Recevoir des paiements internationaux sans passer par une banque.</a:t>
            </a:r>
            <a:endParaRPr lang="en-US" sz="1300" dirty="0"/>
          </a:p>
        </p:txBody>
      </p:sp>
      <p:sp>
        <p:nvSpPr>
          <p:cNvPr id="14" name="Shape 11"/>
          <p:cNvSpPr/>
          <p:nvPr/>
        </p:nvSpPr>
        <p:spPr>
          <a:xfrm>
            <a:off x="731520" y="3383280"/>
            <a:ext cx="7680960" cy="548640"/>
          </a:xfrm>
          <a:prstGeom prst="roundRect">
            <a:avLst>
              <a:gd name="adj" fmla="val 13333"/>
            </a:avLst>
          </a:prstGeom>
          <a:solidFill>
            <a:srgbClr val="0F1214"/>
          </a:solidFill>
          <a:ln/>
        </p:spPr>
      </p:sp>
      <p:sp>
        <p:nvSpPr>
          <p:cNvPr id="15" name="Text 12"/>
          <p:cNvSpPr txBox="1"/>
          <p:nvPr/>
        </p:nvSpPr>
        <p:spPr>
          <a:xfrm>
            <a:off x="914400" y="3383280"/>
            <a:ext cx="411480" cy="548640"/>
          </a:xfrm>
          <a:prstGeom prst="roundRect">
            <a:avLst>
              <a:gd name="adj" fmla="val 48889"/>
            </a:avLst>
          </a:prstGeom>
          <a:solidFill>
            <a:srgbClr val="3B968F"/>
          </a:solidFill>
          <a:ln/>
        </p:spPr>
        <p:txBody>
          <a:bodyPr wrap="square" lIns="0" tIns="0" rIns="0" bIns="0" rtlCol="0" anchor="ctr"/>
          <a:lstStyle/>
          <a:p>
            <a:pPr algn="ctr" indent="0" marL="0">
              <a:buNone/>
            </a:pPr>
            <a:r>
              <a:rPr lang="en-US" sz="1500" b="1" dirty="0">
                <a:solidFill>
                  <a:srgbClr val="0F1214"/>
                </a:solidFill>
                <a:latin typeface="Calibri" pitchFamily="34" charset="0"/>
                <a:ea typeface="Calibri" pitchFamily="34" charset="-122"/>
                <a:cs typeface="Calibri" pitchFamily="34" charset="-120"/>
              </a:rPr>
              <a:t>4</a:t>
            </a:r>
            <a:endParaRPr lang="en-US" sz="1500" dirty="0"/>
          </a:p>
        </p:txBody>
      </p:sp>
      <p:sp>
        <p:nvSpPr>
          <p:cNvPr id="16" name="Text 13"/>
          <p:cNvSpPr txBox="1"/>
          <p:nvPr/>
        </p:nvSpPr>
        <p:spPr>
          <a:xfrm>
            <a:off x="1508760" y="3383280"/>
            <a:ext cx="6766560" cy="54864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Épargner sur des protocoles qui rapportent 5 à 10% par an.</a:t>
            </a:r>
            <a:endParaRPr lang="en-US" sz="1300" dirty="0"/>
          </a:p>
        </p:txBody>
      </p:sp>
      <p:sp>
        <p:nvSpPr>
          <p:cNvPr id="17" name="Shape 14"/>
          <p:cNvSpPr/>
          <p:nvPr/>
        </p:nvSpPr>
        <p:spPr>
          <a:xfrm>
            <a:off x="731520" y="4023360"/>
            <a:ext cx="7680960" cy="548640"/>
          </a:xfrm>
          <a:prstGeom prst="roundRect">
            <a:avLst>
              <a:gd name="adj" fmla="val 13333"/>
            </a:avLst>
          </a:prstGeom>
          <a:solidFill>
            <a:srgbClr val="0F1214"/>
          </a:solidFill>
          <a:ln/>
        </p:spPr>
      </p:sp>
      <p:sp>
        <p:nvSpPr>
          <p:cNvPr id="18" name="Text 15"/>
          <p:cNvSpPr txBox="1"/>
          <p:nvPr/>
        </p:nvSpPr>
        <p:spPr>
          <a:xfrm>
            <a:off x="914400" y="4023360"/>
            <a:ext cx="411480" cy="548640"/>
          </a:xfrm>
          <a:prstGeom prst="roundRect">
            <a:avLst>
              <a:gd name="adj" fmla="val 48889"/>
            </a:avLst>
          </a:prstGeom>
          <a:solidFill>
            <a:srgbClr val="3B968F"/>
          </a:solidFill>
          <a:ln/>
        </p:spPr>
        <p:txBody>
          <a:bodyPr wrap="square" lIns="0" tIns="0" rIns="0" bIns="0" rtlCol="0" anchor="ctr"/>
          <a:lstStyle/>
          <a:p>
            <a:pPr algn="ctr" indent="0" marL="0">
              <a:buNone/>
            </a:pPr>
            <a:r>
              <a:rPr lang="en-US" sz="1500" b="1" dirty="0">
                <a:solidFill>
                  <a:srgbClr val="0F1214"/>
                </a:solidFill>
                <a:latin typeface="Calibri" pitchFamily="34" charset="0"/>
                <a:ea typeface="Calibri" pitchFamily="34" charset="-122"/>
                <a:cs typeface="Calibri" pitchFamily="34" charset="-120"/>
              </a:rPr>
              <a:t>5</a:t>
            </a:r>
            <a:endParaRPr lang="en-US" sz="1500" dirty="0"/>
          </a:p>
        </p:txBody>
      </p:sp>
      <p:sp>
        <p:nvSpPr>
          <p:cNvPr id="19" name="Text 16"/>
          <p:cNvSpPr txBox="1"/>
          <p:nvPr/>
        </p:nvSpPr>
        <p:spPr>
          <a:xfrm>
            <a:off x="1508760" y="4023360"/>
            <a:ext cx="6766560" cy="54864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Ce qu'est vraiment une blockchain, en langage simple.</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2181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0" y="548640"/>
            <a:ext cx="1280160" cy="1280160"/>
          </a:xfrm>
          <a:prstGeom prst="rect">
            <a:avLst/>
          </a:prstGeom>
        </p:spPr>
      </p:pic>
      <p:pic>
        <p:nvPicPr>
          <p:cNvPr id="3" name="Image 1" descr="preencoded.png">    </p:cNvPr>
          <p:cNvPicPr>
            <a:picLocks noChangeAspect="1"/>
          </p:cNvPicPr>
          <p:nvPr/>
        </p:nvPicPr>
        <p:blipFill>
          <a:blip r:embed="rId2"/>
          <a:stretch>
            <a:fillRect/>
          </a:stretch>
        </p:blipFill>
        <p:spPr>
          <a:xfrm>
            <a:off x="7772400" y="2011680"/>
            <a:ext cx="822960" cy="822960"/>
          </a:xfrm>
          <a:prstGeom prst="rect">
            <a:avLst/>
          </a:prstGeom>
        </p:spPr>
      </p:pic>
      <p:sp>
        <p:nvSpPr>
          <p:cNvPr id="4" name="Shape 0"/>
          <p:cNvSpPr/>
          <p:nvPr/>
        </p:nvSpPr>
        <p:spPr>
          <a:xfrm>
            <a:off x="6583680" y="-274320"/>
            <a:ext cx="3200400" cy="3200400"/>
          </a:xfrm>
          <a:prstGeom prst="ellipse">
            <a:avLst/>
          </a:prstGeom>
          <a:solidFill>
            <a:srgbClr val="3B968F">
              <a:alpha val="6000"/>
            </a:srgbClr>
          </a:solidFill>
          <a:ln/>
        </p:spPr>
      </p:sp>
      <p:sp>
        <p:nvSpPr>
          <p:cNvPr id="5" name="Shape 1"/>
          <p:cNvSpPr/>
          <p:nvPr/>
        </p:nvSpPr>
        <p:spPr>
          <a:xfrm>
            <a:off x="731520" y="914400"/>
            <a:ext cx="45720" cy="2194560"/>
          </a:xfrm>
          <a:prstGeom prst="rect">
            <a:avLst/>
          </a:prstGeom>
          <a:solidFill>
            <a:srgbClr val="3B968F"/>
          </a:solidFill>
          <a:ln/>
        </p:spPr>
      </p:sp>
      <p:sp>
        <p:nvSpPr>
          <p:cNvPr id="6" name="Text 2"/>
          <p:cNvSpPr txBox="1"/>
          <p:nvPr/>
        </p:nvSpPr>
        <p:spPr>
          <a:xfrm>
            <a:off x="960120" y="914400"/>
            <a:ext cx="2743200" cy="365760"/>
          </a:xfrm>
          <a:prstGeom prst="rect">
            <a:avLst/>
          </a:prstGeom>
          <a:noFill/>
          <a:ln/>
        </p:spPr>
        <p:txBody>
          <a:bodyPr wrap="square" lIns="0" tIns="0" rIns="0" bIns="0" rtlCol="0" anchor="ctr"/>
          <a:lstStyle/>
          <a:p>
            <a:pPr indent="0" marL="0">
              <a:buNone/>
            </a:pPr>
            <a:r>
              <a:rPr lang="en-US" sz="1200" b="1" spc="200" kern="0" dirty="0">
                <a:solidFill>
                  <a:srgbClr val="3B968F"/>
                </a:solidFill>
                <a:latin typeface="Calibri" pitchFamily="34" charset="0"/>
                <a:ea typeface="Calibri" pitchFamily="34" charset="-122"/>
                <a:cs typeface="Calibri" pitchFamily="34" charset="-120"/>
              </a:rPr>
              <a:t>Leçon 4 / 4</a:t>
            </a:r>
            <a:endParaRPr lang="en-US" sz="1200" dirty="0"/>
          </a:p>
        </p:txBody>
      </p:sp>
      <p:sp>
        <p:nvSpPr>
          <p:cNvPr id="7" name="Text 3"/>
          <p:cNvSpPr txBox="1"/>
          <p:nvPr/>
        </p:nvSpPr>
        <p:spPr>
          <a:xfrm>
            <a:off x="960120" y="1371600"/>
            <a:ext cx="6217920" cy="146304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Ce que vous allez maîtriser</a:t>
            </a:r>
            <a:endParaRPr lang="en-US" sz="2800" dirty="0"/>
          </a:p>
        </p:txBody>
      </p:sp>
      <p:sp>
        <p:nvSpPr>
          <p:cNvPr id="8" name="Text 4"/>
          <p:cNvSpPr txBox="1"/>
          <p:nvPr/>
        </p:nvSpPr>
        <p:spPr>
          <a:xfrm>
            <a:off x="960120" y="4114800"/>
            <a:ext cx="5486400" cy="320040"/>
          </a:xfrm>
          <a:prstGeom prst="rect">
            <a:avLst/>
          </a:prstGeom>
          <a:noFill/>
          <a:ln/>
        </p:spPr>
        <p:txBody>
          <a:bodyPr wrap="square" lIns="0" tIns="0" rIns="0" bIns="0" rtlCol="0" anchor="ctr"/>
          <a:lstStyle/>
          <a:p>
            <a:pPr indent="0" marL="0">
              <a:buNone/>
            </a:pPr>
            <a:r>
              <a:rPr lang="en-US" sz="1100" dirty="0">
                <a:solidFill>
                  <a:srgbClr val="5B6672"/>
                </a:solidFill>
                <a:latin typeface="Calibri" pitchFamily="34" charset="0"/>
                <a:ea typeface="Calibri" pitchFamily="34" charset="-122"/>
                <a:cs typeface="Calibri" pitchFamily="34" charset="-120"/>
              </a:rPr>
              <a:t>Sécurité et portefeuilles</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F1214"/>
        </a:solidFill>
      </p:bgPr>
    </p:bg>
    <p:spTree>
      <p:nvGrpSpPr>
        <p:cNvPr id="1" name=""/>
        <p:cNvGrpSpPr/>
        <p:nvPr/>
      </p:nvGrpSpPr>
      <p:grpSpPr>
        <a:xfrm>
          <a:off x="0" y="0"/>
          <a:ext cx="0" cy="0"/>
          <a:chOff x="0" y="0"/>
          <a:chExt cx="0" cy="0"/>
        </a:xfrm>
      </p:grpSpPr>
      <p:sp>
        <p:nvSpPr>
          <p:cNvPr id="2" name="Shape 0"/>
          <p:cNvSpPr/>
          <p:nvPr/>
        </p:nvSpPr>
        <p:spPr>
          <a:xfrm>
            <a:off x="7955280" y="182880"/>
            <a:ext cx="640080" cy="640080"/>
          </a:xfrm>
          <a:prstGeom prst="ellipse">
            <a:avLst/>
          </a:prstGeom>
          <a:solidFill>
            <a:srgbClr val="3B968F">
              <a:alpha val="12000"/>
            </a:srgbClr>
          </a:solidFill>
          <a:ln/>
        </p:spPr>
      </p:sp>
      <p:pic>
        <p:nvPicPr>
          <p:cNvPr id="3" name="Image 0" descr="preencoded.png">    </p:cNvPr>
          <p:cNvPicPr>
            <a:picLocks noChangeAspect="1"/>
          </p:cNvPicPr>
          <p:nvPr/>
        </p:nvPicPr>
        <p:blipFill>
          <a:blip r:embed="rId1"/>
          <a:stretch>
            <a:fillRect/>
          </a:stretch>
        </p:blipFill>
        <p:spPr>
          <a:xfrm>
            <a:off x="8028432" y="256032"/>
            <a:ext cx="493776" cy="493776"/>
          </a:xfrm>
          <a:prstGeom prst="rect">
            <a:avLst/>
          </a:prstGeom>
        </p:spPr>
      </p:pic>
      <p:sp>
        <p:nvSpPr>
          <p:cNvPr id="4" name="Text 1"/>
          <p:cNvSpPr txBox="1"/>
          <p:nvPr/>
        </p:nvSpPr>
        <p:spPr>
          <a:xfrm>
            <a:off x="731520" y="457200"/>
            <a:ext cx="7680960" cy="36576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Ce parcours est structuré en 10 modules progressifs.</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Chaque module s'appuie sur le précédent, alors nous vous conseillons de le suivre dans l'ordre.</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Module 1 — Bienvenue : le contexte, ce qui vous attend.</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Module 2 — Histoire : comprendre d'où vient la crypto pour mieux saisir sa force.</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Module 3 — Blockchain : la technologie derrière, expliquée sans jargon.</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Module 4 — Les grandes cryptos : Bitcoin, Ethereum, BNB, Solana… qui fait quoi.</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Module 5 — Les stablecoins : USDT, USDC, et pourquoi ils sont si utiles en Afrique.</a:t>
            </a:r>
            <a:endParaRPr lang="en-US" sz="1400" dirty="0"/>
          </a:p>
        </p:txBody>
      </p:sp>
      <p:sp>
        <p:nvSpPr>
          <p:cNvPr id="5" name="Text 2"/>
          <p:cNvSpPr txBox="1"/>
          <p:nvPr/>
        </p:nvSpPr>
        <p:spPr>
          <a:xfrm>
            <a:off x="731520" y="4709160"/>
            <a:ext cx="7680960" cy="274320"/>
          </a:xfrm>
          <a:prstGeom prst="rect">
            <a:avLst/>
          </a:prstGeom>
          <a:noFill/>
          <a:ln/>
        </p:spPr>
        <p:txBody>
          <a:bodyPr wrap="square" lIns="0" tIns="0" rIns="0" bIns="0" rtlCol="0" anchor="ctr"/>
          <a:lstStyle/>
          <a:p>
            <a:pPr algn="r" indent="0" marL="0">
              <a:buNone/>
            </a:pPr>
            <a:r>
              <a:rPr lang="en-US" sz="900" dirty="0">
                <a:solidFill>
                  <a:srgbClr val="5B6672"/>
                </a:solidFill>
                <a:latin typeface="Calibri" pitchFamily="34" charset="0"/>
                <a:ea typeface="Calibri" pitchFamily="34" charset="-122"/>
                <a:cs typeface="Calibri" pitchFamily="34" charset="-120"/>
              </a:rPr>
              <a:t>Module 2 — Leçon 4</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F1214"/>
        </a:solidFill>
      </p:bgPr>
    </p:bg>
    <p:spTree>
      <p:nvGrpSpPr>
        <p:cNvPr id="1" name=""/>
        <p:cNvGrpSpPr/>
        <p:nvPr/>
      </p:nvGrpSpPr>
      <p:grpSpPr>
        <a:xfrm>
          <a:off x="0" y="0"/>
          <a:ext cx="0" cy="0"/>
          <a:chOff x="0" y="0"/>
          <a:chExt cx="0" cy="0"/>
        </a:xfrm>
      </p:grpSpPr>
      <p:sp>
        <p:nvSpPr>
          <p:cNvPr id="2" name="Text 0"/>
          <p:cNvSpPr txBox="1"/>
          <p:nvPr/>
        </p:nvSpPr>
        <p:spPr>
          <a:xfrm>
            <a:off x="731520" y="457200"/>
            <a:ext cx="4206240" cy="34747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Module 6 — Votre portefeuille : créer un wallet, sécuriser sa phrase secrète.</a:t>
            </a:r>
            <a:endParaRPr lang="en-US" sz="1300" dirty="0"/>
          </a:p>
          <a:p>
            <a:pPr marL="342900" indent="-342900">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Module 7 — Achat sur Terex : votre premier achat de USDT, pas à pas.</a:t>
            </a:r>
            <a:endParaRPr lang="en-US" sz="1300" dirty="0"/>
          </a:p>
          <a:p>
            <a:pPr marL="342900" indent="-342900">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Module 8 — Envoyer et recevoir : maîtriser les réseaux (TRC20, ERC20, BEP20).</a:t>
            </a:r>
            <a:endParaRPr lang="en-US" sz="1300" dirty="0"/>
          </a:p>
          <a:p>
            <a:pPr marL="342900" indent="-342900">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Module 9 — Sécurité : reconnaître les arnaques, protéger vos comptes.</a:t>
            </a:r>
            <a:endParaRPr lang="en-US" sz="1300" dirty="0"/>
          </a:p>
        </p:txBody>
      </p:sp>
      <p:sp>
        <p:nvSpPr>
          <p:cNvPr id="3" name="Shape 1"/>
          <p:cNvSpPr/>
          <p:nvPr/>
        </p:nvSpPr>
        <p:spPr>
          <a:xfrm>
            <a:off x="5120640" y="457200"/>
            <a:ext cx="3474720" cy="640080"/>
          </a:xfrm>
          <a:prstGeom prst="roundRect">
            <a:avLst>
              <a:gd name="adj" fmla="val 14286"/>
            </a:avLst>
          </a:prstGeom>
          <a:solidFill>
            <a:srgbClr val="1A2026"/>
          </a:solidFill>
          <a:ln/>
        </p:spPr>
      </p:sp>
      <p:pic>
        <p:nvPicPr>
          <p:cNvPr id="4" name="Image 0" descr="preencoded.png">    </p:cNvPr>
          <p:cNvPicPr>
            <a:picLocks noChangeAspect="1"/>
          </p:cNvPicPr>
          <p:nvPr/>
        </p:nvPicPr>
        <p:blipFill>
          <a:blip r:embed="rId1"/>
          <a:stretch>
            <a:fillRect/>
          </a:stretch>
        </p:blipFill>
        <p:spPr>
          <a:xfrm>
            <a:off x="5257800" y="557784"/>
            <a:ext cx="438912" cy="438912"/>
          </a:xfrm>
          <a:prstGeom prst="rect">
            <a:avLst/>
          </a:prstGeom>
        </p:spPr>
      </p:pic>
      <p:sp>
        <p:nvSpPr>
          <p:cNvPr id="5" name="Text 2"/>
          <p:cNvSpPr txBox="1"/>
          <p:nvPr/>
        </p:nvSpPr>
        <p:spPr>
          <a:xfrm>
            <a:off x="5806440" y="457200"/>
            <a:ext cx="2651760" cy="640080"/>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Module 10 — Aller plus loin : DeFi, staking, NFT, et sessions Zoom mensuelles...</a:t>
            </a:r>
            <a:endParaRPr lang="en-US" sz="1200" dirty="0"/>
          </a:p>
        </p:txBody>
      </p:sp>
      <p:sp>
        <p:nvSpPr>
          <p:cNvPr id="6" name="Shape 3"/>
          <p:cNvSpPr/>
          <p:nvPr/>
        </p:nvSpPr>
        <p:spPr>
          <a:xfrm>
            <a:off x="5120640" y="1188720"/>
            <a:ext cx="3474720" cy="640080"/>
          </a:xfrm>
          <a:prstGeom prst="roundRect">
            <a:avLst>
              <a:gd name="adj" fmla="val 14286"/>
            </a:avLst>
          </a:prstGeom>
          <a:solidFill>
            <a:srgbClr val="1A2026"/>
          </a:solidFill>
          <a:ln/>
        </p:spPr>
      </p:sp>
      <p:pic>
        <p:nvPicPr>
          <p:cNvPr id="7" name="Image 1" descr="preencoded.png">    </p:cNvPr>
          <p:cNvPicPr>
            <a:picLocks noChangeAspect="1"/>
          </p:cNvPicPr>
          <p:nvPr/>
        </p:nvPicPr>
        <p:blipFill>
          <a:blip r:embed="rId2"/>
          <a:stretch>
            <a:fillRect/>
          </a:stretch>
        </p:blipFill>
        <p:spPr>
          <a:xfrm>
            <a:off x="5257800" y="1289304"/>
            <a:ext cx="438912" cy="438912"/>
          </a:xfrm>
          <a:prstGeom prst="rect">
            <a:avLst/>
          </a:prstGeom>
        </p:spPr>
      </p:pic>
      <p:sp>
        <p:nvSpPr>
          <p:cNvPr id="8" name="Text 4"/>
          <p:cNvSpPr txBox="1"/>
          <p:nvPr/>
        </p:nvSpPr>
        <p:spPr>
          <a:xfrm>
            <a:off x="5806440" y="1188720"/>
            <a:ext cx="2651760" cy="640080"/>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Comptez environ 8 heures au total, en avançant à votre rythme.</a:t>
            </a:r>
            <a:endParaRPr lang="en-US" sz="1200" dirty="0"/>
          </a:p>
        </p:txBody>
      </p:sp>
      <p:sp>
        <p:nvSpPr>
          <p:cNvPr id="9" name="Shape 5"/>
          <p:cNvSpPr/>
          <p:nvPr/>
        </p:nvSpPr>
        <p:spPr>
          <a:xfrm>
            <a:off x="5120640" y="1920240"/>
            <a:ext cx="3474720" cy="640080"/>
          </a:xfrm>
          <a:prstGeom prst="roundRect">
            <a:avLst>
              <a:gd name="adj" fmla="val 14286"/>
            </a:avLst>
          </a:prstGeom>
          <a:solidFill>
            <a:srgbClr val="1A2026"/>
          </a:solidFill>
          <a:ln/>
        </p:spPr>
      </p:sp>
      <p:pic>
        <p:nvPicPr>
          <p:cNvPr id="10" name="Image 2" descr="preencoded.png">    </p:cNvPr>
          <p:cNvPicPr>
            <a:picLocks noChangeAspect="1"/>
          </p:cNvPicPr>
          <p:nvPr/>
        </p:nvPicPr>
        <p:blipFill>
          <a:blip r:embed="rId3"/>
          <a:stretch>
            <a:fillRect/>
          </a:stretch>
        </p:blipFill>
        <p:spPr>
          <a:xfrm>
            <a:off x="5257800" y="2020824"/>
            <a:ext cx="438912" cy="438912"/>
          </a:xfrm>
          <a:prstGeom prst="rect">
            <a:avLst/>
          </a:prstGeom>
        </p:spPr>
      </p:pic>
      <p:sp>
        <p:nvSpPr>
          <p:cNvPr id="11" name="Text 6"/>
          <p:cNvSpPr txBox="1"/>
          <p:nvPr/>
        </p:nvSpPr>
        <p:spPr>
          <a:xfrm>
            <a:off x="5806440" y="1920240"/>
            <a:ext cx="2651760" cy="640080"/>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Chaque leçon fait moins de 10 minutes.</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F1214"/>
        </a:solidFill>
      </p:bgPr>
    </p:bg>
    <p:spTree>
      <p:nvGrpSpPr>
        <p:cNvPr id="1" name=""/>
        <p:cNvGrpSpPr/>
        <p:nvPr/>
      </p:nvGrpSpPr>
      <p:grpSpPr>
        <a:xfrm>
          <a:off x="0" y="0"/>
          <a:ext cx="0" cy="0"/>
          <a:chOff x="0" y="0"/>
          <a:chExt cx="0" cy="0"/>
        </a:xfrm>
      </p:grpSpPr>
      <p:sp>
        <p:nvSpPr>
          <p:cNvPr id="2" name="Shape 0"/>
          <p:cNvSpPr/>
          <p:nvPr/>
        </p:nvSpPr>
        <p:spPr>
          <a:xfrm>
            <a:off x="7955280" y="182880"/>
            <a:ext cx="640080" cy="640080"/>
          </a:xfrm>
          <a:prstGeom prst="ellipse">
            <a:avLst/>
          </a:prstGeom>
          <a:solidFill>
            <a:srgbClr val="3B968F">
              <a:alpha val="12000"/>
            </a:srgbClr>
          </a:solidFill>
          <a:ln/>
        </p:spPr>
      </p:sp>
      <p:pic>
        <p:nvPicPr>
          <p:cNvPr id="3" name="Image 0" descr="preencoded.png">    </p:cNvPr>
          <p:cNvPicPr>
            <a:picLocks noChangeAspect="1"/>
          </p:cNvPicPr>
          <p:nvPr/>
        </p:nvPicPr>
        <p:blipFill>
          <a:blip r:embed="rId1"/>
          <a:stretch>
            <a:fillRect/>
          </a:stretch>
        </p:blipFill>
        <p:spPr>
          <a:xfrm>
            <a:off x="8028432" y="256032"/>
            <a:ext cx="493776" cy="493776"/>
          </a:xfrm>
          <a:prstGeom prst="rect">
            <a:avLst/>
          </a:prstGeom>
        </p:spPr>
      </p:pic>
      <p:sp>
        <p:nvSpPr>
          <p:cNvPr id="4" name="Text 1"/>
          <p:cNvSpPr txBox="1"/>
          <p:nvPr/>
        </p:nvSpPr>
        <p:spPr>
          <a:xfrm>
            <a:off x="731520" y="457200"/>
            <a:ext cx="7680960" cy="36576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Marquez-les comme « terminées » au fur et à mesure — vous verrez votre progression avancer.</a:t>
            </a:r>
            <a:endParaRPr lang="en-US" sz="1400" dirty="0"/>
          </a:p>
        </p:txBody>
      </p:sp>
      <p:sp>
        <p:nvSpPr>
          <p:cNvPr id="5" name="Text 2"/>
          <p:cNvSpPr txBox="1"/>
          <p:nvPr/>
        </p:nvSpPr>
        <p:spPr>
          <a:xfrm>
            <a:off x="731520" y="4709160"/>
            <a:ext cx="7680960" cy="274320"/>
          </a:xfrm>
          <a:prstGeom prst="rect">
            <a:avLst/>
          </a:prstGeom>
          <a:noFill/>
          <a:ln/>
        </p:spPr>
        <p:txBody>
          <a:bodyPr wrap="square" lIns="0" tIns="0" rIns="0" bIns="0" rtlCol="0" anchor="ctr"/>
          <a:lstStyle/>
          <a:p>
            <a:pPr algn="r" indent="0" marL="0">
              <a:buNone/>
            </a:pPr>
            <a:r>
              <a:rPr lang="en-US" sz="900" dirty="0">
                <a:solidFill>
                  <a:srgbClr val="5B6672"/>
                </a:solidFill>
                <a:latin typeface="Calibri" pitchFamily="34" charset="0"/>
                <a:ea typeface="Calibri" pitchFamily="34" charset="-122"/>
                <a:cs typeface="Calibri" pitchFamily="34" charset="-120"/>
              </a:rPr>
              <a:t>Module 2 — Leçon 4</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F1214"/>
        </a:solidFill>
      </p:bgPr>
    </p:bg>
    <p:spTree>
      <p:nvGrpSpPr>
        <p:cNvPr id="1" name=""/>
        <p:cNvGrpSpPr/>
        <p:nvPr/>
      </p:nvGrpSpPr>
      <p:grpSpPr>
        <a:xfrm>
          <a:off x="0" y="0"/>
          <a:ext cx="0" cy="0"/>
          <a:chOff x="0" y="0"/>
          <a:chExt cx="0" cy="0"/>
        </a:xfrm>
      </p:grpSpPr>
      <p:sp>
        <p:nvSpPr>
          <p:cNvPr id="2" name="Shape 0"/>
          <p:cNvSpPr/>
          <p:nvPr/>
        </p:nvSpPr>
        <p:spPr>
          <a:xfrm>
            <a:off x="2743200" y="457200"/>
            <a:ext cx="3657600" cy="3657600"/>
          </a:xfrm>
          <a:prstGeom prst="ellipse">
            <a:avLst/>
          </a:prstGeom>
          <a:solidFill>
            <a:srgbClr val="3B968F">
              <a:alpha val="6000"/>
            </a:srgbClr>
          </a:solidFill>
          <a:ln/>
        </p:spPr>
      </p:sp>
      <p:pic>
        <p:nvPicPr>
          <p:cNvPr id="3" name="Image 0" descr="preencoded.png">    </p:cNvPr>
          <p:cNvPicPr>
            <a:picLocks noChangeAspect="1"/>
          </p:cNvPicPr>
          <p:nvPr/>
        </p:nvPicPr>
        <p:blipFill>
          <a:blip r:embed="rId1"/>
          <a:stretch>
            <a:fillRect/>
          </a:stretch>
        </p:blipFill>
        <p:spPr>
          <a:xfrm>
            <a:off x="3931920" y="914400"/>
            <a:ext cx="1280160" cy="1280160"/>
          </a:xfrm>
          <a:prstGeom prst="rect">
            <a:avLst/>
          </a:prstGeom>
        </p:spPr>
      </p:pic>
      <p:sp>
        <p:nvSpPr>
          <p:cNvPr id="4" name="Text 1"/>
          <p:cNvSpPr txBox="1"/>
          <p:nvPr/>
        </p:nvSpPr>
        <p:spPr>
          <a:xfrm>
            <a:off x="731520" y="2377440"/>
            <a:ext cx="7680960" cy="548640"/>
          </a:xfrm>
          <a:prstGeom prst="rect">
            <a:avLst/>
          </a:prstGeom>
          <a:noFill/>
          <a:ln/>
        </p:spPr>
        <p:txBody>
          <a:bodyPr wrap="square" lIns="0" tIns="0" rIns="0" bIns="0" rtlCol="0" anchor="ctr"/>
          <a:lstStyle/>
          <a:p>
            <a:pPr algn="ctr" indent="0" marL="0">
              <a:buNone/>
            </a:pPr>
            <a:r>
              <a:rPr lang="en-US" sz="2800" b="1" dirty="0">
                <a:solidFill>
                  <a:srgbClr val="FFFFFF"/>
                </a:solidFill>
                <a:latin typeface="Calibri" pitchFamily="34" charset="0"/>
                <a:ea typeface="Calibri" pitchFamily="34" charset="-122"/>
                <a:cs typeface="Calibri" pitchFamily="34" charset="-120"/>
              </a:rPr>
              <a:t>Module 2 termine</a:t>
            </a:r>
            <a:endParaRPr lang="en-US" sz="2800" dirty="0"/>
          </a:p>
        </p:txBody>
      </p:sp>
      <p:sp>
        <p:nvSpPr>
          <p:cNvPr id="5" name="Text 2"/>
          <p:cNvSpPr txBox="1"/>
          <p:nvPr/>
        </p:nvSpPr>
        <p:spPr>
          <a:xfrm>
            <a:off x="1371600" y="3017520"/>
            <a:ext cx="6400800" cy="365760"/>
          </a:xfrm>
          <a:prstGeom prst="rect">
            <a:avLst/>
          </a:prstGeom>
          <a:noFill/>
          <a:ln/>
        </p:spPr>
        <p:txBody>
          <a:bodyPr wrap="square" lIns="0" tIns="0" rIns="0" bIns="0" rtlCol="0" anchor="ctr"/>
          <a:lstStyle/>
          <a:p>
            <a:pPr algn="ctr" indent="0" marL="0">
              <a:buNone/>
            </a:pPr>
            <a:r>
              <a:rPr lang="en-US" sz="1300" dirty="0">
                <a:solidFill>
                  <a:srgbClr val="8994A0"/>
                </a:solidFill>
                <a:latin typeface="Calibri" pitchFamily="34" charset="0"/>
                <a:ea typeface="Calibri" pitchFamily="34" charset="-122"/>
                <a:cs typeface="Calibri" pitchFamily="34" charset="-120"/>
              </a:rPr>
              <a:t>Passez au module suivant pour continuer votre apprentissage.</a:t>
            </a:r>
            <a:endParaRPr lang="en-US" sz="1300" dirty="0"/>
          </a:p>
        </p:txBody>
      </p:sp>
      <p:sp>
        <p:nvSpPr>
          <p:cNvPr id="6" name="Shape 3"/>
          <p:cNvSpPr/>
          <p:nvPr/>
        </p:nvSpPr>
        <p:spPr>
          <a:xfrm>
            <a:off x="3200400" y="3657600"/>
            <a:ext cx="2743200" cy="36576"/>
          </a:xfrm>
          <a:prstGeom prst="rect">
            <a:avLst/>
          </a:prstGeom>
          <a:solidFill>
            <a:srgbClr val="3B968F"/>
          </a:solidFill>
          <a:ln/>
        </p:spPr>
      </p:sp>
      <p:sp>
        <p:nvSpPr>
          <p:cNvPr id="7" name="Text 4"/>
          <p:cNvSpPr txBox="1"/>
          <p:nvPr/>
        </p:nvSpPr>
        <p:spPr>
          <a:xfrm>
            <a:off x="2286000" y="3931920"/>
            <a:ext cx="4572000" cy="320040"/>
          </a:xfrm>
          <a:prstGeom prst="rect">
            <a:avLst/>
          </a:prstGeom>
          <a:noFill/>
          <a:ln/>
        </p:spPr>
        <p:txBody>
          <a:bodyPr wrap="square" lIns="0" tIns="0" rIns="0" bIns="0" rtlCol="0" anchor="ctr"/>
          <a:lstStyle/>
          <a:p>
            <a:pPr algn="ctr" indent="0" marL="0">
              <a:buNone/>
            </a:pPr>
            <a:r>
              <a:rPr lang="en-US" sz="1100" spc="300" kern="0" dirty="0">
                <a:solidFill>
                  <a:srgbClr val="5B6672"/>
                </a:solidFill>
                <a:latin typeface="Calibri" pitchFamily="34" charset="0"/>
                <a:ea typeface="Calibri" pitchFamily="34" charset="-122"/>
                <a:cs typeface="Calibri" pitchFamily="34" charset="-120"/>
              </a:rPr>
              <a:t>TEREX ACADEMY</a:t>
            </a:r>
            <a:endParaRPr lang="en-US" sz="1100" dirty="0"/>
          </a:p>
        </p:txBody>
      </p:sp>
      <p:sp>
        <p:nvSpPr>
          <p:cNvPr id="8" name="Text 5"/>
          <p:cNvSpPr txBox="1"/>
          <p:nvPr/>
        </p:nvSpPr>
        <p:spPr>
          <a:xfrm>
            <a:off x="2286000" y="4251960"/>
            <a:ext cx="4572000" cy="274320"/>
          </a:xfrm>
          <a:prstGeom prst="rect">
            <a:avLst/>
          </a:prstGeom>
          <a:noFill/>
          <a:ln/>
        </p:spPr>
        <p:txBody>
          <a:bodyPr wrap="square" lIns="0" tIns="0" rIns="0" bIns="0" rtlCol="0" anchor="ctr"/>
          <a:lstStyle/>
          <a:p>
            <a:pPr algn="ctr" indent="0" marL="0">
              <a:buNone/>
            </a:pPr>
            <a:r>
              <a:rPr lang="en-US" sz="1100" dirty="0">
                <a:solidFill>
                  <a:srgbClr val="000000"/>
                </a:solidFill>
                <a:latin typeface="Calibri" pitchFamily="34" charset="0"/>
                <a:ea typeface="Calibri" pitchFamily="34" charset="-122"/>
                <a:cs typeface="Calibri" pitchFamily="34" charset="-120"/>
              </a:rPr>
              <a:t>terangaexchange.com</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Terex</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2 - Sécurité et portefeuilles</dc:title>
  <dc:subject>Sécurité et portefeuilles</dc:subject>
  <dc:creator>Terex Academy</dc:creator>
  <cp:lastModifiedBy>Terex Academy</cp:lastModifiedBy>
  <cp:revision>1</cp:revision>
  <dcterms:created xsi:type="dcterms:W3CDTF">2026-09-07T12:08:38Z</dcterms:created>
  <dcterms:modified xsi:type="dcterms:W3CDTF">2026-09-07T12:08:38Z</dcterms:modified>
</cp:coreProperties>
</file>