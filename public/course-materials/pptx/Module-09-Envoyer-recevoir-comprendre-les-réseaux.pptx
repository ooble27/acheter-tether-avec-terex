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FA6"/>
          </a:solidFill>
          <a:ln/>
        </p:spPr>
      </p:sp>
      <p:sp>
        <p:nvSpPr>
          <p:cNvPr id="3" name="Text 1"/>
          <p:cNvSpPr txBox="1"/>
          <p:nvPr/>
        </p:nvSpPr>
        <p:spPr>
          <a:xfrm>
            <a:off x="731520" y="1097280"/>
            <a:ext cx="2286000" cy="457200"/>
          </a:xfrm>
          <a:prstGeom prst="rect">
            <a:avLst/>
          </a:prstGeom>
          <a:noFill/>
          <a:ln/>
        </p:spPr>
        <p:txBody>
          <a:bodyPr wrap="square" lIns="0" tIns="0" rIns="0" bIns="0" rtlCol="0" anchor="ctr"/>
          <a:lstStyle/>
          <a:p>
            <a:pPr indent="0" marL="0">
              <a:buNone/>
            </a:pPr>
            <a:r>
              <a:rPr lang="en-US" sz="1400" b="1" spc="400" kern="0" dirty="0">
                <a:solidFill>
                  <a:srgbClr val="00BFA6"/>
                </a:solidFill>
                <a:latin typeface="Calibri" pitchFamily="34" charset="0"/>
                <a:ea typeface="Calibri" pitchFamily="34" charset="-122"/>
                <a:cs typeface="Calibri" pitchFamily="34" charset="-120"/>
              </a:rPr>
              <a:t>MODULE 9</a:t>
            </a:r>
            <a:endParaRPr lang="en-US" sz="1400" dirty="0"/>
          </a:p>
        </p:txBody>
      </p:sp>
      <p:sp>
        <p:nvSpPr>
          <p:cNvPr id="4" name="Text 2"/>
          <p:cNvSpPr txBox="1"/>
          <p:nvPr/>
        </p:nvSpPr>
        <p:spPr>
          <a:xfrm>
            <a:off x="731520" y="1645920"/>
            <a:ext cx="7680960" cy="146304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Envoyer, recevoir &amp; comprendre les réseaux</a:t>
            </a:r>
            <a:endParaRPr lang="en-US" sz="3600" dirty="0"/>
          </a:p>
        </p:txBody>
      </p:sp>
      <p:sp>
        <p:nvSpPr>
          <p:cNvPr id="5" name="Text 3"/>
          <p:cNvSpPr txBox="1"/>
          <p:nvPr/>
        </p:nvSpPr>
        <p:spPr>
          <a:xfrm>
            <a:off x="731520" y="4023360"/>
            <a:ext cx="2743200" cy="365760"/>
          </a:xfrm>
          <a:prstGeom prst="rect">
            <a:avLst/>
          </a:prstGeom>
          <a:noFill/>
          <a:ln/>
        </p:spPr>
        <p:txBody>
          <a:bodyPr wrap="square" lIns="0" tIns="0" rIns="0" bIns="0" rtlCol="0" anchor="ctr"/>
          <a:lstStyle/>
          <a:p>
            <a:pPr indent="0" marL="0">
              <a:buNone/>
            </a:pPr>
            <a:r>
              <a:rPr lang="en-US" sz="1200" spc="300" kern="0" dirty="0">
                <a:solidFill>
                  <a:srgbClr val="64748B"/>
                </a:solidFill>
                <a:latin typeface="Calibri" pitchFamily="34" charset="0"/>
                <a:ea typeface="Calibri" pitchFamily="34" charset="-122"/>
                <a:cs typeface="Calibri" pitchFamily="34" charset="-120"/>
              </a:rPr>
              <a:t>TEREX ACADEMY</a:t>
            </a:r>
            <a:endParaRPr lang="en-US" sz="1200" dirty="0"/>
          </a:p>
        </p:txBody>
      </p:sp>
      <p:sp>
        <p:nvSpPr>
          <p:cNvPr id="6" name="Text 4"/>
          <p:cNvSpPr txBox="1"/>
          <p:nvPr/>
        </p:nvSpPr>
        <p:spPr>
          <a:xfrm>
            <a:off x="731520" y="4389120"/>
            <a:ext cx="36576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Formation Crypto &amp; Blockchain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457200"/>
            <a:ext cx="2743200" cy="365760"/>
          </a:xfrm>
          <a:prstGeom prst="rect">
            <a:avLst/>
          </a:prstGeom>
          <a:noFill/>
          <a:ln/>
        </p:spPr>
        <p:txBody>
          <a:bodyPr wrap="square" lIns="0" tIns="0" rIns="0" bIns="0" rtlCol="0" anchor="ctr"/>
          <a:lstStyle/>
          <a:p>
            <a:pPr indent="0" marL="0">
              <a:buNone/>
            </a:pPr>
            <a:r>
              <a:rPr lang="en-US" sz="1200" b="1" spc="300" kern="0" dirty="0">
                <a:solidFill>
                  <a:srgbClr val="00BFA6"/>
                </a:solidFill>
                <a:latin typeface="Calibri" pitchFamily="34" charset="0"/>
                <a:ea typeface="Calibri" pitchFamily="34" charset="-122"/>
                <a:cs typeface="Calibri" pitchFamily="34" charset="-120"/>
              </a:rPr>
              <a:t>SOMMAIRE</a:t>
            </a:r>
            <a:endParaRPr lang="en-US" sz="1200" dirty="0"/>
          </a:p>
        </p:txBody>
      </p:sp>
      <p:sp>
        <p:nvSpPr>
          <p:cNvPr id="3" name="Text 1"/>
          <p:cNvSpPr txBox="1"/>
          <p:nvPr/>
        </p:nvSpPr>
        <p:spPr>
          <a:xfrm>
            <a:off x="731520" y="868680"/>
            <a:ext cx="45720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Module 9</a:t>
            </a:r>
            <a:endParaRPr lang="en-US" sz="2200" dirty="0"/>
          </a:p>
        </p:txBody>
      </p:sp>
      <p:sp>
        <p:nvSpPr>
          <p:cNvPr id="4" name="Text 2"/>
          <p:cNvSpPr txBox="1"/>
          <p:nvPr/>
        </p:nvSpPr>
        <p:spPr>
          <a:xfrm>
            <a:off x="731520" y="1554480"/>
            <a:ext cx="7680960" cy="3200400"/>
          </a:xfrm>
          <a:prstGeom prst="rect">
            <a:avLst/>
          </a:prstGeom>
          <a:noFill/>
          <a:ln/>
        </p:spPr>
        <p:txBody>
          <a:bodyPr wrap="square" lIns="0" tIns="0" rIns="0" bIns="0" rtlCol="0" anchor="t"/>
          <a:lstStyle/>
          <a:p>
            <a:pPr indent="0" marL="0">
              <a:spcAft>
                <a:spcPts val="1000"/>
              </a:spcAft>
              <a:buNone/>
            </a:pPr>
            <a:r>
              <a:rPr lang="en-US" sz="1500" dirty="0">
                <a:solidFill>
                  <a:srgbClr val="FFFFFF"/>
                </a:solidFill>
                <a:latin typeface="Calibri" pitchFamily="34" charset="0"/>
                <a:ea typeface="Calibri" pitchFamily="34" charset="-122"/>
                <a:cs typeface="Calibri" pitchFamily="34" charset="-120"/>
              </a:rPr>
              <a:t>1.  Envoyer des cryptos, pas à pas</a:t>
            </a:r>
            <a:endParaRPr lang="en-US" sz="1500" dirty="0"/>
          </a:p>
          <a:p>
            <a:pPr indent="0" marL="0">
              <a:spcAft>
                <a:spcPts val="1000"/>
              </a:spcAft>
              <a:buNone/>
            </a:pPr>
            <a:r>
              <a:rPr lang="en-US" sz="1500" dirty="0">
                <a:solidFill>
                  <a:srgbClr val="FFFFFF"/>
                </a:solidFill>
                <a:latin typeface="Calibri" pitchFamily="34" charset="0"/>
                <a:ea typeface="Calibri" pitchFamily="34" charset="-122"/>
                <a:cs typeface="Calibri" pitchFamily="34" charset="-120"/>
              </a:rPr>
              <a:t>2.  Comprendre les frais de réseau (gas fees)</a:t>
            </a:r>
            <a:endParaRPr lang="en-US" sz="1500" dirty="0"/>
          </a:p>
          <a:p>
            <a:pPr indent="0" marL="0">
              <a:spcAft>
                <a:spcPts val="1000"/>
              </a:spcAft>
              <a:buNone/>
            </a:pPr>
            <a:r>
              <a:rPr lang="en-US" sz="1500" dirty="0">
                <a:solidFill>
                  <a:srgbClr val="FFFFFF"/>
                </a:solidFill>
                <a:latin typeface="Calibri" pitchFamily="34" charset="0"/>
                <a:ea typeface="Calibri" pitchFamily="34" charset="-122"/>
                <a:cs typeface="Calibri" pitchFamily="34" charset="-120"/>
              </a:rPr>
              <a:t>3.  Éviter les erreurs de réseau — la règle absolue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548640" y="914400"/>
            <a:ext cx="45720" cy="2560320"/>
          </a:xfrm>
          <a:prstGeom prst="rect">
            <a:avLst/>
          </a:prstGeom>
          <a:solidFill>
            <a:srgbClr val="00BFA6"/>
          </a:solidFill>
          <a:ln/>
        </p:spPr>
      </p:sp>
      <p:sp>
        <p:nvSpPr>
          <p:cNvPr id="3" name="Text 1"/>
          <p:cNvSpPr txBox="1"/>
          <p:nvPr/>
        </p:nvSpPr>
        <p:spPr>
          <a:xfrm>
            <a:off x="822960" y="1097280"/>
            <a:ext cx="2743200" cy="365760"/>
          </a:xfrm>
          <a:prstGeom prst="rect">
            <a:avLst/>
          </a:prstGeom>
          <a:noFill/>
          <a:ln/>
        </p:spPr>
        <p:txBody>
          <a:bodyPr wrap="square" lIns="0" tIns="0" rIns="0" bIns="0" rtlCol="0" anchor="ctr"/>
          <a:lstStyle/>
          <a:p>
            <a:pPr indent="0" marL="0">
              <a:buNone/>
            </a:pPr>
            <a:r>
              <a:rPr lang="en-US" sz="1200" b="1" spc="200" kern="0" dirty="0">
                <a:solidFill>
                  <a:srgbClr val="00BFA6"/>
                </a:solidFill>
                <a:latin typeface="Calibri" pitchFamily="34" charset="0"/>
                <a:ea typeface="Calibri" pitchFamily="34" charset="-122"/>
                <a:cs typeface="Calibri" pitchFamily="34" charset="-120"/>
              </a:rPr>
              <a:t>Lecon 1 / 3</a:t>
            </a:r>
            <a:endParaRPr lang="en-US" sz="1200" dirty="0"/>
          </a:p>
        </p:txBody>
      </p:sp>
      <p:sp>
        <p:nvSpPr>
          <p:cNvPr id="4" name="Text 2"/>
          <p:cNvSpPr txBox="1"/>
          <p:nvPr/>
        </p:nvSpPr>
        <p:spPr>
          <a:xfrm>
            <a:off x="822960" y="1645920"/>
            <a:ext cx="7498080" cy="128016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Envoyer des cryptos, pas à pas</a:t>
            </a:r>
            <a:endParaRPr lang="en-US" sz="3000" dirty="0"/>
          </a:p>
        </p:txBody>
      </p:sp>
      <p:sp>
        <p:nvSpPr>
          <p:cNvPr id="5" name="Text 3"/>
          <p:cNvSpPr txBox="1"/>
          <p:nvPr/>
        </p:nvSpPr>
        <p:spPr>
          <a:xfrm>
            <a:off x="822960" y="4206240"/>
            <a:ext cx="54864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Envoyer, recevoir &amp; comprendre les réseaux</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45720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Envoyer des cryptos à quelqu'un fonctionne exactement comme envoyer un e-mail : vous avez une adresse d'envoi (la vôtre), une adresse de réception (celle du destinataire), un mo...</a:t>
            </a:r>
            <a:endParaRPr lang="en-US" sz="1400" dirty="0"/>
          </a:p>
        </p:txBody>
      </p:sp>
      <p:sp>
        <p:nvSpPr>
          <p:cNvPr id="3" name="Text 1"/>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9 — Lecon 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365760"/>
            <a:ext cx="7680960" cy="548640"/>
          </a:xfrm>
          <a:prstGeom prst="rect">
            <a:avLst/>
          </a:prstGeom>
          <a:noFill/>
          <a:ln/>
        </p:spPr>
        <p:txBody>
          <a:bodyPr wrap="square" lIns="0" tIns="0" rIns="0" bIns="0" rtlCol="0" anchor="ctr"/>
          <a:lstStyle/>
          <a:p>
            <a:pPr indent="0" marL="0">
              <a:buNone/>
            </a:pPr>
            <a:r>
              <a:rPr lang="en-US" sz="2200" b="1" dirty="0">
                <a:solidFill>
                  <a:srgbClr val="00BFA6"/>
                </a:solidFill>
                <a:latin typeface="Calibri" pitchFamily="34" charset="0"/>
                <a:ea typeface="Calibri" pitchFamily="34" charset="-122"/>
                <a:cs typeface="Calibri" pitchFamily="34" charset="-120"/>
              </a:rPr>
              <a:t>Étape 1 — Récupérer l'adresse du destinataire</a:t>
            </a:r>
            <a:endParaRPr lang="en-US" sz="2200" dirty="0"/>
          </a:p>
        </p:txBody>
      </p:sp>
      <p:sp>
        <p:nvSpPr>
          <p:cNvPr id="3" name="Text 1"/>
          <p:cNvSpPr txBox="1"/>
          <p:nvPr/>
        </p:nvSpPr>
        <p:spPr>
          <a:xfrm>
            <a:off x="731520" y="105156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Demandez à la personne à qui vous voulez envoyer :</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Son adresse crypto (elle vous la copie-colle).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Le réseau correspondant. Sans cette info, vous ne pouvez pas envoyer en sécurité.</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Si la personne vous envoie une adresse ERC20 mais que vous avez des USDT-TRC20, il faudra soit :</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Lui demander une adresse TRC20.</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Convertir vos USDT-TRC20 en USDT-ERC20 (via Binance ou un service de bridge — sujet avancé).</a:t>
            </a:r>
            <a:endParaRPr lang="en-US" sz="1400" dirty="0"/>
          </a:p>
        </p:txBody>
      </p:sp>
      <p:sp>
        <p:nvSpPr>
          <p:cNvPr id="4"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9 — Lecon 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365760"/>
            <a:ext cx="7680960" cy="548640"/>
          </a:xfrm>
          <a:prstGeom prst="rect">
            <a:avLst/>
          </a:prstGeom>
          <a:noFill/>
          <a:ln/>
        </p:spPr>
        <p:txBody>
          <a:bodyPr wrap="square" lIns="0" tIns="0" rIns="0" bIns="0" rtlCol="0" anchor="ctr"/>
          <a:lstStyle/>
          <a:p>
            <a:pPr indent="0" marL="0">
              <a:buNone/>
            </a:pPr>
            <a:r>
              <a:rPr lang="en-US" sz="2200" b="1" dirty="0">
                <a:solidFill>
                  <a:srgbClr val="00BFA6"/>
                </a:solidFill>
                <a:latin typeface="Calibri" pitchFamily="34" charset="0"/>
                <a:ea typeface="Calibri" pitchFamily="34" charset="-122"/>
                <a:cs typeface="Calibri" pitchFamily="34" charset="-120"/>
              </a:rPr>
              <a:t>Étape 2 — Ouvrir votre wallet et choisir « Envoyer »</a:t>
            </a:r>
            <a:endParaRPr lang="en-US" sz="2200" dirty="0"/>
          </a:p>
        </p:txBody>
      </p:sp>
      <p:sp>
        <p:nvSpPr>
          <p:cNvPr id="3" name="Text 1"/>
          <p:cNvSpPr txBox="1"/>
          <p:nvPr/>
        </p:nvSpPr>
        <p:spPr>
          <a:xfrm>
            <a:off x="731520" y="105156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Sélectionnez le token à envoyer (USDT), sur le bon réseau (TRC20 par exemple). Cliquez sur « Envoyer » (ou « Send »).</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Copier-coller uniquement. Vérifiez visuellement les premiers et derniers caractères. Si vous êtes en face du destinataire, préférez le QR code.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Vous pouvez entrer un montant en USDT ou parfois en USD si votre wallet l'affiche.</a:t>
            </a:r>
            <a:endParaRPr lang="en-US" sz="1400" dirty="0"/>
          </a:p>
        </p:txBody>
      </p:sp>
      <p:sp>
        <p:nvSpPr>
          <p:cNvPr id="4"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9 — Lecon 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365760"/>
            <a:ext cx="7680960" cy="548640"/>
          </a:xfrm>
          <a:prstGeom prst="rect">
            <a:avLst/>
          </a:prstGeom>
          <a:noFill/>
          <a:ln/>
        </p:spPr>
        <p:txBody>
          <a:bodyPr wrap="square" lIns="0" tIns="0" rIns="0" bIns="0" rtlCol="0" anchor="ctr"/>
          <a:lstStyle/>
          <a:p>
            <a:pPr indent="0" marL="0">
              <a:buNone/>
            </a:pPr>
            <a:r>
              <a:rPr lang="en-US" sz="2200" b="1" dirty="0">
                <a:solidFill>
                  <a:srgbClr val="00BFA6"/>
                </a:solidFill>
                <a:latin typeface="Calibri" pitchFamily="34" charset="0"/>
                <a:ea typeface="Calibri" pitchFamily="34" charset="-122"/>
                <a:cs typeface="Calibri" pitchFamily="34" charset="-120"/>
              </a:rPr>
              <a:t>Étape 5 — Vérifier les frais réseau</a:t>
            </a:r>
            <a:endParaRPr lang="en-US" sz="2200" dirty="0"/>
          </a:p>
        </p:txBody>
      </p:sp>
      <p:sp>
        <p:nvSpPr>
          <p:cNvPr id="3" name="Text 1"/>
          <p:cNvSpPr txBox="1"/>
          <p:nvPr/>
        </p:nvSpPr>
        <p:spPr>
          <a:xfrm>
            <a:off x="731520" y="105156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Le wallet affiche les frais qui seront prélevés. Sur TRC20 : ~1 USDT. Sur ERC20 : peut monter à plusieurs dollars. Les frais sont payés en :</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TRX si vous envoyez depuis Tron.</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BNB si vous envoyez depuis BNB Chain.</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ETH si vous envoyez depuis Ethereum.</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MATIC (ou POL) sur Polygon.</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Important : vous devez avoir un peu de la monnaie native pour payer les frais. Si vous n'avez que des USDT-TRC20 sans TRX du tout, la transaction échouera. Astuce : gardez toujo...</a:t>
            </a:r>
            <a:endParaRPr lang="en-US" sz="1400" dirty="0"/>
          </a:p>
        </p:txBody>
      </p:sp>
      <p:sp>
        <p:nvSpPr>
          <p:cNvPr id="4"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9 — Lecon 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365760"/>
            <a:ext cx="7680960" cy="548640"/>
          </a:xfrm>
          <a:prstGeom prst="rect">
            <a:avLst/>
          </a:prstGeom>
          <a:noFill/>
          <a:ln/>
        </p:spPr>
        <p:txBody>
          <a:bodyPr wrap="square" lIns="0" tIns="0" rIns="0" bIns="0" rtlCol="0" anchor="ctr"/>
          <a:lstStyle/>
          <a:p>
            <a:pPr indent="0" marL="0">
              <a:buNone/>
            </a:pPr>
            <a:r>
              <a:rPr lang="en-US" sz="2200" b="1" dirty="0">
                <a:solidFill>
                  <a:srgbClr val="00BFA6"/>
                </a:solidFill>
                <a:latin typeface="Calibri" pitchFamily="34" charset="0"/>
                <a:ea typeface="Calibri" pitchFamily="34" charset="-122"/>
                <a:cs typeface="Calibri" pitchFamily="34" charset="-120"/>
              </a:rPr>
              <a:t>Étape 6 — Confirmer</a:t>
            </a:r>
            <a:endParaRPr lang="en-US" sz="2200" dirty="0"/>
          </a:p>
        </p:txBody>
      </p:sp>
      <p:sp>
        <p:nvSpPr>
          <p:cNvPr id="3" name="Text 1"/>
          <p:cNvSpPr txBox="1"/>
          <p:nvPr/>
        </p:nvSpPr>
        <p:spPr>
          <a:xfrm>
            <a:off x="731520" y="105156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Une fois validé, la transaction est diffusée sur le réseau. Vous voyez un ID de transaction (« Transaction Hash »). Gardez-le : il prouve l'envoi et permet de suivre l'état sur ...</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Le destinataire reçoit ses fonds en quelques secondes à quelques minutes.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Envoyer sur le mauvais réseau (TRC20 sur adresse ERC20 par exemple). C'est la cause n°1 de perte de fonds. Voir la leçon suivante.</a:t>
            </a:r>
            <a:endParaRPr lang="en-US" sz="1400" dirty="0"/>
          </a:p>
        </p:txBody>
      </p:sp>
      <p:sp>
        <p:nvSpPr>
          <p:cNvPr id="4"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9 — Lecon 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332"/>
        </a:solidFill>
      </p:bgPr>
    </p:bg>
    <p:spTree>
      <p:nvGrpSpPr>
        <p:cNvPr id="1" name=""/>
        <p:cNvGrpSpPr/>
        <p:nvPr/>
      </p:nvGrpSpPr>
      <p:grpSpPr>
        <a:xfrm>
          <a:off x="0" y="0"/>
          <a:ext cx="0" cy="0"/>
          <a:chOff x="0" y="0"/>
          <a:chExt cx="0" cy="0"/>
        </a:xfrm>
      </p:grpSpPr>
      <p:sp>
        <p:nvSpPr>
          <p:cNvPr id="2" name="Text 0"/>
          <p:cNvSpPr txBox="1"/>
          <p:nvPr/>
        </p:nvSpPr>
        <p:spPr>
          <a:xfrm>
            <a:off x="731520" y="457200"/>
            <a:ext cx="2743200" cy="36576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A RETENIR</a:t>
            </a:r>
            <a:endParaRPr lang="en-US" sz="1200" dirty="0"/>
          </a:p>
        </p:txBody>
      </p:sp>
      <p:sp>
        <p:nvSpPr>
          <p:cNvPr id="3" name="Text 1"/>
          <p:cNvSpPr txBox="1"/>
          <p:nvPr/>
        </p:nvSpPr>
        <p:spPr>
          <a:xfrm>
            <a:off x="731520" y="868680"/>
            <a:ext cx="768096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Envoyer des cryptos, pas à pas</a:t>
            </a:r>
            <a:endParaRPr lang="en-US" sz="2200" dirty="0"/>
          </a:p>
        </p:txBody>
      </p:sp>
      <p:sp>
        <p:nvSpPr>
          <p:cNvPr id="4" name="Text 2"/>
          <p:cNvSpPr txBox="1"/>
          <p:nvPr/>
        </p:nvSpPr>
        <p:spPr>
          <a:xfrm>
            <a:off x="731520" y="1554480"/>
            <a:ext cx="457200" cy="548640"/>
          </a:xfrm>
          <a:prstGeom prst="roundRect">
            <a:avLst>
              <a:gd name="adj" fmla="val 50000"/>
            </a:avLst>
          </a:prstGeom>
          <a:solidFill>
            <a:srgbClr val="00BFA6"/>
          </a:solidFill>
          <a:ln/>
        </p:spPr>
        <p:txBody>
          <a:bodyPr wrap="square" lIns="0" tIns="0" rIns="0" bIns="0" rtlCol="0" anchor="ctr"/>
          <a:lstStyle/>
          <a:p>
            <a:pPr algn="ctr" indent="0" marL="0">
              <a:buNone/>
            </a:pPr>
            <a:r>
              <a:rPr lang="en-US" sz="1600" b="1" dirty="0">
                <a:solidFill>
                  <a:srgbClr val="0F1419"/>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371600" y="1554480"/>
            <a:ext cx="70408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Son adresse crypto (elle vous la copie-colle).</a:t>
            </a:r>
            <a:endParaRPr lang="en-US" sz="1400" dirty="0"/>
          </a:p>
        </p:txBody>
      </p:sp>
      <p:sp>
        <p:nvSpPr>
          <p:cNvPr id="6" name="Text 4"/>
          <p:cNvSpPr txBox="1"/>
          <p:nvPr/>
        </p:nvSpPr>
        <p:spPr>
          <a:xfrm>
            <a:off x="731520" y="2212848"/>
            <a:ext cx="457200" cy="548640"/>
          </a:xfrm>
          <a:prstGeom prst="roundRect">
            <a:avLst>
              <a:gd name="adj" fmla="val 50000"/>
            </a:avLst>
          </a:prstGeom>
          <a:solidFill>
            <a:srgbClr val="00BFA6"/>
          </a:solidFill>
          <a:ln/>
        </p:spPr>
        <p:txBody>
          <a:bodyPr wrap="square" lIns="0" tIns="0" rIns="0" bIns="0" rtlCol="0" anchor="ctr"/>
          <a:lstStyle/>
          <a:p>
            <a:pPr algn="ctr" indent="0" marL="0">
              <a:buNone/>
            </a:pPr>
            <a:r>
              <a:rPr lang="en-US" sz="1600" b="1" dirty="0">
                <a:solidFill>
                  <a:srgbClr val="0F1419"/>
                </a:solidFill>
                <a:latin typeface="Calibri" pitchFamily="34" charset="0"/>
                <a:ea typeface="Calibri" pitchFamily="34" charset="-122"/>
                <a:cs typeface="Calibri" pitchFamily="34" charset="-120"/>
              </a:rPr>
              <a:t>2</a:t>
            </a:r>
            <a:endParaRPr lang="en-US" sz="1600" dirty="0"/>
          </a:p>
        </p:txBody>
      </p:sp>
      <p:sp>
        <p:nvSpPr>
          <p:cNvPr id="7" name="Text 5"/>
          <p:cNvSpPr txBox="1"/>
          <p:nvPr/>
        </p:nvSpPr>
        <p:spPr>
          <a:xfrm>
            <a:off x="1371600" y="2212848"/>
            <a:ext cx="70408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Le réseau correspondant. Sans cette info, vous ne pouvez pas envoyer en sécurité.</a:t>
            </a:r>
            <a:endParaRPr lang="en-US" sz="1400" dirty="0"/>
          </a:p>
        </p:txBody>
      </p:sp>
      <p:sp>
        <p:nvSpPr>
          <p:cNvPr id="8" name="Text 6"/>
          <p:cNvSpPr txBox="1"/>
          <p:nvPr/>
        </p:nvSpPr>
        <p:spPr>
          <a:xfrm>
            <a:off x="731520" y="2871216"/>
            <a:ext cx="457200" cy="548640"/>
          </a:xfrm>
          <a:prstGeom prst="roundRect">
            <a:avLst>
              <a:gd name="adj" fmla="val 50000"/>
            </a:avLst>
          </a:prstGeom>
          <a:solidFill>
            <a:srgbClr val="00BFA6"/>
          </a:solidFill>
          <a:ln/>
        </p:spPr>
        <p:txBody>
          <a:bodyPr wrap="square" lIns="0" tIns="0" rIns="0" bIns="0" rtlCol="0" anchor="ctr"/>
          <a:lstStyle/>
          <a:p>
            <a:pPr algn="ctr" indent="0" marL="0">
              <a:buNone/>
            </a:pPr>
            <a:r>
              <a:rPr lang="en-US" sz="1600" b="1" dirty="0">
                <a:solidFill>
                  <a:srgbClr val="0F1419"/>
                </a:solidFill>
                <a:latin typeface="Calibri" pitchFamily="34" charset="0"/>
                <a:ea typeface="Calibri" pitchFamily="34" charset="-122"/>
                <a:cs typeface="Calibri" pitchFamily="34" charset="-120"/>
              </a:rPr>
              <a:t>3</a:t>
            </a:r>
            <a:endParaRPr lang="en-US" sz="1600" dirty="0"/>
          </a:p>
        </p:txBody>
      </p:sp>
      <p:sp>
        <p:nvSpPr>
          <p:cNvPr id="9" name="Text 7"/>
          <p:cNvSpPr txBox="1"/>
          <p:nvPr/>
        </p:nvSpPr>
        <p:spPr>
          <a:xfrm>
            <a:off x="1371600" y="2871216"/>
            <a:ext cx="70408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Lui demander une adresse TRC20.</a:t>
            </a:r>
            <a:endParaRPr lang="en-US" sz="1400" dirty="0"/>
          </a:p>
        </p:txBody>
      </p:sp>
      <p:sp>
        <p:nvSpPr>
          <p:cNvPr id="10" name="Text 8"/>
          <p:cNvSpPr txBox="1"/>
          <p:nvPr/>
        </p:nvSpPr>
        <p:spPr>
          <a:xfrm>
            <a:off x="731520" y="3529584"/>
            <a:ext cx="457200" cy="548640"/>
          </a:xfrm>
          <a:prstGeom prst="roundRect">
            <a:avLst>
              <a:gd name="adj" fmla="val 50000"/>
            </a:avLst>
          </a:prstGeom>
          <a:solidFill>
            <a:srgbClr val="00BFA6"/>
          </a:solidFill>
          <a:ln/>
        </p:spPr>
        <p:txBody>
          <a:bodyPr wrap="square" lIns="0" tIns="0" rIns="0" bIns="0" rtlCol="0" anchor="ctr"/>
          <a:lstStyle/>
          <a:p>
            <a:pPr algn="ctr" indent="0" marL="0">
              <a:buNone/>
            </a:pPr>
            <a:r>
              <a:rPr lang="en-US" sz="1600" b="1" dirty="0">
                <a:solidFill>
                  <a:srgbClr val="0F1419"/>
                </a:solidFill>
                <a:latin typeface="Calibri" pitchFamily="34" charset="0"/>
                <a:ea typeface="Calibri" pitchFamily="34" charset="-122"/>
                <a:cs typeface="Calibri" pitchFamily="34" charset="-120"/>
              </a:rPr>
              <a:t>4</a:t>
            </a:r>
            <a:endParaRPr lang="en-US" sz="1600" dirty="0"/>
          </a:p>
        </p:txBody>
      </p:sp>
      <p:sp>
        <p:nvSpPr>
          <p:cNvPr id="11" name="Text 9"/>
          <p:cNvSpPr txBox="1"/>
          <p:nvPr/>
        </p:nvSpPr>
        <p:spPr>
          <a:xfrm>
            <a:off x="1371600" y="3529584"/>
            <a:ext cx="70408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Convertir vos USDT-TRC20 en USDT-ERC20 (via Binance ou un service de bridge — sujet avancé).</a:t>
            </a:r>
            <a:endParaRPr lang="en-US" sz="1400" dirty="0"/>
          </a:p>
        </p:txBody>
      </p:sp>
      <p:sp>
        <p:nvSpPr>
          <p:cNvPr id="12" name="Text 10"/>
          <p:cNvSpPr txBox="1"/>
          <p:nvPr/>
        </p:nvSpPr>
        <p:spPr>
          <a:xfrm>
            <a:off x="731520" y="4187952"/>
            <a:ext cx="457200" cy="548640"/>
          </a:xfrm>
          <a:prstGeom prst="roundRect">
            <a:avLst>
              <a:gd name="adj" fmla="val 50000"/>
            </a:avLst>
          </a:prstGeom>
          <a:solidFill>
            <a:srgbClr val="00BFA6"/>
          </a:solidFill>
          <a:ln/>
        </p:spPr>
        <p:txBody>
          <a:bodyPr wrap="square" lIns="0" tIns="0" rIns="0" bIns="0" rtlCol="0" anchor="ctr"/>
          <a:lstStyle/>
          <a:p>
            <a:pPr algn="ctr" indent="0" marL="0">
              <a:buNone/>
            </a:pPr>
            <a:r>
              <a:rPr lang="en-US" sz="1600" b="1" dirty="0">
                <a:solidFill>
                  <a:srgbClr val="0F1419"/>
                </a:solidFill>
                <a:latin typeface="Calibri" pitchFamily="34" charset="0"/>
                <a:ea typeface="Calibri" pitchFamily="34" charset="-122"/>
                <a:cs typeface="Calibri" pitchFamily="34" charset="-120"/>
              </a:rPr>
              <a:t>5</a:t>
            </a:r>
            <a:endParaRPr lang="en-US" sz="1600" dirty="0"/>
          </a:p>
        </p:txBody>
      </p:sp>
      <p:sp>
        <p:nvSpPr>
          <p:cNvPr id="13" name="Text 11"/>
          <p:cNvSpPr txBox="1"/>
          <p:nvPr/>
        </p:nvSpPr>
        <p:spPr>
          <a:xfrm>
            <a:off x="1371600" y="4187952"/>
            <a:ext cx="70408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TRX si vous envoyez depuis Tron.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548640" y="731520"/>
            <a:ext cx="8046720" cy="3657600"/>
          </a:xfrm>
          <a:prstGeom prst="roundRect">
            <a:avLst>
              <a:gd name="adj" fmla="val 3750"/>
            </a:avLst>
          </a:prstGeom>
          <a:solidFill>
            <a:srgbClr val="2D1B1B"/>
          </a:solidFill>
          <a:ln/>
        </p:spPr>
      </p:sp>
      <p:sp>
        <p:nvSpPr>
          <p:cNvPr id="3" name="Text 1"/>
          <p:cNvSpPr txBox="1"/>
          <p:nvPr/>
        </p:nvSpPr>
        <p:spPr>
          <a:xfrm>
            <a:off x="822960" y="914400"/>
            <a:ext cx="2743200" cy="411480"/>
          </a:xfrm>
          <a:prstGeom prst="rect">
            <a:avLst/>
          </a:prstGeom>
          <a:noFill/>
          <a:ln/>
        </p:spPr>
        <p:txBody>
          <a:bodyPr wrap="square" lIns="0" tIns="0" rIns="0" bIns="0" rtlCol="0" anchor="ctr"/>
          <a:lstStyle/>
          <a:p>
            <a:pPr indent="0" marL="0">
              <a:buNone/>
            </a:pPr>
            <a:r>
              <a:rPr lang="en-US" sz="1400" b="1" spc="300" kern="0" dirty="0">
                <a:solidFill>
                  <a:srgbClr val="EF4444"/>
                </a:solidFill>
                <a:latin typeface="Calibri" pitchFamily="34" charset="0"/>
                <a:ea typeface="Calibri" pitchFamily="34" charset="-122"/>
                <a:cs typeface="Calibri" pitchFamily="34" charset="-120"/>
              </a:rPr>
              <a:t>ATTENTION</a:t>
            </a:r>
            <a:endParaRPr lang="en-US" sz="1400" dirty="0"/>
          </a:p>
        </p:txBody>
      </p:sp>
      <p:sp>
        <p:nvSpPr>
          <p:cNvPr id="4" name="Text 2"/>
          <p:cNvSpPr txBox="1"/>
          <p:nvPr/>
        </p:nvSpPr>
        <p:spPr>
          <a:xfrm>
            <a:off x="822960" y="1371600"/>
            <a:ext cx="7498080" cy="2194560"/>
          </a:xfrm>
          <a:prstGeom prst="rect">
            <a:avLst/>
          </a:prstGeom>
          <a:noFill/>
          <a:ln/>
        </p:spPr>
        <p:txBody>
          <a:bodyPr wrap="square" lIns="0" tIns="0" rIns="0" bIns="0" rtlCol="0" anchor="t"/>
          <a:lstStyle/>
          <a:p>
            <a:pPr indent="0" marL="0">
              <a:buNone/>
            </a:pPr>
            <a:r>
              <a:rPr lang="en-US" sz="1300" dirty="0">
                <a:solidFill>
                  <a:srgbClr val="FCA5A5"/>
                </a:solidFill>
                <a:latin typeface="Calibri" pitchFamily="34" charset="0"/>
                <a:ea typeface="Calibri" pitchFamily="34" charset="-122"/>
                <a:cs typeface="Calibri" pitchFamily="34" charset="-120"/>
              </a:rPr>
              <a:t>Important : vous devez avoir un peu de la monnaie native pour payer les frais. Si vous n'avez que des USDT-TRC20 sans TRX du tout, la transaction échouera. Astuce : gardez toujours l'équivalent de 5$ de monnaie native dans le wallet pour couvrir 5-10 transactions.</a:t>
            </a:r>
            <a:endParaRPr lang="en-US" sz="1300" dirty="0"/>
          </a:p>
          <a:p>
            <a:pPr indent="0" marL="0">
              <a:buNone/>
            </a:pPr>
            <a:endParaRPr lang="en-US" sz="1300" dirty="0"/>
          </a:p>
          <a:p>
            <a:pPr indent="0" marL="0">
              <a:buNone/>
            </a:pPr>
            <a:r>
              <a:rPr lang="en-US" sz="1300" dirty="0">
                <a:solidFill>
                  <a:srgbClr val="FCA5A5"/>
                </a:solidFill>
                <a:latin typeface="Calibri" pitchFamily="34" charset="0"/>
                <a:ea typeface="Calibri" pitchFamily="34" charset="-122"/>
                <a:cs typeface="Calibri" pitchFamily="34" charset="-120"/>
              </a:rPr>
              <a:t>Étape 6 — Confirmer</a:t>
            </a:r>
            <a:endParaRPr lang="en-US" sz="1300" dirty="0"/>
          </a:p>
          <a:p>
            <a:pPr indent="0" marL="0">
              <a:buNone/>
            </a:pPr>
            <a:endParaRPr lang="en-US" sz="1300" dirty="0"/>
          </a:p>
          <a:p>
            <a:pPr indent="0" marL="0">
              <a:buNone/>
            </a:pPr>
            <a:r>
              <a:rPr lang="en-US" sz="1300" dirty="0">
                <a:solidFill>
                  <a:srgbClr val="FCA5A5"/>
                </a:solidFill>
                <a:latin typeface="Calibri" pitchFamily="34" charset="0"/>
                <a:ea typeface="Calibri" pitchFamily="34" charset="-122"/>
                <a:cs typeface="Calibri" pitchFamily="34" charset="-120"/>
              </a:rPr>
              <a:t>Une fois validé, la transaction est diffusée sur le réseau. Vous voyez un ID de transaction (« Transaction Hash »). Gardez-le : il prouve l'envoi et permet de suivre l'état sur l'explorateur.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548640" y="914400"/>
            <a:ext cx="45720" cy="2560320"/>
          </a:xfrm>
          <a:prstGeom prst="rect">
            <a:avLst/>
          </a:prstGeom>
          <a:solidFill>
            <a:srgbClr val="00BFA6"/>
          </a:solidFill>
          <a:ln/>
        </p:spPr>
      </p:sp>
      <p:sp>
        <p:nvSpPr>
          <p:cNvPr id="3" name="Text 1"/>
          <p:cNvSpPr txBox="1"/>
          <p:nvPr/>
        </p:nvSpPr>
        <p:spPr>
          <a:xfrm>
            <a:off x="822960" y="1097280"/>
            <a:ext cx="2743200" cy="365760"/>
          </a:xfrm>
          <a:prstGeom prst="rect">
            <a:avLst/>
          </a:prstGeom>
          <a:noFill/>
          <a:ln/>
        </p:spPr>
        <p:txBody>
          <a:bodyPr wrap="square" lIns="0" tIns="0" rIns="0" bIns="0" rtlCol="0" anchor="ctr"/>
          <a:lstStyle/>
          <a:p>
            <a:pPr indent="0" marL="0">
              <a:buNone/>
            </a:pPr>
            <a:r>
              <a:rPr lang="en-US" sz="1200" b="1" spc="200" kern="0" dirty="0">
                <a:solidFill>
                  <a:srgbClr val="00BFA6"/>
                </a:solidFill>
                <a:latin typeface="Calibri" pitchFamily="34" charset="0"/>
                <a:ea typeface="Calibri" pitchFamily="34" charset="-122"/>
                <a:cs typeface="Calibri" pitchFamily="34" charset="-120"/>
              </a:rPr>
              <a:t>Lecon 2 / 3</a:t>
            </a:r>
            <a:endParaRPr lang="en-US" sz="1200" dirty="0"/>
          </a:p>
        </p:txBody>
      </p:sp>
      <p:sp>
        <p:nvSpPr>
          <p:cNvPr id="4" name="Text 2"/>
          <p:cNvSpPr txBox="1"/>
          <p:nvPr/>
        </p:nvSpPr>
        <p:spPr>
          <a:xfrm>
            <a:off x="822960" y="1645920"/>
            <a:ext cx="7498080" cy="128016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Comprendre les frais de réseau (gas fees)</a:t>
            </a:r>
            <a:endParaRPr lang="en-US" sz="3000" dirty="0"/>
          </a:p>
        </p:txBody>
      </p:sp>
      <p:sp>
        <p:nvSpPr>
          <p:cNvPr id="5" name="Text 3"/>
          <p:cNvSpPr txBox="1"/>
          <p:nvPr/>
        </p:nvSpPr>
        <p:spPr>
          <a:xfrm>
            <a:off x="822960" y="4206240"/>
            <a:ext cx="54864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Envoyer, recevoir &amp; comprendre les réseaux</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45720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Chaque fois que vous envoyez une transaction sur une blockchain, vous payez des « frais réseau » (ou « gas fees »). C'est ce qui incite les validateurs à traiter votre transacti...</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Quand vous envoyez une transaction, elle rejoint une file d'attente (la « mempool »). Les validateurs choisissent quelles transactions inclure en priorité dans le prochain bloc....</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Donc : plus vous payez, plus vous êtes servi vite. Moins vous payez, plus votre transaction attend (voire n'est jamais incluse si le prix est trop bas).</a:t>
            </a:r>
            <a:endParaRPr lang="en-US" sz="1400" dirty="0"/>
          </a:p>
        </p:txBody>
      </p:sp>
      <p:sp>
        <p:nvSpPr>
          <p:cNvPr id="3" name="Text 1"/>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9 — Lecon 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365760"/>
            <a:ext cx="7680960" cy="548640"/>
          </a:xfrm>
          <a:prstGeom prst="rect">
            <a:avLst/>
          </a:prstGeom>
          <a:noFill/>
          <a:ln/>
        </p:spPr>
        <p:txBody>
          <a:bodyPr wrap="square" lIns="0" tIns="0" rIns="0" bIns="0" rtlCol="0" anchor="ctr"/>
          <a:lstStyle/>
          <a:p>
            <a:pPr indent="0" marL="0">
              <a:buNone/>
            </a:pPr>
            <a:r>
              <a:rPr lang="en-US" sz="2200" b="1" dirty="0">
                <a:solidFill>
                  <a:srgbClr val="00BFA6"/>
                </a:solidFill>
                <a:latin typeface="Calibri" pitchFamily="34" charset="0"/>
                <a:ea typeface="Calibri" pitchFamily="34" charset="-122"/>
                <a:cs typeface="Calibri" pitchFamily="34" charset="-120"/>
              </a:rPr>
              <a:t>Combien ça coûte ?</a:t>
            </a:r>
            <a:endParaRPr lang="en-US" sz="2200" dirty="0"/>
          </a:p>
        </p:txBody>
      </p:sp>
      <p:sp>
        <p:nvSpPr>
          <p:cNvPr id="3" name="Text 1"/>
          <p:cNvSpPr txBox="1"/>
          <p:nvPr/>
        </p:nvSpPr>
        <p:spPr>
          <a:xfrm>
            <a:off x="731520" y="105156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Tron (TRC20) : ~1 USDT quel que soit le montant. Ultra prévisible. C'est la raison principale pour laquelle l'USDT-TRC20 domine en Afrique.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BNB Chain (BEP20) : ~0,10 à 0,50 USDT. Très raisonnable.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Polygon : moins de 0,01 USDT. Quasi gratuit.</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Solana : 0,00025 SOL ≈ 0,04 USDT. Presque gratuit.</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Ethereum (ERC20) : très variable. En période calme : 2-5 USDT. En période chargée : 20-50 USDT. En pic de spéculation : jusqu'à 200 USDT pour une simple transaction.</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C'est pour ça qu'ERC20 ne devrait être utilisé que pour de gros montants, où les frais deviennent relativement faibles.</a:t>
            </a:r>
            <a:endParaRPr lang="en-US" sz="1400" dirty="0"/>
          </a:p>
        </p:txBody>
      </p:sp>
      <p:sp>
        <p:nvSpPr>
          <p:cNvPr id="4"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9 — Lecon 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365760"/>
            <a:ext cx="7680960" cy="548640"/>
          </a:xfrm>
          <a:prstGeom prst="rect">
            <a:avLst/>
          </a:prstGeom>
          <a:noFill/>
          <a:ln/>
        </p:spPr>
        <p:txBody>
          <a:bodyPr wrap="square" lIns="0" tIns="0" rIns="0" bIns="0" rtlCol="0" anchor="ctr"/>
          <a:lstStyle/>
          <a:p>
            <a:pPr indent="0" marL="0">
              <a:buNone/>
            </a:pPr>
            <a:r>
              <a:rPr lang="en-US" sz="2200" b="1" dirty="0">
                <a:solidFill>
                  <a:srgbClr val="00BFA6"/>
                </a:solidFill>
                <a:latin typeface="Calibri" pitchFamily="34" charset="0"/>
                <a:ea typeface="Calibri" pitchFamily="34" charset="-122"/>
                <a:cs typeface="Calibri" pitchFamily="34" charset="-120"/>
              </a:rPr>
              <a:t>Comment ne pas payer trop cher ?</a:t>
            </a:r>
            <a:endParaRPr lang="en-US" sz="2200" dirty="0"/>
          </a:p>
        </p:txBody>
      </p:sp>
      <p:sp>
        <p:nvSpPr>
          <p:cNvPr id="3" name="Text 1"/>
          <p:cNvSpPr txBox="1"/>
          <p:nvPr/>
        </p:nvSpPr>
        <p:spPr>
          <a:xfrm>
            <a:off x="731520" y="105156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Choisir le bon réseau : préférez TRC20 pour les petits transferts USDT.</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Éviter les heures de pointe sur Ethereum : les frais explosent en journée US (14h-23h UTC). Envoyez plutôt le matin ou la nuit.</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Regrouper vos envois : plutôt que d'envoyer 10 fois 10$ à la même personne, envoyez 100$ d'un coup. Frais divisés par 10.</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Ne pas paniquer sur une transaction lente : quand le réseau est chargé, il vaut mieux attendre que d'essayer de « pousser » avec plus de frais.</a:t>
            </a:r>
            <a:endParaRPr lang="en-US" sz="1400" dirty="0"/>
          </a:p>
        </p:txBody>
      </p:sp>
      <p:sp>
        <p:nvSpPr>
          <p:cNvPr id="4"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9 — Lecon 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365760"/>
            <a:ext cx="7680960" cy="548640"/>
          </a:xfrm>
          <a:prstGeom prst="rect">
            <a:avLst/>
          </a:prstGeom>
          <a:noFill/>
          <a:ln/>
        </p:spPr>
        <p:txBody>
          <a:bodyPr wrap="square" lIns="0" tIns="0" rIns="0" bIns="0" rtlCol="0" anchor="ctr"/>
          <a:lstStyle/>
          <a:p>
            <a:pPr indent="0" marL="0">
              <a:buNone/>
            </a:pPr>
            <a:r>
              <a:rPr lang="en-US" sz="2200" b="1" dirty="0">
                <a:solidFill>
                  <a:srgbClr val="00BFA6"/>
                </a:solidFill>
                <a:latin typeface="Calibri" pitchFamily="34" charset="0"/>
                <a:ea typeface="Calibri" pitchFamily="34" charset="-122"/>
                <a:cs typeface="Calibri" pitchFamily="34" charset="-120"/>
              </a:rPr>
              <a:t>Pourquoi les frais existent-ils ?</a:t>
            </a:r>
            <a:endParaRPr lang="en-US" sz="2200" dirty="0"/>
          </a:p>
        </p:txBody>
      </p:sp>
      <p:sp>
        <p:nvSpPr>
          <p:cNvPr id="3" name="Text 1"/>
          <p:cNvSpPr txBox="1"/>
          <p:nvPr/>
        </p:nvSpPr>
        <p:spPr>
          <a:xfrm>
            <a:off x="731520" y="105156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Sans frais, un attaquant pourrait spammer le réseau avec des millions de transactions vides et le paralyser. Les frais découragent le spam et rétribuent les validateurs.</a:t>
            </a:r>
            <a:endParaRPr lang="en-US" sz="1400" dirty="0"/>
          </a:p>
        </p:txBody>
      </p:sp>
      <p:sp>
        <p:nvSpPr>
          <p:cNvPr id="4"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9 — Lecon 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2332"/>
        </a:solidFill>
      </p:bgPr>
    </p:bg>
    <p:spTree>
      <p:nvGrpSpPr>
        <p:cNvPr id="1" name=""/>
        <p:cNvGrpSpPr/>
        <p:nvPr/>
      </p:nvGrpSpPr>
      <p:grpSpPr>
        <a:xfrm>
          <a:off x="0" y="0"/>
          <a:ext cx="0" cy="0"/>
          <a:chOff x="0" y="0"/>
          <a:chExt cx="0" cy="0"/>
        </a:xfrm>
      </p:grpSpPr>
      <p:sp>
        <p:nvSpPr>
          <p:cNvPr id="2" name="Text 0"/>
          <p:cNvSpPr txBox="1"/>
          <p:nvPr/>
        </p:nvSpPr>
        <p:spPr>
          <a:xfrm>
            <a:off x="731520" y="457200"/>
            <a:ext cx="2743200" cy="36576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A RETENIR</a:t>
            </a:r>
            <a:endParaRPr lang="en-US" sz="1200" dirty="0"/>
          </a:p>
        </p:txBody>
      </p:sp>
      <p:sp>
        <p:nvSpPr>
          <p:cNvPr id="3" name="Text 1"/>
          <p:cNvSpPr txBox="1"/>
          <p:nvPr/>
        </p:nvSpPr>
        <p:spPr>
          <a:xfrm>
            <a:off x="731520" y="868680"/>
            <a:ext cx="768096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Comprendre les frais de réseau (gas fees)</a:t>
            </a:r>
            <a:endParaRPr lang="en-US" sz="2200" dirty="0"/>
          </a:p>
        </p:txBody>
      </p:sp>
      <p:sp>
        <p:nvSpPr>
          <p:cNvPr id="4" name="Text 2"/>
          <p:cNvSpPr txBox="1"/>
          <p:nvPr/>
        </p:nvSpPr>
        <p:spPr>
          <a:xfrm>
            <a:off x="731520" y="1554480"/>
            <a:ext cx="457200" cy="548640"/>
          </a:xfrm>
          <a:prstGeom prst="roundRect">
            <a:avLst>
              <a:gd name="adj" fmla="val 50000"/>
            </a:avLst>
          </a:prstGeom>
          <a:solidFill>
            <a:srgbClr val="00BFA6"/>
          </a:solidFill>
          <a:ln/>
        </p:spPr>
        <p:txBody>
          <a:bodyPr wrap="square" lIns="0" tIns="0" rIns="0" bIns="0" rtlCol="0" anchor="ctr"/>
          <a:lstStyle/>
          <a:p>
            <a:pPr algn="ctr" indent="0" marL="0">
              <a:buNone/>
            </a:pPr>
            <a:r>
              <a:rPr lang="en-US" sz="1600" b="1" dirty="0">
                <a:solidFill>
                  <a:srgbClr val="0F1419"/>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371600" y="1554480"/>
            <a:ext cx="70408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Choisir le bon réseau : préférez TRC20 pour les petits transferts USDT.</a:t>
            </a:r>
            <a:endParaRPr lang="en-US" sz="1400" dirty="0"/>
          </a:p>
        </p:txBody>
      </p:sp>
      <p:sp>
        <p:nvSpPr>
          <p:cNvPr id="6" name="Text 4"/>
          <p:cNvSpPr txBox="1"/>
          <p:nvPr/>
        </p:nvSpPr>
        <p:spPr>
          <a:xfrm>
            <a:off x="731520" y="2212848"/>
            <a:ext cx="457200" cy="548640"/>
          </a:xfrm>
          <a:prstGeom prst="roundRect">
            <a:avLst>
              <a:gd name="adj" fmla="val 50000"/>
            </a:avLst>
          </a:prstGeom>
          <a:solidFill>
            <a:srgbClr val="00BFA6"/>
          </a:solidFill>
          <a:ln/>
        </p:spPr>
        <p:txBody>
          <a:bodyPr wrap="square" lIns="0" tIns="0" rIns="0" bIns="0" rtlCol="0" anchor="ctr"/>
          <a:lstStyle/>
          <a:p>
            <a:pPr algn="ctr" indent="0" marL="0">
              <a:buNone/>
            </a:pPr>
            <a:r>
              <a:rPr lang="en-US" sz="1600" b="1" dirty="0">
                <a:solidFill>
                  <a:srgbClr val="0F1419"/>
                </a:solidFill>
                <a:latin typeface="Calibri" pitchFamily="34" charset="0"/>
                <a:ea typeface="Calibri" pitchFamily="34" charset="-122"/>
                <a:cs typeface="Calibri" pitchFamily="34" charset="-120"/>
              </a:rPr>
              <a:t>2</a:t>
            </a:r>
            <a:endParaRPr lang="en-US" sz="1600" dirty="0"/>
          </a:p>
        </p:txBody>
      </p:sp>
      <p:sp>
        <p:nvSpPr>
          <p:cNvPr id="7" name="Text 5"/>
          <p:cNvSpPr txBox="1"/>
          <p:nvPr/>
        </p:nvSpPr>
        <p:spPr>
          <a:xfrm>
            <a:off x="1371600" y="2212848"/>
            <a:ext cx="70408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Éviter les heures de pointe sur Ethereum : les frais explosent en journée US (14h-23h UTC). Envoyez plutôt le matin ou la nuit.</a:t>
            </a:r>
            <a:endParaRPr lang="en-US" sz="1400" dirty="0"/>
          </a:p>
        </p:txBody>
      </p:sp>
      <p:sp>
        <p:nvSpPr>
          <p:cNvPr id="8" name="Text 6"/>
          <p:cNvSpPr txBox="1"/>
          <p:nvPr/>
        </p:nvSpPr>
        <p:spPr>
          <a:xfrm>
            <a:off x="731520" y="2871216"/>
            <a:ext cx="457200" cy="548640"/>
          </a:xfrm>
          <a:prstGeom prst="roundRect">
            <a:avLst>
              <a:gd name="adj" fmla="val 50000"/>
            </a:avLst>
          </a:prstGeom>
          <a:solidFill>
            <a:srgbClr val="00BFA6"/>
          </a:solidFill>
          <a:ln/>
        </p:spPr>
        <p:txBody>
          <a:bodyPr wrap="square" lIns="0" tIns="0" rIns="0" bIns="0" rtlCol="0" anchor="ctr"/>
          <a:lstStyle/>
          <a:p>
            <a:pPr algn="ctr" indent="0" marL="0">
              <a:buNone/>
            </a:pPr>
            <a:r>
              <a:rPr lang="en-US" sz="1600" b="1" dirty="0">
                <a:solidFill>
                  <a:srgbClr val="0F1419"/>
                </a:solidFill>
                <a:latin typeface="Calibri" pitchFamily="34" charset="0"/>
                <a:ea typeface="Calibri" pitchFamily="34" charset="-122"/>
                <a:cs typeface="Calibri" pitchFamily="34" charset="-120"/>
              </a:rPr>
              <a:t>3</a:t>
            </a:r>
            <a:endParaRPr lang="en-US" sz="1600" dirty="0"/>
          </a:p>
        </p:txBody>
      </p:sp>
      <p:sp>
        <p:nvSpPr>
          <p:cNvPr id="9" name="Text 7"/>
          <p:cNvSpPr txBox="1"/>
          <p:nvPr/>
        </p:nvSpPr>
        <p:spPr>
          <a:xfrm>
            <a:off x="1371600" y="2871216"/>
            <a:ext cx="70408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Regrouper vos envois : plutôt que d'envoyer 10 fois 10$ à la même personne, envoyez 100$ d'un coup. Frais divisés par 10.</a:t>
            </a:r>
            <a:endParaRPr lang="en-US" sz="1400" dirty="0"/>
          </a:p>
        </p:txBody>
      </p:sp>
      <p:sp>
        <p:nvSpPr>
          <p:cNvPr id="10" name="Text 8"/>
          <p:cNvSpPr txBox="1"/>
          <p:nvPr/>
        </p:nvSpPr>
        <p:spPr>
          <a:xfrm>
            <a:off x="731520" y="3529584"/>
            <a:ext cx="457200" cy="548640"/>
          </a:xfrm>
          <a:prstGeom prst="roundRect">
            <a:avLst>
              <a:gd name="adj" fmla="val 50000"/>
            </a:avLst>
          </a:prstGeom>
          <a:solidFill>
            <a:srgbClr val="00BFA6"/>
          </a:solidFill>
          <a:ln/>
        </p:spPr>
        <p:txBody>
          <a:bodyPr wrap="square" lIns="0" tIns="0" rIns="0" bIns="0" rtlCol="0" anchor="ctr"/>
          <a:lstStyle/>
          <a:p>
            <a:pPr algn="ctr" indent="0" marL="0">
              <a:buNone/>
            </a:pPr>
            <a:r>
              <a:rPr lang="en-US" sz="1600" b="1" dirty="0">
                <a:solidFill>
                  <a:srgbClr val="0F1419"/>
                </a:solidFill>
                <a:latin typeface="Calibri" pitchFamily="34" charset="0"/>
                <a:ea typeface="Calibri" pitchFamily="34" charset="-122"/>
                <a:cs typeface="Calibri" pitchFamily="34" charset="-120"/>
              </a:rPr>
              <a:t>4</a:t>
            </a:r>
            <a:endParaRPr lang="en-US" sz="1600" dirty="0"/>
          </a:p>
        </p:txBody>
      </p:sp>
      <p:sp>
        <p:nvSpPr>
          <p:cNvPr id="11" name="Text 9"/>
          <p:cNvSpPr txBox="1"/>
          <p:nvPr/>
        </p:nvSpPr>
        <p:spPr>
          <a:xfrm>
            <a:off x="1371600" y="3529584"/>
            <a:ext cx="70408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Ne pas paniquer sur une transaction lente : quand le réseau est chargé, il vaut mieux attendre que d'essayer de « pousser » avec plus de frais.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548640" y="914400"/>
            <a:ext cx="45720" cy="2560320"/>
          </a:xfrm>
          <a:prstGeom prst="rect">
            <a:avLst/>
          </a:prstGeom>
          <a:solidFill>
            <a:srgbClr val="00BFA6"/>
          </a:solidFill>
          <a:ln/>
        </p:spPr>
      </p:sp>
      <p:sp>
        <p:nvSpPr>
          <p:cNvPr id="3" name="Text 1"/>
          <p:cNvSpPr txBox="1"/>
          <p:nvPr/>
        </p:nvSpPr>
        <p:spPr>
          <a:xfrm>
            <a:off x="822960" y="1097280"/>
            <a:ext cx="2743200" cy="365760"/>
          </a:xfrm>
          <a:prstGeom prst="rect">
            <a:avLst/>
          </a:prstGeom>
          <a:noFill/>
          <a:ln/>
        </p:spPr>
        <p:txBody>
          <a:bodyPr wrap="square" lIns="0" tIns="0" rIns="0" bIns="0" rtlCol="0" anchor="ctr"/>
          <a:lstStyle/>
          <a:p>
            <a:pPr indent="0" marL="0">
              <a:buNone/>
            </a:pPr>
            <a:r>
              <a:rPr lang="en-US" sz="1200" b="1" spc="200" kern="0" dirty="0">
                <a:solidFill>
                  <a:srgbClr val="00BFA6"/>
                </a:solidFill>
                <a:latin typeface="Calibri" pitchFamily="34" charset="0"/>
                <a:ea typeface="Calibri" pitchFamily="34" charset="-122"/>
                <a:cs typeface="Calibri" pitchFamily="34" charset="-120"/>
              </a:rPr>
              <a:t>Lecon 3 / 3</a:t>
            </a:r>
            <a:endParaRPr lang="en-US" sz="1200" dirty="0"/>
          </a:p>
        </p:txBody>
      </p:sp>
      <p:sp>
        <p:nvSpPr>
          <p:cNvPr id="4" name="Text 2"/>
          <p:cNvSpPr txBox="1"/>
          <p:nvPr/>
        </p:nvSpPr>
        <p:spPr>
          <a:xfrm>
            <a:off x="822960" y="1645920"/>
            <a:ext cx="7498080" cy="128016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Éviter les erreurs de réseau — la règle absolue</a:t>
            </a:r>
            <a:endParaRPr lang="en-US" sz="3000" dirty="0"/>
          </a:p>
        </p:txBody>
      </p:sp>
      <p:sp>
        <p:nvSpPr>
          <p:cNvPr id="5" name="Text 3"/>
          <p:cNvSpPr txBox="1"/>
          <p:nvPr/>
        </p:nvSpPr>
        <p:spPr>
          <a:xfrm>
            <a:off x="822960" y="4206240"/>
            <a:ext cx="54864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Envoyer, recevoir &amp; comprendre les réseaux</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45720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C'est la leçon la plus importante de tout ce cours. Retenez-la, gravez-la :</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&gt; Le réseau d'envoi et le réseau de réception DOIVENT être identiques.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Si vous envoyez de l'USDT sur un réseau incompatible avec l'adresse de destination, vos fonds sont perdus définitivement. Personne — pas Terex, pas Trust Wallet, pas Binance — n...</a:t>
            </a:r>
            <a:endParaRPr lang="en-US" sz="1400" dirty="0"/>
          </a:p>
        </p:txBody>
      </p:sp>
      <p:sp>
        <p:nvSpPr>
          <p:cNvPr id="3" name="Text 1"/>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9 — Lecon 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365760"/>
            <a:ext cx="7680960" cy="548640"/>
          </a:xfrm>
          <a:prstGeom prst="rect">
            <a:avLst/>
          </a:prstGeom>
          <a:noFill/>
          <a:ln/>
        </p:spPr>
        <p:txBody>
          <a:bodyPr wrap="square" lIns="0" tIns="0" rIns="0" bIns="0" rtlCol="0" anchor="ctr"/>
          <a:lstStyle/>
          <a:p>
            <a:pPr indent="0" marL="0">
              <a:buNone/>
            </a:pPr>
            <a:r>
              <a:rPr lang="en-US" sz="2200" b="1" dirty="0">
                <a:solidFill>
                  <a:srgbClr val="00BFA6"/>
                </a:solidFill>
                <a:latin typeface="Calibri" pitchFamily="34" charset="0"/>
                <a:ea typeface="Calibri" pitchFamily="34" charset="-122"/>
                <a:cs typeface="Calibri" pitchFamily="34" charset="-120"/>
              </a:rPr>
              <a:t>Erreur 1 : USDT-TRC20 envoyé à une adresse ERC20 (0x…)</a:t>
            </a:r>
            <a:endParaRPr lang="en-US" sz="2200" dirty="0"/>
          </a:p>
        </p:txBody>
      </p:sp>
      <p:sp>
        <p:nvSpPr>
          <p:cNvPr id="3" name="Text 1"/>
          <p:cNvSpPr txBox="1"/>
          <p:nvPr/>
        </p:nvSpPr>
        <p:spPr>
          <a:xfrm>
            <a:off x="731520" y="105156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Les adresses ERC20 et TRC20 ont des formats très différents (0x… vs T…), mais parfois les gens confondent quand même. Une adresse 0x est une adresse Ethereum ou BNB ou Polygon —...</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Résultat : vos USDT partent dans le vide.</a:t>
            </a:r>
            <a:endParaRPr lang="en-US" sz="1400" dirty="0"/>
          </a:p>
        </p:txBody>
      </p:sp>
      <p:sp>
        <p:nvSpPr>
          <p:cNvPr id="4"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9 — Lecon 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365760"/>
            <a:ext cx="7680960" cy="548640"/>
          </a:xfrm>
          <a:prstGeom prst="rect">
            <a:avLst/>
          </a:prstGeom>
          <a:noFill/>
          <a:ln/>
        </p:spPr>
        <p:txBody>
          <a:bodyPr wrap="square" lIns="0" tIns="0" rIns="0" bIns="0" rtlCol="0" anchor="ctr"/>
          <a:lstStyle/>
          <a:p>
            <a:pPr indent="0" marL="0">
              <a:buNone/>
            </a:pPr>
            <a:r>
              <a:rPr lang="en-US" sz="2200" b="1" dirty="0">
                <a:solidFill>
                  <a:srgbClr val="00BFA6"/>
                </a:solidFill>
                <a:latin typeface="Calibri" pitchFamily="34" charset="0"/>
                <a:ea typeface="Calibri" pitchFamily="34" charset="-122"/>
                <a:cs typeface="Calibri" pitchFamily="34" charset="-120"/>
              </a:rPr>
              <a:t>Erreur 2 : USDT-ERC20 envoyé à une adresse BNB Chain (0x…)</a:t>
            </a:r>
            <a:endParaRPr lang="en-US" sz="2200" dirty="0"/>
          </a:p>
        </p:txBody>
      </p:sp>
      <p:sp>
        <p:nvSpPr>
          <p:cNvPr id="3" name="Text 1"/>
          <p:cNvSpPr txBox="1"/>
          <p:nvPr/>
        </p:nvSpPr>
        <p:spPr>
          <a:xfrm>
            <a:off x="731520" y="105156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Celle-là est vicieuse : les adresses ERC20 et BEP20 ont le même format (0x…). Physiquement, elles peuvent même être identiques. MAIS les tokens sont émis sur des réseaux différe...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Ce qui se passe : les USDT partent sur Ethereum, arrivent à l'adresse, mais la personne qui contrôle cette adresse sur BNB Chain ne les voit PAS dans son wallet — parce qu'ils 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Récupération possible ? Dans ce cas précis, oui, en théorie. Si le destinataire a la clé privée de cette adresse ET importe son wallet sur MetaMask configuré pour Ethereum, il p...</a:t>
            </a:r>
            <a:endParaRPr lang="en-US" sz="1400" dirty="0"/>
          </a:p>
        </p:txBody>
      </p:sp>
      <p:sp>
        <p:nvSpPr>
          <p:cNvPr id="4"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9 — Lecon 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365760"/>
            <a:ext cx="7680960" cy="548640"/>
          </a:xfrm>
          <a:prstGeom prst="rect">
            <a:avLst/>
          </a:prstGeom>
          <a:noFill/>
          <a:ln/>
        </p:spPr>
        <p:txBody>
          <a:bodyPr wrap="square" lIns="0" tIns="0" rIns="0" bIns="0" rtlCol="0" anchor="ctr"/>
          <a:lstStyle/>
          <a:p>
            <a:pPr indent="0" marL="0">
              <a:buNone/>
            </a:pPr>
            <a:r>
              <a:rPr lang="en-US" sz="2200" b="1" dirty="0">
                <a:solidFill>
                  <a:srgbClr val="00BFA6"/>
                </a:solidFill>
                <a:latin typeface="Calibri" pitchFamily="34" charset="0"/>
                <a:ea typeface="Calibri" pitchFamily="34" charset="-122"/>
                <a:cs typeface="Calibri" pitchFamily="34" charset="-120"/>
              </a:rPr>
              <a:t>Erreur 3 : USDT envoyé à une adresse Solana ou Aptos par erreur</a:t>
            </a:r>
            <a:endParaRPr lang="en-US" sz="2200" dirty="0"/>
          </a:p>
        </p:txBody>
      </p:sp>
      <p:sp>
        <p:nvSpPr>
          <p:cNvPr id="3" name="Text 1"/>
          <p:cNvSpPr txBox="1"/>
          <p:nvPr/>
        </p:nvSpPr>
        <p:spPr>
          <a:xfrm>
            <a:off x="731520" y="105156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Aucune récupération possible.</a:t>
            </a:r>
            <a:endParaRPr lang="en-US" sz="1400" dirty="0"/>
          </a:p>
        </p:txBody>
      </p:sp>
      <p:sp>
        <p:nvSpPr>
          <p:cNvPr id="4"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9 — Lecon 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365760"/>
            <a:ext cx="7680960" cy="548640"/>
          </a:xfrm>
          <a:prstGeom prst="rect">
            <a:avLst/>
          </a:prstGeom>
          <a:noFill/>
          <a:ln/>
        </p:spPr>
        <p:txBody>
          <a:bodyPr wrap="square" lIns="0" tIns="0" rIns="0" bIns="0" rtlCol="0" anchor="ctr"/>
          <a:lstStyle/>
          <a:p>
            <a:pPr indent="0" marL="0">
              <a:buNone/>
            </a:pPr>
            <a:r>
              <a:rPr lang="en-US" sz="2200" b="1" dirty="0">
                <a:solidFill>
                  <a:srgbClr val="00BFA6"/>
                </a:solidFill>
                <a:latin typeface="Calibri" pitchFamily="34" charset="0"/>
                <a:ea typeface="Calibri" pitchFamily="34" charset="-122"/>
                <a:cs typeface="Calibri" pitchFamily="34" charset="-120"/>
              </a:rPr>
              <a:t>Les 3 vérifications systématiques avant CHAQUE envoi</a:t>
            </a:r>
            <a:endParaRPr lang="en-US" sz="2200" dirty="0"/>
          </a:p>
        </p:txBody>
      </p:sp>
      <p:sp>
        <p:nvSpPr>
          <p:cNvPr id="3" name="Text 1"/>
          <p:cNvSpPr txBox="1"/>
          <p:nvPr/>
        </p:nvSpPr>
        <p:spPr>
          <a:xfrm>
            <a:off x="731520" y="105156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Le réseau du wallet source = le réseau attendu par le destinataire.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Le premier caractère de l'adresse correspond au réseau :</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T… → Tron</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0x… → Ethereum, BNB Chain ou Polygon (attention : trois possibilités !)</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Base58 (chiffres et lettres mélangés) → Solana</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Le montant est celui que vous vouliez envoyer.</a:t>
            </a:r>
            <a:endParaRPr lang="en-US" sz="1400" dirty="0"/>
          </a:p>
        </p:txBody>
      </p:sp>
      <p:sp>
        <p:nvSpPr>
          <p:cNvPr id="4"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9 — Lecon 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365760"/>
            <a:ext cx="7680960" cy="548640"/>
          </a:xfrm>
          <a:prstGeom prst="rect">
            <a:avLst/>
          </a:prstGeom>
          <a:noFill/>
          <a:ln/>
        </p:spPr>
        <p:txBody>
          <a:bodyPr wrap="square" lIns="0" tIns="0" rIns="0" bIns="0" rtlCol="0" anchor="ctr"/>
          <a:lstStyle/>
          <a:p>
            <a:pPr indent="0" marL="0">
              <a:buNone/>
            </a:pPr>
            <a:r>
              <a:rPr lang="en-US" sz="2200" b="1" dirty="0">
                <a:solidFill>
                  <a:srgbClr val="00BFA6"/>
                </a:solidFill>
                <a:latin typeface="Calibri" pitchFamily="34" charset="0"/>
                <a:ea typeface="Calibri" pitchFamily="34" charset="-122"/>
                <a:cs typeface="Calibri" pitchFamily="34" charset="-120"/>
              </a:rPr>
              <a:t>Bonnes pratiques Terex</a:t>
            </a:r>
            <a:endParaRPr lang="en-US" sz="2200" dirty="0"/>
          </a:p>
        </p:txBody>
      </p:sp>
      <p:sp>
        <p:nvSpPr>
          <p:cNvPr id="3" name="Text 1"/>
          <p:cNvSpPr txBox="1"/>
          <p:nvPr/>
        </p:nvSpPr>
        <p:spPr>
          <a:xfrm>
            <a:off x="731520" y="105156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Sur Terex, notre interface vous demande de choisir le réseau avant l'adresse. Une fois le réseau choisi, la validation d'adresse est stricte : si vous collez une adresse d'un au...</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Mais faites toujours un test avec un petit montant pour votre première transaction vers un nouveau destinataire.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Contactez notre support avant d'envoyer. Nous préférons répondre à 100 questions préventives plutôt qu'à une seule après une erreur irréversible.</a:t>
            </a:r>
            <a:endParaRPr lang="en-US" sz="1400" dirty="0"/>
          </a:p>
        </p:txBody>
      </p:sp>
      <p:sp>
        <p:nvSpPr>
          <p:cNvPr id="4"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9 — Lecon 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2332"/>
        </a:solidFill>
      </p:bgPr>
    </p:bg>
    <p:spTree>
      <p:nvGrpSpPr>
        <p:cNvPr id="1" name=""/>
        <p:cNvGrpSpPr/>
        <p:nvPr/>
      </p:nvGrpSpPr>
      <p:grpSpPr>
        <a:xfrm>
          <a:off x="0" y="0"/>
          <a:ext cx="0" cy="0"/>
          <a:chOff x="0" y="0"/>
          <a:chExt cx="0" cy="0"/>
        </a:xfrm>
      </p:grpSpPr>
      <p:sp>
        <p:nvSpPr>
          <p:cNvPr id="2" name="Text 0"/>
          <p:cNvSpPr txBox="1"/>
          <p:nvPr/>
        </p:nvSpPr>
        <p:spPr>
          <a:xfrm>
            <a:off x="731520" y="457200"/>
            <a:ext cx="2743200" cy="36576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A RETENIR</a:t>
            </a:r>
            <a:endParaRPr lang="en-US" sz="1200" dirty="0"/>
          </a:p>
        </p:txBody>
      </p:sp>
      <p:sp>
        <p:nvSpPr>
          <p:cNvPr id="3" name="Text 1"/>
          <p:cNvSpPr txBox="1"/>
          <p:nvPr/>
        </p:nvSpPr>
        <p:spPr>
          <a:xfrm>
            <a:off x="731520" y="868680"/>
            <a:ext cx="768096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Éviter les erreurs de réseau — la règle absolue</a:t>
            </a:r>
            <a:endParaRPr lang="en-US" sz="2200" dirty="0"/>
          </a:p>
        </p:txBody>
      </p:sp>
      <p:sp>
        <p:nvSpPr>
          <p:cNvPr id="4" name="Text 2"/>
          <p:cNvSpPr txBox="1"/>
          <p:nvPr/>
        </p:nvSpPr>
        <p:spPr>
          <a:xfrm>
            <a:off x="731520" y="1554480"/>
            <a:ext cx="457200" cy="548640"/>
          </a:xfrm>
          <a:prstGeom prst="roundRect">
            <a:avLst>
              <a:gd name="adj" fmla="val 50000"/>
            </a:avLst>
          </a:prstGeom>
          <a:solidFill>
            <a:srgbClr val="00BFA6"/>
          </a:solidFill>
          <a:ln/>
        </p:spPr>
        <p:txBody>
          <a:bodyPr wrap="square" lIns="0" tIns="0" rIns="0" bIns="0" rtlCol="0" anchor="ctr"/>
          <a:lstStyle/>
          <a:p>
            <a:pPr algn="ctr" indent="0" marL="0">
              <a:buNone/>
            </a:pPr>
            <a:r>
              <a:rPr lang="en-US" sz="1600" b="1" dirty="0">
                <a:solidFill>
                  <a:srgbClr val="0F1419"/>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371600" y="1554480"/>
            <a:ext cx="70408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Le réseau du wallet source = le réseau attendu par le destinataire.</a:t>
            </a:r>
            <a:endParaRPr lang="en-US" sz="1400" dirty="0"/>
          </a:p>
        </p:txBody>
      </p:sp>
      <p:sp>
        <p:nvSpPr>
          <p:cNvPr id="6" name="Text 4"/>
          <p:cNvSpPr txBox="1"/>
          <p:nvPr/>
        </p:nvSpPr>
        <p:spPr>
          <a:xfrm>
            <a:off x="731520" y="2212848"/>
            <a:ext cx="457200" cy="548640"/>
          </a:xfrm>
          <a:prstGeom prst="roundRect">
            <a:avLst>
              <a:gd name="adj" fmla="val 50000"/>
            </a:avLst>
          </a:prstGeom>
          <a:solidFill>
            <a:srgbClr val="00BFA6"/>
          </a:solidFill>
          <a:ln/>
        </p:spPr>
        <p:txBody>
          <a:bodyPr wrap="square" lIns="0" tIns="0" rIns="0" bIns="0" rtlCol="0" anchor="ctr"/>
          <a:lstStyle/>
          <a:p>
            <a:pPr algn="ctr" indent="0" marL="0">
              <a:buNone/>
            </a:pPr>
            <a:r>
              <a:rPr lang="en-US" sz="1600" b="1" dirty="0">
                <a:solidFill>
                  <a:srgbClr val="0F1419"/>
                </a:solidFill>
                <a:latin typeface="Calibri" pitchFamily="34" charset="0"/>
                <a:ea typeface="Calibri" pitchFamily="34" charset="-122"/>
                <a:cs typeface="Calibri" pitchFamily="34" charset="-120"/>
              </a:rPr>
              <a:t>2</a:t>
            </a:r>
            <a:endParaRPr lang="en-US" sz="1600" dirty="0"/>
          </a:p>
        </p:txBody>
      </p:sp>
      <p:sp>
        <p:nvSpPr>
          <p:cNvPr id="7" name="Text 5"/>
          <p:cNvSpPr txBox="1"/>
          <p:nvPr/>
        </p:nvSpPr>
        <p:spPr>
          <a:xfrm>
            <a:off x="1371600" y="2212848"/>
            <a:ext cx="70408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Le premier caractère de l'adresse correspond au réseau :</a:t>
            </a:r>
            <a:endParaRPr lang="en-US" sz="1400" dirty="0"/>
          </a:p>
        </p:txBody>
      </p:sp>
      <p:sp>
        <p:nvSpPr>
          <p:cNvPr id="8" name="Text 6"/>
          <p:cNvSpPr txBox="1"/>
          <p:nvPr/>
        </p:nvSpPr>
        <p:spPr>
          <a:xfrm>
            <a:off x="731520" y="2871216"/>
            <a:ext cx="457200" cy="548640"/>
          </a:xfrm>
          <a:prstGeom prst="roundRect">
            <a:avLst>
              <a:gd name="adj" fmla="val 50000"/>
            </a:avLst>
          </a:prstGeom>
          <a:solidFill>
            <a:srgbClr val="00BFA6"/>
          </a:solidFill>
          <a:ln/>
        </p:spPr>
        <p:txBody>
          <a:bodyPr wrap="square" lIns="0" tIns="0" rIns="0" bIns="0" rtlCol="0" anchor="ctr"/>
          <a:lstStyle/>
          <a:p>
            <a:pPr algn="ctr" indent="0" marL="0">
              <a:buNone/>
            </a:pPr>
            <a:r>
              <a:rPr lang="en-US" sz="1600" b="1" dirty="0">
                <a:solidFill>
                  <a:srgbClr val="0F1419"/>
                </a:solidFill>
                <a:latin typeface="Calibri" pitchFamily="34" charset="0"/>
                <a:ea typeface="Calibri" pitchFamily="34" charset="-122"/>
                <a:cs typeface="Calibri" pitchFamily="34" charset="-120"/>
              </a:rPr>
              <a:t>3</a:t>
            </a:r>
            <a:endParaRPr lang="en-US" sz="1600" dirty="0"/>
          </a:p>
        </p:txBody>
      </p:sp>
      <p:sp>
        <p:nvSpPr>
          <p:cNvPr id="9" name="Text 7"/>
          <p:cNvSpPr txBox="1"/>
          <p:nvPr/>
        </p:nvSpPr>
        <p:spPr>
          <a:xfrm>
            <a:off x="1371600" y="2871216"/>
            <a:ext cx="70408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0x… → Ethereum, BNB Chain ou Polygon (attention : trois possibilités !)</a:t>
            </a:r>
            <a:endParaRPr lang="en-US" sz="1400" dirty="0"/>
          </a:p>
        </p:txBody>
      </p:sp>
      <p:sp>
        <p:nvSpPr>
          <p:cNvPr id="10" name="Text 8"/>
          <p:cNvSpPr txBox="1"/>
          <p:nvPr/>
        </p:nvSpPr>
        <p:spPr>
          <a:xfrm>
            <a:off x="731520" y="3529584"/>
            <a:ext cx="457200" cy="548640"/>
          </a:xfrm>
          <a:prstGeom prst="roundRect">
            <a:avLst>
              <a:gd name="adj" fmla="val 50000"/>
            </a:avLst>
          </a:prstGeom>
          <a:solidFill>
            <a:srgbClr val="00BFA6"/>
          </a:solidFill>
          <a:ln/>
        </p:spPr>
        <p:txBody>
          <a:bodyPr wrap="square" lIns="0" tIns="0" rIns="0" bIns="0" rtlCol="0" anchor="ctr"/>
          <a:lstStyle/>
          <a:p>
            <a:pPr algn="ctr" indent="0" marL="0">
              <a:buNone/>
            </a:pPr>
            <a:r>
              <a:rPr lang="en-US" sz="1600" b="1" dirty="0">
                <a:solidFill>
                  <a:srgbClr val="0F1419"/>
                </a:solidFill>
                <a:latin typeface="Calibri" pitchFamily="34" charset="0"/>
                <a:ea typeface="Calibri" pitchFamily="34" charset="-122"/>
                <a:cs typeface="Calibri" pitchFamily="34" charset="-120"/>
              </a:rPr>
              <a:t>4</a:t>
            </a:r>
            <a:endParaRPr lang="en-US" sz="1600" dirty="0"/>
          </a:p>
        </p:txBody>
      </p:sp>
      <p:sp>
        <p:nvSpPr>
          <p:cNvPr id="11" name="Text 9"/>
          <p:cNvSpPr txBox="1"/>
          <p:nvPr/>
        </p:nvSpPr>
        <p:spPr>
          <a:xfrm>
            <a:off x="1371600" y="3529584"/>
            <a:ext cx="70408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Base58 (chiffres et lettres mélangés) → Solana</a:t>
            </a:r>
            <a:endParaRPr lang="en-US" sz="1400" dirty="0"/>
          </a:p>
        </p:txBody>
      </p:sp>
      <p:sp>
        <p:nvSpPr>
          <p:cNvPr id="12" name="Text 10"/>
          <p:cNvSpPr txBox="1"/>
          <p:nvPr/>
        </p:nvSpPr>
        <p:spPr>
          <a:xfrm>
            <a:off x="731520" y="4187952"/>
            <a:ext cx="457200" cy="548640"/>
          </a:xfrm>
          <a:prstGeom prst="roundRect">
            <a:avLst>
              <a:gd name="adj" fmla="val 50000"/>
            </a:avLst>
          </a:prstGeom>
          <a:solidFill>
            <a:srgbClr val="00BFA6"/>
          </a:solidFill>
          <a:ln/>
        </p:spPr>
        <p:txBody>
          <a:bodyPr wrap="square" lIns="0" tIns="0" rIns="0" bIns="0" rtlCol="0" anchor="ctr"/>
          <a:lstStyle/>
          <a:p>
            <a:pPr algn="ctr" indent="0" marL="0">
              <a:buNone/>
            </a:pPr>
            <a:r>
              <a:rPr lang="en-US" sz="1600" b="1" dirty="0">
                <a:solidFill>
                  <a:srgbClr val="0F1419"/>
                </a:solidFill>
                <a:latin typeface="Calibri" pitchFamily="34" charset="0"/>
                <a:ea typeface="Calibri" pitchFamily="34" charset="-122"/>
                <a:cs typeface="Calibri" pitchFamily="34" charset="-120"/>
              </a:rPr>
              <a:t>5</a:t>
            </a:r>
            <a:endParaRPr lang="en-US" sz="1600" dirty="0"/>
          </a:p>
        </p:txBody>
      </p:sp>
      <p:sp>
        <p:nvSpPr>
          <p:cNvPr id="13" name="Text 11"/>
          <p:cNvSpPr txBox="1"/>
          <p:nvPr/>
        </p:nvSpPr>
        <p:spPr>
          <a:xfrm>
            <a:off x="1371600" y="4187952"/>
            <a:ext cx="70408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Le montant est celui que vous vouliez envoyer.</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548640" y="731520"/>
            <a:ext cx="8046720" cy="3657600"/>
          </a:xfrm>
          <a:prstGeom prst="roundRect">
            <a:avLst>
              <a:gd name="adj" fmla="val 3750"/>
            </a:avLst>
          </a:prstGeom>
          <a:solidFill>
            <a:srgbClr val="2D1B1B"/>
          </a:solidFill>
          <a:ln/>
        </p:spPr>
      </p:sp>
      <p:sp>
        <p:nvSpPr>
          <p:cNvPr id="3" name="Text 1"/>
          <p:cNvSpPr txBox="1"/>
          <p:nvPr/>
        </p:nvSpPr>
        <p:spPr>
          <a:xfrm>
            <a:off x="822960" y="914400"/>
            <a:ext cx="2743200" cy="411480"/>
          </a:xfrm>
          <a:prstGeom prst="rect">
            <a:avLst/>
          </a:prstGeom>
          <a:noFill/>
          <a:ln/>
        </p:spPr>
        <p:txBody>
          <a:bodyPr wrap="square" lIns="0" tIns="0" rIns="0" bIns="0" rtlCol="0" anchor="ctr"/>
          <a:lstStyle/>
          <a:p>
            <a:pPr indent="0" marL="0">
              <a:buNone/>
            </a:pPr>
            <a:r>
              <a:rPr lang="en-US" sz="1400" b="1" spc="300" kern="0" dirty="0">
                <a:solidFill>
                  <a:srgbClr val="EF4444"/>
                </a:solidFill>
                <a:latin typeface="Calibri" pitchFamily="34" charset="0"/>
                <a:ea typeface="Calibri" pitchFamily="34" charset="-122"/>
                <a:cs typeface="Calibri" pitchFamily="34" charset="-120"/>
              </a:rPr>
              <a:t>ATTENTION</a:t>
            </a:r>
            <a:endParaRPr lang="en-US" sz="1400" dirty="0"/>
          </a:p>
        </p:txBody>
      </p:sp>
      <p:sp>
        <p:nvSpPr>
          <p:cNvPr id="4" name="Text 2"/>
          <p:cNvSpPr txBox="1"/>
          <p:nvPr/>
        </p:nvSpPr>
        <p:spPr>
          <a:xfrm>
            <a:off x="822960" y="1371600"/>
            <a:ext cx="7498080" cy="2194560"/>
          </a:xfrm>
          <a:prstGeom prst="rect">
            <a:avLst/>
          </a:prstGeom>
          <a:noFill/>
          <a:ln/>
        </p:spPr>
        <p:txBody>
          <a:bodyPr wrap="square" lIns="0" tIns="0" rIns="0" bIns="0" rtlCol="0" anchor="t"/>
          <a:lstStyle/>
          <a:p>
            <a:pPr indent="0" marL="0">
              <a:buNone/>
            </a:pPr>
            <a:r>
              <a:rPr lang="en-US" sz="1300" dirty="0">
                <a:solidFill>
                  <a:srgbClr val="FCA5A5"/>
                </a:solidFill>
                <a:latin typeface="Calibri" pitchFamily="34" charset="0"/>
                <a:ea typeface="Calibri" pitchFamily="34" charset="-122"/>
                <a:cs typeface="Calibri" pitchFamily="34" charset="-120"/>
              </a:rPr>
              <a:t>C'est la leçon la plus importante de tout ce cours. Retenez-la, gravez-la :</a:t>
            </a:r>
            <a:endParaRPr lang="en-US" sz="1300" dirty="0"/>
          </a:p>
          <a:p>
            <a:pPr indent="0" marL="0">
              <a:buNone/>
            </a:pPr>
            <a:endParaRPr lang="en-US" sz="1300" dirty="0"/>
          </a:p>
          <a:p>
            <a:pPr indent="0" marL="0">
              <a:buNone/>
            </a:pPr>
            <a:r>
              <a:rPr lang="en-US" sz="1300" dirty="0">
                <a:solidFill>
                  <a:srgbClr val="FCA5A5"/>
                </a:solidFill>
                <a:latin typeface="Calibri" pitchFamily="34" charset="0"/>
                <a:ea typeface="Calibri" pitchFamily="34" charset="-122"/>
                <a:cs typeface="Calibri" pitchFamily="34" charset="-120"/>
              </a:rPr>
              <a:t>&gt; Le réseau d'envoi et le réseau de réception DOIVENT être identiques.</a:t>
            </a:r>
            <a:endParaRPr lang="en-US" sz="1300" dirty="0"/>
          </a:p>
          <a:p>
            <a:pPr indent="0" marL="0">
              <a:buNone/>
            </a:pPr>
            <a:endParaRPr lang="en-US" sz="1300" dirty="0"/>
          </a:p>
          <a:p>
            <a:pPr indent="0" marL="0">
              <a:buNone/>
            </a:pPr>
            <a:r>
              <a:rPr lang="en-US" sz="1300" dirty="0">
                <a:solidFill>
                  <a:srgbClr val="FCA5A5"/>
                </a:solidFill>
                <a:latin typeface="Calibri" pitchFamily="34" charset="0"/>
                <a:ea typeface="Calibri" pitchFamily="34" charset="-122"/>
                <a:cs typeface="Calibri" pitchFamily="34" charset="-120"/>
              </a:rPr>
              <a:t>Si vous envoyez de l'USDT sur un réseau incompatible avec l'adresse de destination, vos fonds sont perdus définitivement. Personne — pas Terex, pas Trust Wallet, pas Binance — ne peut les récupérer.</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1371600"/>
            <a:ext cx="768096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Module 9 termine</a:t>
            </a:r>
            <a:endParaRPr lang="en-US" sz="3000" dirty="0"/>
          </a:p>
        </p:txBody>
      </p:sp>
      <p:sp>
        <p:nvSpPr>
          <p:cNvPr id="3" name="Text 1"/>
          <p:cNvSpPr txBox="1"/>
          <p:nvPr/>
        </p:nvSpPr>
        <p:spPr>
          <a:xfrm>
            <a:off x="1371600" y="2194560"/>
            <a:ext cx="6400800" cy="45720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Passez au module suivant pour continuer votre apprentissage.</a:t>
            </a:r>
            <a:endParaRPr lang="en-US" sz="1400" dirty="0"/>
          </a:p>
        </p:txBody>
      </p:sp>
      <p:sp>
        <p:nvSpPr>
          <p:cNvPr id="4" name="Shape 2"/>
          <p:cNvSpPr/>
          <p:nvPr/>
        </p:nvSpPr>
        <p:spPr>
          <a:xfrm>
            <a:off x="3200400" y="2926080"/>
            <a:ext cx="2743200" cy="54864"/>
          </a:xfrm>
          <a:prstGeom prst="rect">
            <a:avLst/>
          </a:prstGeom>
          <a:solidFill>
            <a:srgbClr val="00BFA6"/>
          </a:solidFill>
          <a:ln/>
        </p:spPr>
      </p:sp>
      <p:sp>
        <p:nvSpPr>
          <p:cNvPr id="5" name="Text 3"/>
          <p:cNvSpPr txBox="1"/>
          <p:nvPr/>
        </p:nvSpPr>
        <p:spPr>
          <a:xfrm>
            <a:off x="2286000" y="3291840"/>
            <a:ext cx="4572000" cy="365760"/>
          </a:xfrm>
          <a:prstGeom prst="rect">
            <a:avLst/>
          </a:prstGeom>
          <a:noFill/>
          <a:ln/>
        </p:spPr>
        <p:txBody>
          <a:bodyPr wrap="square" lIns="0" tIns="0" rIns="0" bIns="0" rtlCol="0" anchor="ctr"/>
          <a:lstStyle/>
          <a:p>
            <a:pPr algn="ctr" indent="0" marL="0">
              <a:buNone/>
            </a:pPr>
            <a:r>
              <a:rPr lang="en-US" sz="1200" spc="300" kern="0" dirty="0">
                <a:solidFill>
                  <a:srgbClr val="64748B"/>
                </a:solidFill>
                <a:latin typeface="Calibri" pitchFamily="34" charset="0"/>
                <a:ea typeface="Calibri" pitchFamily="34" charset="-122"/>
                <a:cs typeface="Calibri" pitchFamily="34" charset="-120"/>
              </a:rPr>
              <a:t>TEREX ACADEMY</a:t>
            </a:r>
            <a:endParaRPr lang="en-US" sz="1200" dirty="0"/>
          </a:p>
        </p:txBody>
      </p:sp>
      <p:sp>
        <p:nvSpPr>
          <p:cNvPr id="6" name="Text 4"/>
          <p:cNvSpPr txBox="1"/>
          <p:nvPr/>
        </p:nvSpPr>
        <p:spPr>
          <a:xfrm>
            <a:off x="2286000" y="3657600"/>
            <a:ext cx="4572000" cy="320040"/>
          </a:xfrm>
          <a:prstGeom prst="rect">
            <a:avLst/>
          </a:prstGeom>
          <a:noFill/>
          <a:ln/>
        </p:spPr>
        <p:txBody>
          <a:bodyPr wrap="square" lIns="0" tIns="0" rIns="0" bIns="0" rtlCol="0" anchor="ctr"/>
          <a:lstStyle/>
          <a:p>
            <a:pPr algn="ctr" indent="0" marL="0">
              <a:buNone/>
            </a:pPr>
            <a:r>
              <a:rPr lang="en-US" sz="1100" dirty="0">
                <a:solidFill>
                  <a:srgbClr val="009E8B"/>
                </a:solidFill>
                <a:latin typeface="Calibri" pitchFamily="34" charset="0"/>
                <a:ea typeface="Calibri" pitchFamily="34" charset="-122"/>
                <a:cs typeface="Calibri" pitchFamily="34" charset="-120"/>
              </a:rPr>
              <a:t>terangaexchange.com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Terex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9 - Envoyer, recevoir &amp; comprendre les réseaux</dc:title>
  <dc:subject>Envoyer, recevoir &amp; comprendre les réseaux</dc:subject>
  <dc:creator>Terex Academy</dc:creator>
  <cp:lastModifiedBy>Terex Academy</cp:lastModifiedBy>
  <cp:revision>1</cp:revision>
  <dcterms:created xsi:type="dcterms:W3CDTF">2026-09-07T00:45:14Z</dcterms:created>
  <dcterms:modified xsi:type="dcterms:W3CDTF">2026-09-07T00:45:14Z</dcterms:modified>
</cp:coreProperties>
</file>